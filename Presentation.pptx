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F1A3A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F1A3A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599" y="485774"/>
            <a:ext cx="2371725" cy="247650"/>
          </a:xfrm>
          <a:custGeom>
            <a:avLst/>
            <a:gdLst/>
            <a:ahLst/>
            <a:cxnLst/>
            <a:rect l="l" t="t" r="r" b="b"/>
            <a:pathLst>
              <a:path w="2371725" h="247650">
                <a:moveTo>
                  <a:pt x="2256030" y="247649"/>
                </a:moveTo>
                <a:lnTo>
                  <a:pt x="115694" y="247649"/>
                </a:lnTo>
                <a:lnTo>
                  <a:pt x="107642" y="246856"/>
                </a:lnTo>
                <a:lnTo>
                  <a:pt x="68927" y="235112"/>
                </a:lnTo>
                <a:lnTo>
                  <a:pt x="30518" y="205633"/>
                </a:lnTo>
                <a:lnTo>
                  <a:pt x="6314" y="163699"/>
                </a:lnTo>
                <a:lnTo>
                  <a:pt x="0" y="131955"/>
                </a:lnTo>
                <a:lnTo>
                  <a:pt x="0" y="123824"/>
                </a:lnTo>
                <a:lnTo>
                  <a:pt x="0" y="115694"/>
                </a:lnTo>
                <a:lnTo>
                  <a:pt x="12536" y="68927"/>
                </a:lnTo>
                <a:lnTo>
                  <a:pt x="42016" y="30518"/>
                </a:lnTo>
                <a:lnTo>
                  <a:pt x="83950" y="6314"/>
                </a:lnTo>
                <a:lnTo>
                  <a:pt x="115694" y="0"/>
                </a:lnTo>
                <a:lnTo>
                  <a:pt x="2256030" y="0"/>
                </a:lnTo>
                <a:lnTo>
                  <a:pt x="2302796" y="12536"/>
                </a:lnTo>
                <a:lnTo>
                  <a:pt x="2341206" y="42016"/>
                </a:lnTo>
                <a:lnTo>
                  <a:pt x="2365410" y="83950"/>
                </a:lnTo>
                <a:lnTo>
                  <a:pt x="2371725" y="115694"/>
                </a:lnTo>
                <a:lnTo>
                  <a:pt x="2371725" y="131955"/>
                </a:lnTo>
                <a:lnTo>
                  <a:pt x="2359187" y="178722"/>
                </a:lnTo>
                <a:lnTo>
                  <a:pt x="2329707" y="217131"/>
                </a:lnTo>
                <a:lnTo>
                  <a:pt x="2287773" y="241335"/>
                </a:lnTo>
                <a:lnTo>
                  <a:pt x="2264082" y="246856"/>
                </a:lnTo>
                <a:lnTo>
                  <a:pt x="2256030" y="247649"/>
                </a:lnTo>
                <a:close/>
              </a:path>
            </a:pathLst>
          </a:custGeom>
          <a:solidFill>
            <a:srgbClr val="FF83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F1A3A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F1A3A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6899" y="758825"/>
            <a:ext cx="9946005" cy="892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F1A3A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2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724775" cy="6858000"/>
            <a:chOff x="0" y="0"/>
            <a:chExt cx="772477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7724775" cy="6858000"/>
            </a:xfrm>
            <a:custGeom>
              <a:avLst/>
              <a:gdLst/>
              <a:ahLst/>
              <a:cxnLst/>
              <a:rect l="l" t="t" r="r" b="b"/>
              <a:pathLst>
                <a:path w="7724775" h="6858000">
                  <a:moveTo>
                    <a:pt x="7724774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7724774" y="0"/>
                  </a:lnTo>
                  <a:lnTo>
                    <a:pt x="7724774" y="6857999"/>
                  </a:lnTo>
                  <a:close/>
                </a:path>
              </a:pathLst>
            </a:custGeom>
            <a:solidFill>
              <a:srgbClr val="0F1A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14374" y="657224"/>
              <a:ext cx="1304925" cy="257175"/>
            </a:xfrm>
            <a:custGeom>
              <a:avLst/>
              <a:gdLst/>
              <a:ahLst/>
              <a:cxnLst/>
              <a:rect l="l" t="t" r="r" b="b"/>
              <a:pathLst>
                <a:path w="1304925" h="257175">
                  <a:moveTo>
                    <a:pt x="1184780" y="257174"/>
                  </a:moveTo>
                  <a:lnTo>
                    <a:pt x="120144" y="257174"/>
                  </a:lnTo>
                  <a:lnTo>
                    <a:pt x="111782" y="256351"/>
                  </a:lnTo>
                  <a:lnTo>
                    <a:pt x="71578" y="244155"/>
                  </a:lnTo>
                  <a:lnTo>
                    <a:pt x="31692" y="213542"/>
                  </a:lnTo>
                  <a:lnTo>
                    <a:pt x="6557" y="169995"/>
                  </a:lnTo>
                  <a:lnTo>
                    <a:pt x="0" y="137030"/>
                  </a:lnTo>
                  <a:lnTo>
                    <a:pt x="0" y="128587"/>
                  </a:lnTo>
                  <a:lnTo>
                    <a:pt x="0" y="120144"/>
                  </a:lnTo>
                  <a:lnTo>
                    <a:pt x="13019" y="71578"/>
                  </a:lnTo>
                  <a:lnTo>
                    <a:pt x="43632" y="31692"/>
                  </a:lnTo>
                  <a:lnTo>
                    <a:pt x="87179" y="6557"/>
                  </a:lnTo>
                  <a:lnTo>
                    <a:pt x="120144" y="0"/>
                  </a:lnTo>
                  <a:lnTo>
                    <a:pt x="1184780" y="0"/>
                  </a:lnTo>
                  <a:lnTo>
                    <a:pt x="1233345" y="13019"/>
                  </a:lnTo>
                  <a:lnTo>
                    <a:pt x="1273232" y="43632"/>
                  </a:lnTo>
                  <a:lnTo>
                    <a:pt x="1298367" y="87179"/>
                  </a:lnTo>
                  <a:lnTo>
                    <a:pt x="1304924" y="120144"/>
                  </a:lnTo>
                  <a:lnTo>
                    <a:pt x="1304924" y="137030"/>
                  </a:lnTo>
                  <a:lnTo>
                    <a:pt x="1291905" y="185596"/>
                  </a:lnTo>
                  <a:lnTo>
                    <a:pt x="1261291" y="225482"/>
                  </a:lnTo>
                  <a:lnTo>
                    <a:pt x="1217744" y="250617"/>
                  </a:lnTo>
                  <a:lnTo>
                    <a:pt x="1193142" y="256351"/>
                  </a:lnTo>
                  <a:lnTo>
                    <a:pt x="1184780" y="257174"/>
                  </a:lnTo>
                  <a:close/>
                </a:path>
              </a:pathLst>
            </a:custGeom>
            <a:solidFill>
              <a:srgbClr val="FF832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825351" y="660431"/>
            <a:ext cx="108013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latin typeface="Courier New"/>
                <a:cs typeface="Courier New"/>
              </a:rPr>
              <a:t>PBL</a:t>
            </a:r>
            <a:r>
              <a:rPr dirty="0" sz="1300" spc="-70">
                <a:latin typeface="Courier New"/>
                <a:cs typeface="Courier New"/>
              </a:rPr>
              <a:t> </a:t>
            </a:r>
            <a:r>
              <a:rPr dirty="0" sz="1300">
                <a:latin typeface="Courier New"/>
                <a:cs typeface="Courier New"/>
              </a:rPr>
              <a:t>·</a:t>
            </a:r>
            <a:r>
              <a:rPr dirty="0" sz="1300" spc="-70">
                <a:latin typeface="Courier New"/>
                <a:cs typeface="Courier New"/>
              </a:rPr>
              <a:t> </a:t>
            </a:r>
            <a:r>
              <a:rPr dirty="0" sz="1300" spc="-20">
                <a:latin typeface="Courier New"/>
                <a:cs typeface="Courier New"/>
              </a:rPr>
              <a:t>CS302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24074" y="657224"/>
            <a:ext cx="2466975" cy="257175"/>
          </a:xfrm>
          <a:custGeom>
            <a:avLst/>
            <a:gdLst/>
            <a:ahLst/>
            <a:cxnLst/>
            <a:rect l="l" t="t" r="r" b="b"/>
            <a:pathLst>
              <a:path w="2466975" h="257175">
                <a:moveTo>
                  <a:pt x="2346830" y="257174"/>
                </a:moveTo>
                <a:lnTo>
                  <a:pt x="120144" y="257174"/>
                </a:lnTo>
                <a:lnTo>
                  <a:pt x="111782" y="256351"/>
                </a:lnTo>
                <a:lnTo>
                  <a:pt x="71578" y="244155"/>
                </a:lnTo>
                <a:lnTo>
                  <a:pt x="31692" y="213542"/>
                </a:lnTo>
                <a:lnTo>
                  <a:pt x="6556" y="169995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4"/>
                </a:lnTo>
                <a:lnTo>
                  <a:pt x="13019" y="71578"/>
                </a:lnTo>
                <a:lnTo>
                  <a:pt x="43632" y="31692"/>
                </a:lnTo>
                <a:lnTo>
                  <a:pt x="87179" y="6557"/>
                </a:lnTo>
                <a:lnTo>
                  <a:pt x="120144" y="0"/>
                </a:lnTo>
                <a:lnTo>
                  <a:pt x="2346830" y="0"/>
                </a:lnTo>
                <a:lnTo>
                  <a:pt x="2395395" y="13019"/>
                </a:lnTo>
                <a:lnTo>
                  <a:pt x="2435282" y="43632"/>
                </a:lnTo>
                <a:lnTo>
                  <a:pt x="2460417" y="87179"/>
                </a:lnTo>
                <a:lnTo>
                  <a:pt x="2466974" y="120144"/>
                </a:lnTo>
                <a:lnTo>
                  <a:pt x="2466974" y="137030"/>
                </a:lnTo>
                <a:lnTo>
                  <a:pt x="2453955" y="185596"/>
                </a:lnTo>
                <a:lnTo>
                  <a:pt x="2423341" y="225482"/>
                </a:lnTo>
                <a:lnTo>
                  <a:pt x="2379794" y="250617"/>
                </a:lnTo>
                <a:lnTo>
                  <a:pt x="2355192" y="256351"/>
                </a:lnTo>
                <a:lnTo>
                  <a:pt x="2346830" y="257174"/>
                </a:lnTo>
                <a:close/>
              </a:path>
            </a:pathLst>
          </a:custGeom>
          <a:solidFill>
            <a:srgbClr val="1F4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238325" y="660431"/>
            <a:ext cx="223393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FFFFFF"/>
                </a:solidFill>
                <a:latin typeface="Courier New"/>
                <a:cs typeface="Courier New"/>
              </a:rPr>
              <a:t>RELATIONAL</a:t>
            </a:r>
            <a:r>
              <a:rPr dirty="0" sz="1300" spc="-14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Courier New"/>
                <a:cs typeface="Courier New"/>
              </a:rPr>
              <a:t>ARCHITECTURE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98400" y="2076513"/>
            <a:ext cx="5870575" cy="1305560"/>
          </a:xfrm>
          <a:prstGeom prst="rect"/>
        </p:spPr>
        <p:txBody>
          <a:bodyPr wrap="square" lIns="0" tIns="83820" rIns="0" bIns="0" rtlCol="0" vert="horz">
            <a:spAutoFit/>
          </a:bodyPr>
          <a:lstStyle/>
          <a:p>
            <a:pPr marL="12700" marR="5080">
              <a:lnSpc>
                <a:spcPts val="4800"/>
              </a:lnSpc>
              <a:spcBef>
                <a:spcPts val="660"/>
              </a:spcBef>
            </a:pPr>
            <a:r>
              <a:rPr dirty="0" sz="4400" spc="-700">
                <a:solidFill>
                  <a:srgbClr val="FFFFFF"/>
                </a:solidFill>
              </a:rPr>
              <a:t>T</a:t>
            </a:r>
            <a:r>
              <a:rPr dirty="0" sz="4400" spc="-245">
                <a:solidFill>
                  <a:srgbClr val="FFFFFF"/>
                </a:solidFill>
              </a:rPr>
              <a:t>o</a:t>
            </a:r>
            <a:r>
              <a:rPr dirty="0" sz="4400" spc="-240">
                <a:solidFill>
                  <a:srgbClr val="FFFFFF"/>
                </a:solidFill>
              </a:rPr>
              <a:t>u</a:t>
            </a:r>
            <a:r>
              <a:rPr dirty="0" sz="4400" spc="-245">
                <a:solidFill>
                  <a:srgbClr val="FFFFFF"/>
                </a:solidFill>
              </a:rPr>
              <a:t>r</a:t>
            </a:r>
            <a:r>
              <a:rPr dirty="0" sz="4400" spc="-254">
                <a:solidFill>
                  <a:srgbClr val="FFFFFF"/>
                </a:solidFill>
              </a:rPr>
              <a:t>is</a:t>
            </a:r>
            <a:r>
              <a:rPr dirty="0" sz="4400" spc="-150">
                <a:solidFill>
                  <a:srgbClr val="FFFFFF"/>
                </a:solidFill>
              </a:rPr>
              <a:t>m</a:t>
            </a:r>
            <a:r>
              <a:rPr dirty="0" sz="4400" spc="-655">
                <a:solidFill>
                  <a:srgbClr val="FFFFFF"/>
                </a:solidFill>
              </a:rPr>
              <a:t> </a:t>
            </a:r>
            <a:r>
              <a:rPr dirty="0" sz="4400" spc="-245">
                <a:solidFill>
                  <a:srgbClr val="FFFFFF"/>
                </a:solidFill>
              </a:rPr>
              <a:t>Package</a:t>
            </a:r>
            <a:r>
              <a:rPr dirty="0" sz="4400" spc="-660">
                <a:solidFill>
                  <a:srgbClr val="FFFFFF"/>
                </a:solidFill>
              </a:rPr>
              <a:t> </a:t>
            </a:r>
            <a:r>
              <a:rPr dirty="0" sz="4400" spc="-484">
                <a:solidFill>
                  <a:srgbClr val="FFFFFF"/>
                </a:solidFill>
              </a:rPr>
              <a:t>&amp; </a:t>
            </a:r>
            <a:r>
              <a:rPr dirty="0" sz="4400" spc="-229">
                <a:solidFill>
                  <a:srgbClr val="FFFFFF"/>
                </a:solidFill>
              </a:rPr>
              <a:t>Travel</a:t>
            </a:r>
            <a:r>
              <a:rPr dirty="0" sz="4400" spc="-650">
                <a:solidFill>
                  <a:srgbClr val="FFFFFF"/>
                </a:solidFill>
              </a:rPr>
              <a:t> </a:t>
            </a:r>
            <a:r>
              <a:rPr dirty="0" sz="4400" spc="-254">
                <a:solidFill>
                  <a:srgbClr val="FFFFFF"/>
                </a:solidFill>
              </a:rPr>
              <a:t>Booking</a:t>
            </a:r>
            <a:r>
              <a:rPr dirty="0" sz="4400" spc="-650">
                <a:solidFill>
                  <a:srgbClr val="FFFFFF"/>
                </a:solidFill>
              </a:rPr>
              <a:t> </a:t>
            </a:r>
            <a:r>
              <a:rPr dirty="0" sz="4400" spc="-430">
                <a:solidFill>
                  <a:srgbClr val="FFFFFF"/>
                </a:solidFill>
              </a:rPr>
              <a:t>DBMS</a:t>
            </a:r>
            <a:endParaRPr sz="4400"/>
          </a:p>
        </p:txBody>
      </p:sp>
      <p:sp>
        <p:nvSpPr>
          <p:cNvPr id="9" name="object 9"/>
          <p:cNvSpPr txBox="1"/>
          <p:nvPr/>
        </p:nvSpPr>
        <p:spPr>
          <a:xfrm>
            <a:off x="698400" y="3531228"/>
            <a:ext cx="594550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400"/>
              </a:lnSpc>
              <a:spcBef>
                <a:spcPts val="100"/>
              </a:spcBef>
            </a:pPr>
            <a:r>
              <a:rPr dirty="0" sz="1900" spc="70">
                <a:solidFill>
                  <a:srgbClr val="FF8320"/>
                </a:solidFill>
                <a:latin typeface="Calibri"/>
                <a:cs typeface="Calibri"/>
              </a:rPr>
              <a:t>Centralized</a:t>
            </a:r>
            <a:r>
              <a:rPr dirty="0" sz="1900" spc="45">
                <a:solidFill>
                  <a:srgbClr val="FF8320"/>
                </a:solidFill>
                <a:latin typeface="Calibri"/>
                <a:cs typeface="Calibri"/>
              </a:rPr>
              <a:t> </a:t>
            </a:r>
            <a:r>
              <a:rPr dirty="0" sz="1900" spc="50">
                <a:solidFill>
                  <a:srgbClr val="FF8320"/>
                </a:solidFill>
                <a:latin typeface="Calibri"/>
                <a:cs typeface="Calibri"/>
              </a:rPr>
              <a:t>Relational</a:t>
            </a:r>
            <a:r>
              <a:rPr dirty="0" sz="1900" spc="45">
                <a:solidFill>
                  <a:srgbClr val="FF8320"/>
                </a:solidFill>
                <a:latin typeface="Calibri"/>
                <a:cs typeface="Calibri"/>
              </a:rPr>
              <a:t> </a:t>
            </a:r>
            <a:r>
              <a:rPr dirty="0" sz="1900" spc="55">
                <a:solidFill>
                  <a:srgbClr val="FF8320"/>
                </a:solidFill>
                <a:latin typeface="Calibri"/>
                <a:cs typeface="Calibri"/>
              </a:rPr>
              <a:t>Architecture</a:t>
            </a:r>
            <a:r>
              <a:rPr dirty="0" sz="1900" spc="45">
                <a:solidFill>
                  <a:srgbClr val="FF8320"/>
                </a:solidFill>
                <a:latin typeface="Calibri"/>
                <a:cs typeface="Calibri"/>
              </a:rPr>
              <a:t> </a:t>
            </a:r>
            <a:r>
              <a:rPr dirty="0" sz="1900" spc="50">
                <a:solidFill>
                  <a:srgbClr val="FF8320"/>
                </a:solidFill>
                <a:latin typeface="Calibri"/>
                <a:cs typeface="Calibri"/>
              </a:rPr>
              <a:t>for</a:t>
            </a:r>
            <a:r>
              <a:rPr dirty="0" sz="1900" spc="45">
                <a:solidFill>
                  <a:srgbClr val="FF8320"/>
                </a:solidFill>
                <a:latin typeface="Calibri"/>
                <a:cs typeface="Calibri"/>
              </a:rPr>
              <a:t> </a:t>
            </a:r>
            <a:r>
              <a:rPr dirty="0" sz="1900" spc="50">
                <a:solidFill>
                  <a:srgbClr val="FF8320"/>
                </a:solidFill>
                <a:latin typeface="Calibri"/>
                <a:cs typeface="Calibri"/>
              </a:rPr>
              <a:t>Enterprise </a:t>
            </a:r>
            <a:r>
              <a:rPr dirty="0" sz="1900" spc="-10">
                <a:solidFill>
                  <a:srgbClr val="FF8320"/>
                </a:solidFill>
                <a:latin typeface="Calibri"/>
                <a:cs typeface="Calibri"/>
              </a:rPr>
              <a:t>Travel </a:t>
            </a:r>
            <a:r>
              <a:rPr dirty="0" sz="1900" spc="50">
                <a:solidFill>
                  <a:srgbClr val="FF8320"/>
                </a:solidFill>
                <a:latin typeface="Calibri"/>
                <a:cs typeface="Calibri"/>
              </a:rPr>
              <a:t>Management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3034" y="0"/>
            <a:ext cx="11569065" cy="6858000"/>
            <a:chOff x="623034" y="0"/>
            <a:chExt cx="11569065" cy="6858000"/>
          </a:xfrm>
        </p:grpSpPr>
        <p:sp>
          <p:nvSpPr>
            <p:cNvPr id="11" name="object 11"/>
            <p:cNvSpPr/>
            <p:nvPr/>
          </p:nvSpPr>
          <p:spPr>
            <a:xfrm>
              <a:off x="714374" y="6219824"/>
              <a:ext cx="6448425" cy="76200"/>
            </a:xfrm>
            <a:custGeom>
              <a:avLst/>
              <a:gdLst/>
              <a:ahLst/>
              <a:cxnLst/>
              <a:rect l="l" t="t" r="r" b="b"/>
              <a:pathLst>
                <a:path w="6448425" h="76200">
                  <a:moveTo>
                    <a:pt x="6448424" y="76199"/>
                  </a:moveTo>
                  <a:lnTo>
                    <a:pt x="0" y="76199"/>
                  </a:lnTo>
                  <a:lnTo>
                    <a:pt x="0" y="0"/>
                  </a:lnTo>
                  <a:lnTo>
                    <a:pt x="6448424" y="0"/>
                  </a:lnTo>
                  <a:lnTo>
                    <a:pt x="6448424" y="76199"/>
                  </a:lnTo>
                  <a:close/>
                </a:path>
              </a:pathLst>
            </a:custGeom>
            <a:solidFill>
              <a:srgbClr val="FF83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724774" y="0"/>
              <a:ext cx="4467225" cy="6858000"/>
            </a:xfrm>
            <a:custGeom>
              <a:avLst/>
              <a:gdLst/>
              <a:ahLst/>
              <a:cxnLst/>
              <a:rect l="l" t="t" r="r" b="b"/>
              <a:pathLst>
                <a:path w="4467225" h="6858000">
                  <a:moveTo>
                    <a:pt x="4467224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4467224" y="0"/>
                  </a:lnTo>
                  <a:lnTo>
                    <a:pt x="4467224" y="6857999"/>
                  </a:lnTo>
                  <a:close/>
                </a:path>
              </a:pathLst>
            </a:custGeom>
            <a:solidFill>
              <a:srgbClr val="0F1A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4775" y="1190625"/>
              <a:ext cx="4467224" cy="447674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753224" y="60674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304800"/>
                  </a:moveTo>
                  <a:lnTo>
                    <a:pt x="108160" y="298239"/>
                  </a:lnTo>
                  <a:lnTo>
                    <a:pt x="67731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400"/>
                  </a:lnTo>
                  <a:lnTo>
                    <a:pt x="183" y="144912"/>
                  </a:lnTo>
                  <a:lnTo>
                    <a:pt x="8904" y="101066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400" y="0"/>
                  </a:lnTo>
                  <a:lnTo>
                    <a:pt x="159887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6"/>
                  </a:lnTo>
                  <a:lnTo>
                    <a:pt x="304616" y="144912"/>
                  </a:lnTo>
                  <a:lnTo>
                    <a:pt x="304800" y="152400"/>
                  </a:lnTo>
                  <a:lnTo>
                    <a:pt x="304616" y="159887"/>
                  </a:lnTo>
                  <a:lnTo>
                    <a:pt x="295895" y="203733"/>
                  </a:lnTo>
                  <a:lnTo>
                    <a:pt x="274804" y="243192"/>
                  </a:lnTo>
                  <a:lnTo>
                    <a:pt x="243192" y="274804"/>
                  </a:lnTo>
                  <a:lnTo>
                    <a:pt x="203733" y="295895"/>
                  </a:lnTo>
                  <a:lnTo>
                    <a:pt x="159887" y="304616"/>
                  </a:lnTo>
                  <a:lnTo>
                    <a:pt x="152400" y="304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753224" y="60674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6560" y="108160"/>
                  </a:lnTo>
                  <a:lnTo>
                    <a:pt x="25684" y="67731"/>
                  </a:lnTo>
                  <a:lnTo>
                    <a:pt x="55717" y="34591"/>
                  </a:lnTo>
                  <a:lnTo>
                    <a:pt x="94079" y="11600"/>
                  </a:lnTo>
                  <a:lnTo>
                    <a:pt x="137462" y="732"/>
                  </a:lnTo>
                  <a:lnTo>
                    <a:pt x="152400" y="0"/>
                  </a:lnTo>
                  <a:lnTo>
                    <a:pt x="159887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6"/>
                  </a:lnTo>
                  <a:lnTo>
                    <a:pt x="304616" y="144912"/>
                  </a:lnTo>
                  <a:lnTo>
                    <a:pt x="304800" y="152400"/>
                  </a:lnTo>
                  <a:lnTo>
                    <a:pt x="304616" y="159887"/>
                  </a:lnTo>
                  <a:lnTo>
                    <a:pt x="295895" y="203733"/>
                  </a:lnTo>
                  <a:lnTo>
                    <a:pt x="274804" y="243192"/>
                  </a:lnTo>
                  <a:lnTo>
                    <a:pt x="243192" y="274804"/>
                  </a:lnTo>
                  <a:lnTo>
                    <a:pt x="203733" y="295895"/>
                  </a:lnTo>
                  <a:lnTo>
                    <a:pt x="159887" y="304616"/>
                  </a:lnTo>
                  <a:lnTo>
                    <a:pt x="152400" y="304800"/>
                  </a:lnTo>
                  <a:lnTo>
                    <a:pt x="144912" y="304616"/>
                  </a:lnTo>
                  <a:lnTo>
                    <a:pt x="101066" y="295895"/>
                  </a:lnTo>
                  <a:lnTo>
                    <a:pt x="61607" y="274804"/>
                  </a:lnTo>
                  <a:lnTo>
                    <a:pt x="29995" y="243192"/>
                  </a:lnTo>
                  <a:lnTo>
                    <a:pt x="8904" y="203733"/>
                  </a:lnTo>
                  <a:lnTo>
                    <a:pt x="183" y="159887"/>
                  </a:lnTo>
                  <a:lnTo>
                    <a:pt x="0" y="152400"/>
                  </a:lnTo>
                  <a:close/>
                </a:path>
              </a:pathLst>
            </a:custGeom>
            <a:ln w="76200">
              <a:solidFill>
                <a:srgbClr val="FF832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42244" y="6343650"/>
              <a:ext cx="1754504" cy="4191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23023" y="561542"/>
              <a:ext cx="11466195" cy="6212840"/>
            </a:xfrm>
            <a:custGeom>
              <a:avLst/>
              <a:gdLst/>
              <a:ahLst/>
              <a:cxnLst/>
              <a:rect l="l" t="t" r="r" b="b"/>
              <a:pathLst>
                <a:path w="11466195" h="6212840">
                  <a:moveTo>
                    <a:pt x="4133024" y="196126"/>
                  </a:moveTo>
                  <a:lnTo>
                    <a:pt x="4127843" y="151155"/>
                  </a:lnTo>
                  <a:lnTo>
                    <a:pt x="4113098" y="109880"/>
                  </a:lnTo>
                  <a:lnTo>
                    <a:pt x="4089946" y="73456"/>
                  </a:lnTo>
                  <a:lnTo>
                    <a:pt x="4059567" y="43091"/>
                  </a:lnTo>
                  <a:lnTo>
                    <a:pt x="4023156" y="19939"/>
                  </a:lnTo>
                  <a:lnTo>
                    <a:pt x="3981869" y="5181"/>
                  </a:lnTo>
                  <a:lnTo>
                    <a:pt x="3936898" y="0"/>
                  </a:lnTo>
                  <a:lnTo>
                    <a:pt x="196126" y="0"/>
                  </a:lnTo>
                  <a:lnTo>
                    <a:pt x="151155" y="5181"/>
                  </a:lnTo>
                  <a:lnTo>
                    <a:pt x="109880" y="19939"/>
                  </a:lnTo>
                  <a:lnTo>
                    <a:pt x="73469" y="43091"/>
                  </a:lnTo>
                  <a:lnTo>
                    <a:pt x="43091" y="73456"/>
                  </a:lnTo>
                  <a:lnTo>
                    <a:pt x="19939" y="109880"/>
                  </a:lnTo>
                  <a:lnTo>
                    <a:pt x="5181" y="151155"/>
                  </a:lnTo>
                  <a:lnTo>
                    <a:pt x="0" y="196126"/>
                  </a:lnTo>
                  <a:lnTo>
                    <a:pt x="0" y="235267"/>
                  </a:lnTo>
                  <a:lnTo>
                    <a:pt x="5181" y="280238"/>
                  </a:lnTo>
                  <a:lnTo>
                    <a:pt x="19939" y="321525"/>
                  </a:lnTo>
                  <a:lnTo>
                    <a:pt x="43091" y="357936"/>
                  </a:lnTo>
                  <a:lnTo>
                    <a:pt x="73469" y="388302"/>
                  </a:lnTo>
                  <a:lnTo>
                    <a:pt x="109880" y="411454"/>
                  </a:lnTo>
                  <a:lnTo>
                    <a:pt x="151155" y="426212"/>
                  </a:lnTo>
                  <a:lnTo>
                    <a:pt x="196126" y="431393"/>
                  </a:lnTo>
                  <a:lnTo>
                    <a:pt x="3936898" y="431393"/>
                  </a:lnTo>
                  <a:lnTo>
                    <a:pt x="3981869" y="426212"/>
                  </a:lnTo>
                  <a:lnTo>
                    <a:pt x="4023156" y="411454"/>
                  </a:lnTo>
                  <a:lnTo>
                    <a:pt x="4059567" y="388302"/>
                  </a:lnTo>
                  <a:lnTo>
                    <a:pt x="4089946" y="357936"/>
                  </a:lnTo>
                  <a:lnTo>
                    <a:pt x="4113098" y="321525"/>
                  </a:lnTo>
                  <a:lnTo>
                    <a:pt x="4127843" y="280238"/>
                  </a:lnTo>
                  <a:lnTo>
                    <a:pt x="4133024" y="235267"/>
                  </a:lnTo>
                  <a:lnTo>
                    <a:pt x="4133024" y="215696"/>
                  </a:lnTo>
                  <a:lnTo>
                    <a:pt x="4133024" y="196126"/>
                  </a:lnTo>
                  <a:close/>
                </a:path>
                <a:path w="11466195" h="6212840">
                  <a:moveTo>
                    <a:pt x="11465636" y="5976963"/>
                  </a:moveTo>
                  <a:lnTo>
                    <a:pt x="11460455" y="5931992"/>
                  </a:lnTo>
                  <a:lnTo>
                    <a:pt x="11445697" y="5890704"/>
                  </a:lnTo>
                  <a:lnTo>
                    <a:pt x="11422545" y="5854293"/>
                  </a:lnTo>
                  <a:lnTo>
                    <a:pt x="11392179" y="5823915"/>
                  </a:lnTo>
                  <a:lnTo>
                    <a:pt x="11355756" y="5800763"/>
                  </a:lnTo>
                  <a:lnTo>
                    <a:pt x="11314481" y="5786018"/>
                  </a:lnTo>
                  <a:lnTo>
                    <a:pt x="11269510" y="5780837"/>
                  </a:lnTo>
                  <a:lnTo>
                    <a:pt x="9889693" y="5780837"/>
                  </a:lnTo>
                  <a:lnTo>
                    <a:pt x="9844722" y="5786018"/>
                  </a:lnTo>
                  <a:lnTo>
                    <a:pt x="9803435" y="5800763"/>
                  </a:lnTo>
                  <a:lnTo>
                    <a:pt x="9767024" y="5823915"/>
                  </a:lnTo>
                  <a:lnTo>
                    <a:pt x="9736645" y="5854293"/>
                  </a:lnTo>
                  <a:lnTo>
                    <a:pt x="9713493" y="5890704"/>
                  </a:lnTo>
                  <a:lnTo>
                    <a:pt x="9698736" y="5931992"/>
                  </a:lnTo>
                  <a:lnTo>
                    <a:pt x="9693554" y="5976963"/>
                  </a:lnTo>
                  <a:lnTo>
                    <a:pt x="9693554" y="6016104"/>
                  </a:lnTo>
                  <a:lnTo>
                    <a:pt x="9698736" y="6061075"/>
                  </a:lnTo>
                  <a:lnTo>
                    <a:pt x="9713493" y="6102350"/>
                  </a:lnTo>
                  <a:lnTo>
                    <a:pt x="9736645" y="6138761"/>
                  </a:lnTo>
                  <a:lnTo>
                    <a:pt x="9767024" y="6169139"/>
                  </a:lnTo>
                  <a:lnTo>
                    <a:pt x="9803435" y="6192291"/>
                  </a:lnTo>
                  <a:lnTo>
                    <a:pt x="9844722" y="6207049"/>
                  </a:lnTo>
                  <a:lnTo>
                    <a:pt x="9889693" y="6212230"/>
                  </a:lnTo>
                  <a:lnTo>
                    <a:pt x="11269510" y="6212230"/>
                  </a:lnTo>
                  <a:lnTo>
                    <a:pt x="11314481" y="6207049"/>
                  </a:lnTo>
                  <a:lnTo>
                    <a:pt x="11355756" y="6192291"/>
                  </a:lnTo>
                  <a:lnTo>
                    <a:pt x="11392179" y="6169139"/>
                  </a:lnTo>
                  <a:lnTo>
                    <a:pt x="11422545" y="6138761"/>
                  </a:lnTo>
                  <a:lnTo>
                    <a:pt x="11445697" y="6102350"/>
                  </a:lnTo>
                  <a:lnTo>
                    <a:pt x="11460455" y="6061075"/>
                  </a:lnTo>
                  <a:lnTo>
                    <a:pt x="11465636" y="6016104"/>
                  </a:lnTo>
                  <a:lnTo>
                    <a:pt x="11465636" y="5996533"/>
                  </a:lnTo>
                  <a:lnTo>
                    <a:pt x="11465636" y="5976963"/>
                  </a:lnTo>
                  <a:close/>
                </a:path>
              </a:pathLst>
            </a:custGeom>
            <a:solidFill>
              <a:srgbClr val="101A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98400" y="5492750"/>
            <a:ext cx="5037455" cy="571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55" b="1">
                <a:solidFill>
                  <a:srgbClr val="FFFFFF"/>
                </a:solidFill>
                <a:latin typeface="Calibri"/>
                <a:cs typeface="Calibri"/>
              </a:rPr>
              <a:t>Vineeth</a:t>
            </a:r>
            <a:r>
              <a:rPr dirty="0" sz="1350" spc="18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10" b="1">
                <a:solidFill>
                  <a:srgbClr val="FFFFFF"/>
                </a:solidFill>
                <a:latin typeface="Calibri"/>
                <a:cs typeface="Calibri"/>
              </a:rPr>
              <a:t>Emmanuel</a:t>
            </a:r>
            <a:r>
              <a:rPr dirty="0" sz="1350" spc="19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10" b="1">
                <a:solidFill>
                  <a:srgbClr val="FFFFFF"/>
                </a:solidFill>
                <a:latin typeface="Calibri"/>
                <a:cs typeface="Calibri"/>
              </a:rPr>
              <a:t>Pilli</a:t>
            </a:r>
            <a:r>
              <a:rPr dirty="0" sz="1350" spc="1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55">
                <a:solidFill>
                  <a:srgbClr val="FFFFFF"/>
                </a:solidFill>
                <a:latin typeface="Calibri"/>
                <a:cs typeface="Calibri"/>
              </a:rPr>
              <a:t>(25WU0102203)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250">
                <a:solidFill>
                  <a:srgbClr val="E9F0FF"/>
                </a:solidFill>
                <a:latin typeface="Calibri"/>
                <a:cs typeface="Calibri"/>
              </a:rPr>
              <a:t>Project-</a:t>
            </a:r>
            <a:r>
              <a:rPr dirty="0" sz="1250" spc="60">
                <a:solidFill>
                  <a:srgbClr val="E9F0FF"/>
                </a:solidFill>
                <a:latin typeface="Calibri"/>
                <a:cs typeface="Calibri"/>
              </a:rPr>
              <a:t>Based</a:t>
            </a:r>
            <a:r>
              <a:rPr dirty="0" sz="1250" spc="140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250" spc="45">
                <a:solidFill>
                  <a:srgbClr val="E9F0FF"/>
                </a:solidFill>
                <a:latin typeface="Calibri"/>
                <a:cs typeface="Calibri"/>
              </a:rPr>
              <a:t>Learning</a:t>
            </a:r>
            <a:r>
              <a:rPr dirty="0" sz="1250" spc="140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E9F0FF"/>
                </a:solidFill>
                <a:latin typeface="Calibri"/>
                <a:cs typeface="Calibri"/>
              </a:rPr>
              <a:t>(PBL)</a:t>
            </a:r>
            <a:r>
              <a:rPr dirty="0" sz="1250" spc="140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250" spc="-275">
                <a:solidFill>
                  <a:srgbClr val="E9F0FF"/>
                </a:solidFill>
                <a:latin typeface="Calibri"/>
                <a:cs typeface="Calibri"/>
              </a:rPr>
              <a:t>|</a:t>
            </a:r>
            <a:r>
              <a:rPr dirty="0" sz="1250" spc="145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E9F0FF"/>
                </a:solidFill>
                <a:latin typeface="Calibri"/>
                <a:cs typeface="Calibri"/>
              </a:rPr>
              <a:t>Woxsen</a:t>
            </a:r>
            <a:r>
              <a:rPr dirty="0" sz="1250" spc="140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E9F0FF"/>
                </a:solidFill>
                <a:latin typeface="Calibri"/>
                <a:cs typeface="Calibri"/>
              </a:rPr>
              <a:t>University,</a:t>
            </a:r>
            <a:r>
              <a:rPr dirty="0" sz="1250" spc="140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250" spc="55">
                <a:solidFill>
                  <a:srgbClr val="E9F0FF"/>
                </a:solidFill>
                <a:latin typeface="Calibri"/>
                <a:cs typeface="Calibri"/>
              </a:rPr>
              <a:t>School</a:t>
            </a:r>
            <a:r>
              <a:rPr dirty="0" sz="1250" spc="145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250" spc="55">
                <a:solidFill>
                  <a:srgbClr val="E9F0FF"/>
                </a:solidFill>
                <a:latin typeface="Calibri"/>
                <a:cs typeface="Calibri"/>
              </a:rPr>
              <a:t>of</a:t>
            </a:r>
            <a:r>
              <a:rPr dirty="0" sz="1250" spc="140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250" spc="35">
                <a:solidFill>
                  <a:srgbClr val="E9F0FF"/>
                </a:solidFill>
                <a:latin typeface="Calibri"/>
                <a:cs typeface="Calibri"/>
              </a:rPr>
              <a:t>Technology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599" y="504824"/>
            <a:ext cx="1638300" cy="228600"/>
          </a:xfrm>
          <a:custGeom>
            <a:avLst/>
            <a:gdLst/>
            <a:ahLst/>
            <a:cxnLst/>
            <a:rect l="l" t="t" r="r" b="b"/>
            <a:pathLst>
              <a:path w="1638300" h="228600">
                <a:moveTo>
                  <a:pt x="1531504" y="228599"/>
                </a:moveTo>
                <a:lnTo>
                  <a:pt x="106795" y="228599"/>
                </a:lnTo>
                <a:lnTo>
                  <a:pt x="99362" y="227867"/>
                </a:lnTo>
                <a:lnTo>
                  <a:pt x="57038" y="213506"/>
                </a:lnTo>
                <a:lnTo>
                  <a:pt x="23432" y="184041"/>
                </a:lnTo>
                <a:lnTo>
                  <a:pt x="3660" y="143959"/>
                </a:lnTo>
                <a:lnTo>
                  <a:pt x="0" y="121805"/>
                </a:lnTo>
                <a:lnTo>
                  <a:pt x="0" y="114299"/>
                </a:lnTo>
                <a:lnTo>
                  <a:pt x="0" y="106794"/>
                </a:lnTo>
                <a:lnTo>
                  <a:pt x="11572" y="63625"/>
                </a:lnTo>
                <a:lnTo>
                  <a:pt x="38784" y="28170"/>
                </a:lnTo>
                <a:lnTo>
                  <a:pt x="77493" y="5828"/>
                </a:lnTo>
                <a:lnTo>
                  <a:pt x="106795" y="0"/>
                </a:lnTo>
                <a:lnTo>
                  <a:pt x="1531504" y="0"/>
                </a:lnTo>
                <a:lnTo>
                  <a:pt x="1574673" y="11572"/>
                </a:lnTo>
                <a:lnTo>
                  <a:pt x="1610128" y="38784"/>
                </a:lnTo>
                <a:lnTo>
                  <a:pt x="1632471" y="77492"/>
                </a:lnTo>
                <a:lnTo>
                  <a:pt x="1638299" y="106794"/>
                </a:lnTo>
                <a:lnTo>
                  <a:pt x="1638299" y="121805"/>
                </a:lnTo>
                <a:lnTo>
                  <a:pt x="1626727" y="164974"/>
                </a:lnTo>
                <a:lnTo>
                  <a:pt x="1599515" y="200429"/>
                </a:lnTo>
                <a:lnTo>
                  <a:pt x="1560806" y="222771"/>
                </a:lnTo>
                <a:lnTo>
                  <a:pt x="1538937" y="227867"/>
                </a:lnTo>
                <a:lnTo>
                  <a:pt x="1531504" y="228599"/>
                </a:lnTo>
                <a:close/>
              </a:path>
            </a:pathLst>
          </a:custGeom>
          <a:solidFill>
            <a:srgbClr val="D5126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2324099" y="523874"/>
            <a:ext cx="1685925" cy="200025"/>
            <a:chOff x="2324099" y="523874"/>
            <a:chExt cx="1685925" cy="2000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0299" y="571499"/>
              <a:ext cx="95249" cy="1047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28862" y="528637"/>
              <a:ext cx="1676400" cy="190500"/>
            </a:xfrm>
            <a:custGeom>
              <a:avLst/>
              <a:gdLst/>
              <a:ahLst/>
              <a:cxnLst/>
              <a:rect l="l" t="t" r="r" b="b"/>
              <a:pathLst>
                <a:path w="1676400" h="190500">
                  <a:moveTo>
                    <a:pt x="0" y="95249"/>
                  </a:moveTo>
                  <a:lnTo>
                    <a:pt x="0" y="88995"/>
                  </a:lnTo>
                  <a:lnTo>
                    <a:pt x="609" y="82801"/>
                  </a:lnTo>
                  <a:lnTo>
                    <a:pt x="16052" y="42331"/>
                  </a:lnTo>
                  <a:lnTo>
                    <a:pt x="19526" y="37131"/>
                  </a:lnTo>
                  <a:lnTo>
                    <a:pt x="23475" y="32320"/>
                  </a:lnTo>
                  <a:lnTo>
                    <a:pt x="27897" y="27898"/>
                  </a:lnTo>
                  <a:lnTo>
                    <a:pt x="32320" y="23475"/>
                  </a:lnTo>
                  <a:lnTo>
                    <a:pt x="37131" y="19527"/>
                  </a:lnTo>
                  <a:lnTo>
                    <a:pt x="42331" y="16052"/>
                  </a:lnTo>
                  <a:lnTo>
                    <a:pt x="47531" y="12577"/>
                  </a:lnTo>
                  <a:lnTo>
                    <a:pt x="76667" y="1830"/>
                  </a:lnTo>
                  <a:lnTo>
                    <a:pt x="82801" y="610"/>
                  </a:lnTo>
                  <a:lnTo>
                    <a:pt x="88995" y="0"/>
                  </a:lnTo>
                  <a:lnTo>
                    <a:pt x="95249" y="0"/>
                  </a:lnTo>
                  <a:lnTo>
                    <a:pt x="1581149" y="0"/>
                  </a:lnTo>
                  <a:lnTo>
                    <a:pt x="1587403" y="0"/>
                  </a:lnTo>
                  <a:lnTo>
                    <a:pt x="1593597" y="610"/>
                  </a:lnTo>
                  <a:lnTo>
                    <a:pt x="1599731" y="1830"/>
                  </a:lnTo>
                  <a:lnTo>
                    <a:pt x="1605865" y="3050"/>
                  </a:lnTo>
                  <a:lnTo>
                    <a:pt x="1644078" y="23475"/>
                  </a:lnTo>
                  <a:lnTo>
                    <a:pt x="1648501" y="27898"/>
                  </a:lnTo>
                  <a:lnTo>
                    <a:pt x="1652923" y="32320"/>
                  </a:lnTo>
                  <a:lnTo>
                    <a:pt x="1656872" y="37131"/>
                  </a:lnTo>
                  <a:lnTo>
                    <a:pt x="1660346" y="42331"/>
                  </a:lnTo>
                  <a:lnTo>
                    <a:pt x="1663821" y="47532"/>
                  </a:lnTo>
                  <a:lnTo>
                    <a:pt x="1666755" y="53021"/>
                  </a:lnTo>
                  <a:lnTo>
                    <a:pt x="1669148" y="58799"/>
                  </a:lnTo>
                  <a:lnTo>
                    <a:pt x="1671542" y="64577"/>
                  </a:lnTo>
                  <a:lnTo>
                    <a:pt x="1676399" y="95249"/>
                  </a:lnTo>
                  <a:lnTo>
                    <a:pt x="1676399" y="101504"/>
                  </a:lnTo>
                  <a:lnTo>
                    <a:pt x="1669148" y="131700"/>
                  </a:lnTo>
                  <a:lnTo>
                    <a:pt x="1666755" y="137478"/>
                  </a:lnTo>
                  <a:lnTo>
                    <a:pt x="1663821" y="142967"/>
                  </a:lnTo>
                  <a:lnTo>
                    <a:pt x="1660346" y="148168"/>
                  </a:lnTo>
                  <a:lnTo>
                    <a:pt x="1656872" y="153368"/>
                  </a:lnTo>
                  <a:lnTo>
                    <a:pt x="1652923" y="158179"/>
                  </a:lnTo>
                  <a:lnTo>
                    <a:pt x="1648501" y="162601"/>
                  </a:lnTo>
                  <a:lnTo>
                    <a:pt x="1644078" y="167024"/>
                  </a:lnTo>
                  <a:lnTo>
                    <a:pt x="1605865" y="187449"/>
                  </a:lnTo>
                  <a:lnTo>
                    <a:pt x="1599731" y="188669"/>
                  </a:lnTo>
                  <a:lnTo>
                    <a:pt x="1593597" y="189889"/>
                  </a:lnTo>
                  <a:lnTo>
                    <a:pt x="1587403" y="190499"/>
                  </a:lnTo>
                  <a:lnTo>
                    <a:pt x="1581149" y="190499"/>
                  </a:lnTo>
                  <a:lnTo>
                    <a:pt x="95249" y="190499"/>
                  </a:lnTo>
                  <a:lnTo>
                    <a:pt x="88995" y="190499"/>
                  </a:lnTo>
                  <a:lnTo>
                    <a:pt x="82801" y="189889"/>
                  </a:lnTo>
                  <a:lnTo>
                    <a:pt x="76667" y="188669"/>
                  </a:lnTo>
                  <a:lnTo>
                    <a:pt x="70533" y="187449"/>
                  </a:lnTo>
                  <a:lnTo>
                    <a:pt x="32320" y="167024"/>
                  </a:lnTo>
                  <a:lnTo>
                    <a:pt x="27897" y="162601"/>
                  </a:lnTo>
                  <a:lnTo>
                    <a:pt x="23475" y="158179"/>
                  </a:lnTo>
                  <a:lnTo>
                    <a:pt x="19526" y="153368"/>
                  </a:lnTo>
                  <a:lnTo>
                    <a:pt x="16052" y="148168"/>
                  </a:lnTo>
                  <a:lnTo>
                    <a:pt x="12577" y="142967"/>
                  </a:lnTo>
                  <a:lnTo>
                    <a:pt x="9643" y="137478"/>
                  </a:lnTo>
                  <a:lnTo>
                    <a:pt x="7250" y="131700"/>
                  </a:lnTo>
                  <a:lnTo>
                    <a:pt x="4856" y="125922"/>
                  </a:lnTo>
                  <a:lnTo>
                    <a:pt x="3050" y="119966"/>
                  </a:lnTo>
                  <a:lnTo>
                    <a:pt x="1829" y="113832"/>
                  </a:lnTo>
                  <a:lnTo>
                    <a:pt x="609" y="107698"/>
                  </a:lnTo>
                  <a:lnTo>
                    <a:pt x="0" y="101504"/>
                  </a:lnTo>
                  <a:lnTo>
                    <a:pt x="0" y="95249"/>
                  </a:lnTo>
                  <a:close/>
                </a:path>
              </a:pathLst>
            </a:custGeom>
            <a:ln w="9524">
              <a:solidFill>
                <a:srgbClr val="0F1A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723850" y="514413"/>
            <a:ext cx="32188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06905" algn="l"/>
              </a:tabLst>
            </a:pPr>
            <a:r>
              <a:rPr dirty="0" sz="1100" spc="-10">
                <a:solidFill>
                  <a:srgbClr val="FFFFFF"/>
                </a:solidFill>
                <a:latin typeface="Courier New"/>
                <a:cs typeface="Courier New"/>
              </a:rPr>
              <a:t>PROBLEM</a:t>
            </a:r>
            <a:r>
              <a:rPr dirty="0" sz="1100" spc="-1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ourier New"/>
                <a:cs typeface="Courier New"/>
              </a:rPr>
              <a:t>STATEMENT</a:t>
            </a:r>
            <a:r>
              <a:rPr dirty="0" sz="110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dirty="0" sz="1100" spc="-20">
                <a:solidFill>
                  <a:srgbClr val="0F1A3A"/>
                </a:solidFill>
                <a:latin typeface="Courier New"/>
                <a:cs typeface="Courier New"/>
              </a:rPr>
              <a:t>OPERATIONAL</a:t>
            </a:r>
            <a:r>
              <a:rPr dirty="0" sz="1100" spc="-95">
                <a:solidFill>
                  <a:srgbClr val="0F1A3A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0F1A3A"/>
                </a:solidFill>
                <a:latin typeface="Courier New"/>
                <a:cs typeface="Courier New"/>
              </a:rPr>
              <a:t>RISK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405" rIns="0" bIns="0" rtlCol="0" vert="horz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515"/>
              </a:spcBef>
            </a:pPr>
            <a:r>
              <a:rPr dirty="0" spc="-90"/>
              <a:t>Operational</a:t>
            </a:r>
            <a:r>
              <a:rPr dirty="0" spc="-400"/>
              <a:t> </a:t>
            </a:r>
            <a:r>
              <a:rPr dirty="0" spc="-135"/>
              <a:t>friction</a:t>
            </a:r>
            <a:r>
              <a:rPr dirty="0" spc="-395"/>
              <a:t> </a:t>
            </a:r>
            <a:r>
              <a:rPr dirty="0" spc="-220"/>
              <a:t>is</a:t>
            </a:r>
            <a:r>
              <a:rPr dirty="0" spc="-400"/>
              <a:t> </a:t>
            </a:r>
            <a:r>
              <a:rPr dirty="0" spc="-80"/>
              <a:t>hiding</a:t>
            </a:r>
            <a:r>
              <a:rPr dirty="0" spc="-395"/>
              <a:t> </a:t>
            </a:r>
            <a:r>
              <a:rPr dirty="0" spc="-90"/>
              <a:t>in</a:t>
            </a:r>
            <a:r>
              <a:rPr dirty="0" spc="-395"/>
              <a:t> </a:t>
            </a:r>
            <a:r>
              <a:rPr dirty="0" spc="-75"/>
              <a:t>fragmented</a:t>
            </a:r>
            <a:r>
              <a:rPr dirty="0" spc="-400"/>
              <a:t> </a:t>
            </a:r>
            <a:r>
              <a:rPr dirty="0" spc="-50"/>
              <a:t>booking </a:t>
            </a:r>
            <a:r>
              <a:rPr dirty="0" spc="-60"/>
              <a:t>workflows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96899" y="1851056"/>
            <a:ext cx="881253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90">
                <a:solidFill>
                  <a:srgbClr val="0F1A3A"/>
                </a:solidFill>
                <a:latin typeface="Calibri"/>
                <a:cs typeface="Calibri"/>
              </a:rPr>
              <a:t>Decoupled</a:t>
            </a:r>
            <a:r>
              <a:rPr dirty="0" sz="1900" spc="8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65">
                <a:solidFill>
                  <a:srgbClr val="0F1A3A"/>
                </a:solidFill>
                <a:latin typeface="Calibri"/>
                <a:cs typeface="Calibri"/>
              </a:rPr>
              <a:t>spreadsheets</a:t>
            </a:r>
            <a:r>
              <a:rPr dirty="0" sz="1900" spc="8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85">
                <a:solidFill>
                  <a:srgbClr val="0F1A3A"/>
                </a:solidFill>
                <a:latin typeface="Calibri"/>
                <a:cs typeface="Calibri"/>
              </a:rPr>
              <a:t>and</a:t>
            </a:r>
            <a:r>
              <a:rPr dirty="0" sz="1900" spc="8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55">
                <a:solidFill>
                  <a:srgbClr val="0F1A3A"/>
                </a:solidFill>
                <a:latin typeface="Calibri"/>
                <a:cs typeface="Calibri"/>
              </a:rPr>
              <a:t>manual</a:t>
            </a:r>
            <a:r>
              <a:rPr dirty="0" sz="1900" spc="8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75">
                <a:solidFill>
                  <a:srgbClr val="0F1A3A"/>
                </a:solidFill>
                <a:latin typeface="Calibri"/>
                <a:cs typeface="Calibri"/>
              </a:rPr>
              <a:t>handoffs</a:t>
            </a:r>
            <a:r>
              <a:rPr dirty="0" sz="1900" spc="8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50">
                <a:solidFill>
                  <a:srgbClr val="0F1A3A"/>
                </a:solidFill>
                <a:latin typeface="Calibri"/>
                <a:cs typeface="Calibri"/>
              </a:rPr>
              <a:t>create</a:t>
            </a:r>
            <a:r>
              <a:rPr dirty="0" sz="1900" spc="8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F1A3A"/>
                </a:solidFill>
                <a:latin typeface="Calibri"/>
                <a:cs typeface="Calibri"/>
              </a:rPr>
              <a:t>silent</a:t>
            </a:r>
            <a:r>
              <a:rPr dirty="0" sz="1900" spc="8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45">
                <a:solidFill>
                  <a:srgbClr val="0F1A3A"/>
                </a:solidFill>
                <a:latin typeface="Calibri"/>
                <a:cs typeface="Calibri"/>
              </a:rPr>
              <a:t>vulnerabilities</a:t>
            </a:r>
            <a:r>
              <a:rPr dirty="0" sz="1900" spc="8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55">
                <a:solidFill>
                  <a:srgbClr val="0F1A3A"/>
                </a:solidFill>
                <a:latin typeface="Calibri"/>
                <a:cs typeface="Calibri"/>
              </a:rPr>
              <a:t>at</a:t>
            </a:r>
            <a:r>
              <a:rPr dirty="0" sz="1900" spc="8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0F1A3A"/>
                </a:solidFill>
                <a:latin typeface="Calibri"/>
                <a:cs typeface="Calibri"/>
              </a:rPr>
              <a:t>scale.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9600" y="2362200"/>
            <a:ext cx="2514600" cy="152400"/>
          </a:xfrm>
          <a:custGeom>
            <a:avLst/>
            <a:gdLst/>
            <a:ahLst/>
            <a:cxnLst/>
            <a:rect l="l" t="t" r="r" b="b"/>
            <a:pathLst>
              <a:path w="2514600" h="152400">
                <a:moveTo>
                  <a:pt x="0" y="152399"/>
                </a:moveTo>
                <a:lnTo>
                  <a:pt x="718" y="137531"/>
                </a:lnTo>
                <a:lnTo>
                  <a:pt x="725" y="137387"/>
                </a:lnTo>
                <a:lnTo>
                  <a:pt x="2814" y="123239"/>
                </a:lnTo>
                <a:lnTo>
                  <a:pt x="2900" y="122662"/>
                </a:lnTo>
                <a:lnTo>
                  <a:pt x="18015" y="80486"/>
                </a:lnTo>
                <a:lnTo>
                  <a:pt x="44636" y="44636"/>
                </a:lnTo>
                <a:lnTo>
                  <a:pt x="80486" y="18015"/>
                </a:lnTo>
                <a:lnTo>
                  <a:pt x="122662" y="2900"/>
                </a:lnTo>
                <a:lnTo>
                  <a:pt x="152399" y="0"/>
                </a:lnTo>
                <a:lnTo>
                  <a:pt x="2362199" y="0"/>
                </a:lnTo>
                <a:lnTo>
                  <a:pt x="2406373" y="6525"/>
                </a:lnTo>
                <a:lnTo>
                  <a:pt x="2446884" y="25660"/>
                </a:lnTo>
                <a:lnTo>
                  <a:pt x="2480065" y="55765"/>
                </a:lnTo>
                <a:lnTo>
                  <a:pt x="2494018" y="76199"/>
                </a:lnTo>
                <a:lnTo>
                  <a:pt x="152399" y="76199"/>
                </a:lnTo>
                <a:lnTo>
                  <a:pt x="137387" y="76562"/>
                </a:lnTo>
                <a:lnTo>
                  <a:pt x="94078" y="82000"/>
                </a:lnTo>
                <a:lnTo>
                  <a:pt x="55765" y="93466"/>
                </a:lnTo>
                <a:lnTo>
                  <a:pt x="18015" y="116442"/>
                </a:lnTo>
                <a:lnTo>
                  <a:pt x="2972" y="137387"/>
                </a:lnTo>
                <a:lnTo>
                  <a:pt x="2900" y="137531"/>
                </a:lnTo>
                <a:lnTo>
                  <a:pt x="725" y="144893"/>
                </a:lnTo>
                <a:lnTo>
                  <a:pt x="0" y="152399"/>
                </a:lnTo>
                <a:close/>
              </a:path>
              <a:path w="2514600" h="152400">
                <a:moveTo>
                  <a:pt x="2514599" y="152399"/>
                </a:moveTo>
                <a:lnTo>
                  <a:pt x="2496583" y="116442"/>
                </a:lnTo>
                <a:lnTo>
                  <a:pt x="2458834" y="93466"/>
                </a:lnTo>
                <a:lnTo>
                  <a:pt x="2420520" y="82000"/>
                </a:lnTo>
                <a:lnTo>
                  <a:pt x="2377212" y="76562"/>
                </a:lnTo>
                <a:lnTo>
                  <a:pt x="2362199" y="76199"/>
                </a:lnTo>
                <a:lnTo>
                  <a:pt x="2494018" y="76199"/>
                </a:lnTo>
                <a:lnTo>
                  <a:pt x="2511699" y="122662"/>
                </a:lnTo>
                <a:lnTo>
                  <a:pt x="2513874" y="137387"/>
                </a:lnTo>
                <a:lnTo>
                  <a:pt x="2514599" y="152399"/>
                </a:lnTo>
                <a:close/>
              </a:path>
            </a:pathLst>
          </a:custGeom>
          <a:solidFill>
            <a:srgbClr val="D512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90574" y="2647949"/>
            <a:ext cx="447675" cy="247650"/>
          </a:xfrm>
          <a:custGeom>
            <a:avLst/>
            <a:gdLst/>
            <a:ahLst/>
            <a:cxnLst/>
            <a:rect l="l" t="t" r="r" b="b"/>
            <a:pathLst>
              <a:path w="447675" h="247650">
                <a:moveTo>
                  <a:pt x="331980" y="247649"/>
                </a:moveTo>
                <a:lnTo>
                  <a:pt x="115694" y="247649"/>
                </a:lnTo>
                <a:lnTo>
                  <a:pt x="107642" y="246856"/>
                </a:lnTo>
                <a:lnTo>
                  <a:pt x="68927" y="235112"/>
                </a:lnTo>
                <a:lnTo>
                  <a:pt x="30518" y="205633"/>
                </a:lnTo>
                <a:lnTo>
                  <a:pt x="6314" y="163699"/>
                </a:lnTo>
                <a:lnTo>
                  <a:pt x="0" y="131955"/>
                </a:lnTo>
                <a:lnTo>
                  <a:pt x="0" y="123824"/>
                </a:lnTo>
                <a:lnTo>
                  <a:pt x="0" y="115694"/>
                </a:lnTo>
                <a:lnTo>
                  <a:pt x="12536" y="68927"/>
                </a:lnTo>
                <a:lnTo>
                  <a:pt x="42016" y="30518"/>
                </a:lnTo>
                <a:lnTo>
                  <a:pt x="83950" y="6313"/>
                </a:lnTo>
                <a:lnTo>
                  <a:pt x="115694" y="0"/>
                </a:lnTo>
                <a:lnTo>
                  <a:pt x="331980" y="0"/>
                </a:lnTo>
                <a:lnTo>
                  <a:pt x="378747" y="12536"/>
                </a:lnTo>
                <a:lnTo>
                  <a:pt x="417156" y="42016"/>
                </a:lnTo>
                <a:lnTo>
                  <a:pt x="441360" y="83950"/>
                </a:lnTo>
                <a:lnTo>
                  <a:pt x="447674" y="115694"/>
                </a:lnTo>
                <a:lnTo>
                  <a:pt x="447674" y="131955"/>
                </a:lnTo>
                <a:lnTo>
                  <a:pt x="435137" y="178721"/>
                </a:lnTo>
                <a:lnTo>
                  <a:pt x="405658" y="217131"/>
                </a:lnTo>
                <a:lnTo>
                  <a:pt x="363724" y="241335"/>
                </a:lnTo>
                <a:lnTo>
                  <a:pt x="340032" y="246856"/>
                </a:lnTo>
                <a:lnTo>
                  <a:pt x="331980" y="247649"/>
                </a:lnTo>
                <a:close/>
              </a:path>
            </a:pathLst>
          </a:custGeom>
          <a:solidFill>
            <a:srgbClr val="D512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74600" y="2641631"/>
            <a:ext cx="2148205" cy="20345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dirty="0" sz="1300" spc="-25">
                <a:solidFill>
                  <a:srgbClr val="FFFFFF"/>
                </a:solidFill>
                <a:latin typeface="Courier New"/>
                <a:cs typeface="Courier New"/>
              </a:rPr>
              <a:t>01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1900" spc="80">
                <a:solidFill>
                  <a:srgbClr val="0F1A3A"/>
                </a:solidFill>
                <a:latin typeface="Calibri"/>
                <a:cs typeface="Calibri"/>
              </a:rPr>
              <a:t>Disconnected</a:t>
            </a:r>
            <a:r>
              <a:rPr dirty="0" sz="1900" spc="4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70">
                <a:solidFill>
                  <a:srgbClr val="0F1A3A"/>
                </a:solidFill>
                <a:latin typeface="Calibri"/>
                <a:cs typeface="Calibri"/>
              </a:rPr>
              <a:t>data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116900"/>
              </a:lnSpc>
              <a:spcBef>
                <a:spcPts val="1145"/>
              </a:spcBef>
            </a:pPr>
            <a:r>
              <a:rPr dirty="0" sz="1350" spc="50">
                <a:solidFill>
                  <a:srgbClr val="0F1A3A"/>
                </a:solidFill>
                <a:latin typeface="Calibri"/>
                <a:cs typeface="Calibri"/>
              </a:rPr>
              <a:t>Spreadsheets</a:t>
            </a:r>
            <a:r>
              <a:rPr dirty="0" sz="1350" spc="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create </a:t>
            </a:r>
            <a:r>
              <a:rPr dirty="0" sz="1350" spc="20">
                <a:solidFill>
                  <a:srgbClr val="0F1A3A"/>
                </a:solidFill>
                <a:latin typeface="Calibri"/>
                <a:cs typeface="Calibri"/>
              </a:rPr>
              <a:t>operational</a:t>
            </a:r>
            <a:r>
              <a:rPr dirty="0" sz="1350" spc="13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20">
                <a:solidFill>
                  <a:srgbClr val="0F1A3A"/>
                </a:solidFill>
                <a:latin typeface="Calibri"/>
                <a:cs typeface="Calibri"/>
              </a:rPr>
              <a:t>silos,</a:t>
            </a:r>
            <a:r>
              <a:rPr dirty="0" sz="1350" spc="1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35">
                <a:solidFill>
                  <a:srgbClr val="0F1A3A"/>
                </a:solidFill>
                <a:latin typeface="Calibri"/>
                <a:cs typeface="Calibri"/>
              </a:rPr>
              <a:t>stranding </a:t>
            </a:r>
            <a:r>
              <a:rPr dirty="0" sz="1350" spc="65">
                <a:solidFill>
                  <a:srgbClr val="0F1A3A"/>
                </a:solidFill>
                <a:latin typeface="Calibri"/>
                <a:cs typeface="Calibri"/>
              </a:rPr>
              <a:t>booking</a:t>
            </a:r>
            <a:r>
              <a:rPr dirty="0" sz="1350" spc="3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55">
                <a:solidFill>
                  <a:srgbClr val="0F1A3A"/>
                </a:solidFill>
                <a:latin typeface="Calibri"/>
                <a:cs typeface="Calibri"/>
              </a:rPr>
              <a:t>updates</a:t>
            </a:r>
            <a:r>
              <a:rPr dirty="0" sz="1350" spc="3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50">
                <a:solidFill>
                  <a:srgbClr val="0F1A3A"/>
                </a:solidFill>
                <a:latin typeface="Calibri"/>
                <a:cs typeface="Calibri"/>
              </a:rPr>
              <a:t>away</a:t>
            </a:r>
            <a:r>
              <a:rPr dirty="0" sz="1350" spc="3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0F1A3A"/>
                </a:solidFill>
                <a:latin typeface="Calibri"/>
                <a:cs typeface="Calibri"/>
              </a:rPr>
              <a:t>from </a:t>
            </a: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customer</a:t>
            </a:r>
            <a:r>
              <a:rPr dirty="0" sz="1350" spc="27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visibility</a:t>
            </a:r>
            <a:r>
              <a:rPr dirty="0" sz="1350" spc="27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35">
                <a:solidFill>
                  <a:srgbClr val="0F1A3A"/>
                </a:solidFill>
                <a:latin typeface="Calibri"/>
                <a:cs typeface="Calibri"/>
              </a:rPr>
              <a:t>and </a:t>
            </a:r>
            <a:r>
              <a:rPr dirty="0" sz="1350" spc="50">
                <a:solidFill>
                  <a:srgbClr val="0F1A3A"/>
                </a:solidFill>
                <a:latin typeface="Calibri"/>
                <a:cs typeface="Calibri"/>
              </a:rPr>
              <a:t>accounting</a:t>
            </a:r>
            <a:r>
              <a:rPr dirty="0" sz="1350" spc="2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ledgers.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4600" y="5972238"/>
            <a:ext cx="140208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50">
                <a:solidFill>
                  <a:srgbClr val="4A5372"/>
                </a:solidFill>
                <a:latin typeface="Calibri"/>
                <a:cs typeface="Calibri"/>
              </a:rPr>
              <a:t>Data</a:t>
            </a:r>
            <a:r>
              <a:rPr dirty="0" sz="1250" spc="35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A5372"/>
                </a:solidFill>
                <a:latin typeface="Calibri"/>
                <a:cs typeface="Calibri"/>
              </a:rPr>
              <a:t>fragmentation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29000" y="2362200"/>
            <a:ext cx="2514600" cy="152400"/>
          </a:xfrm>
          <a:custGeom>
            <a:avLst/>
            <a:gdLst/>
            <a:ahLst/>
            <a:cxnLst/>
            <a:rect l="l" t="t" r="r" b="b"/>
            <a:pathLst>
              <a:path w="2514600" h="152400">
                <a:moveTo>
                  <a:pt x="0" y="152399"/>
                </a:moveTo>
                <a:lnTo>
                  <a:pt x="6524" y="108226"/>
                </a:lnTo>
                <a:lnTo>
                  <a:pt x="25659" y="67715"/>
                </a:lnTo>
                <a:lnTo>
                  <a:pt x="55764" y="34533"/>
                </a:lnTo>
                <a:lnTo>
                  <a:pt x="94078" y="11600"/>
                </a:lnTo>
                <a:lnTo>
                  <a:pt x="137386" y="725"/>
                </a:lnTo>
                <a:lnTo>
                  <a:pt x="152399" y="0"/>
                </a:lnTo>
                <a:lnTo>
                  <a:pt x="2362199" y="0"/>
                </a:lnTo>
                <a:lnTo>
                  <a:pt x="2406373" y="6525"/>
                </a:lnTo>
                <a:lnTo>
                  <a:pt x="2446883" y="25660"/>
                </a:lnTo>
                <a:lnTo>
                  <a:pt x="2480065" y="55765"/>
                </a:lnTo>
                <a:lnTo>
                  <a:pt x="2494017" y="76199"/>
                </a:lnTo>
                <a:lnTo>
                  <a:pt x="152399" y="76199"/>
                </a:lnTo>
                <a:lnTo>
                  <a:pt x="137386" y="76562"/>
                </a:lnTo>
                <a:lnTo>
                  <a:pt x="94078" y="82000"/>
                </a:lnTo>
                <a:lnTo>
                  <a:pt x="55764" y="93466"/>
                </a:lnTo>
                <a:lnTo>
                  <a:pt x="18015" y="116442"/>
                </a:lnTo>
                <a:lnTo>
                  <a:pt x="724" y="144893"/>
                </a:lnTo>
                <a:lnTo>
                  <a:pt x="0" y="152399"/>
                </a:lnTo>
                <a:close/>
              </a:path>
              <a:path w="2514600" h="152400">
                <a:moveTo>
                  <a:pt x="2514599" y="152399"/>
                </a:moveTo>
                <a:lnTo>
                  <a:pt x="2496583" y="116442"/>
                </a:lnTo>
                <a:lnTo>
                  <a:pt x="2458833" y="93466"/>
                </a:lnTo>
                <a:lnTo>
                  <a:pt x="2420520" y="82000"/>
                </a:lnTo>
                <a:lnTo>
                  <a:pt x="2377212" y="76562"/>
                </a:lnTo>
                <a:lnTo>
                  <a:pt x="2362199" y="76199"/>
                </a:lnTo>
                <a:lnTo>
                  <a:pt x="2494017" y="76199"/>
                </a:lnTo>
                <a:lnTo>
                  <a:pt x="2511699" y="122662"/>
                </a:lnTo>
                <a:lnTo>
                  <a:pt x="2513874" y="137387"/>
                </a:lnTo>
                <a:lnTo>
                  <a:pt x="2514599" y="152399"/>
                </a:lnTo>
                <a:close/>
              </a:path>
            </a:pathLst>
          </a:custGeom>
          <a:solidFill>
            <a:srgbClr val="FF83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609974" y="2647949"/>
            <a:ext cx="447675" cy="247650"/>
          </a:xfrm>
          <a:custGeom>
            <a:avLst/>
            <a:gdLst/>
            <a:ahLst/>
            <a:cxnLst/>
            <a:rect l="l" t="t" r="r" b="b"/>
            <a:pathLst>
              <a:path w="447675" h="247650">
                <a:moveTo>
                  <a:pt x="331980" y="247649"/>
                </a:moveTo>
                <a:lnTo>
                  <a:pt x="115694" y="247649"/>
                </a:lnTo>
                <a:lnTo>
                  <a:pt x="107642" y="246856"/>
                </a:lnTo>
                <a:lnTo>
                  <a:pt x="68927" y="235112"/>
                </a:lnTo>
                <a:lnTo>
                  <a:pt x="30518" y="205633"/>
                </a:lnTo>
                <a:lnTo>
                  <a:pt x="6314" y="163699"/>
                </a:lnTo>
                <a:lnTo>
                  <a:pt x="0" y="131955"/>
                </a:lnTo>
                <a:lnTo>
                  <a:pt x="0" y="123824"/>
                </a:lnTo>
                <a:lnTo>
                  <a:pt x="0" y="115694"/>
                </a:lnTo>
                <a:lnTo>
                  <a:pt x="12536" y="68927"/>
                </a:lnTo>
                <a:lnTo>
                  <a:pt x="42016" y="30518"/>
                </a:lnTo>
                <a:lnTo>
                  <a:pt x="83950" y="6313"/>
                </a:lnTo>
                <a:lnTo>
                  <a:pt x="115694" y="0"/>
                </a:lnTo>
                <a:lnTo>
                  <a:pt x="331980" y="0"/>
                </a:lnTo>
                <a:lnTo>
                  <a:pt x="378746" y="12536"/>
                </a:lnTo>
                <a:lnTo>
                  <a:pt x="417156" y="42016"/>
                </a:lnTo>
                <a:lnTo>
                  <a:pt x="441360" y="83950"/>
                </a:lnTo>
                <a:lnTo>
                  <a:pt x="447674" y="115694"/>
                </a:lnTo>
                <a:lnTo>
                  <a:pt x="447674" y="131955"/>
                </a:lnTo>
                <a:lnTo>
                  <a:pt x="435137" y="178721"/>
                </a:lnTo>
                <a:lnTo>
                  <a:pt x="405658" y="217131"/>
                </a:lnTo>
                <a:lnTo>
                  <a:pt x="363724" y="241335"/>
                </a:lnTo>
                <a:lnTo>
                  <a:pt x="340032" y="246856"/>
                </a:lnTo>
                <a:lnTo>
                  <a:pt x="331980" y="247649"/>
                </a:lnTo>
                <a:close/>
              </a:path>
            </a:pathLst>
          </a:custGeom>
          <a:solidFill>
            <a:srgbClr val="FF83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594000" y="2641631"/>
            <a:ext cx="2179955" cy="20345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dirty="0" sz="1300" spc="-25">
                <a:latin typeface="Courier New"/>
                <a:cs typeface="Courier New"/>
              </a:rPr>
              <a:t>02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1900" spc="100">
                <a:solidFill>
                  <a:srgbClr val="0F1A3A"/>
                </a:solidFill>
                <a:latin typeface="Calibri"/>
                <a:cs typeface="Calibri"/>
              </a:rPr>
              <a:t>Capacity</a:t>
            </a:r>
            <a:r>
              <a:rPr dirty="0" sz="1900" spc="5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60">
                <a:solidFill>
                  <a:srgbClr val="0F1A3A"/>
                </a:solidFill>
                <a:latin typeface="Calibri"/>
                <a:cs typeface="Calibri"/>
              </a:rPr>
              <a:t>conflicts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116900"/>
              </a:lnSpc>
              <a:spcBef>
                <a:spcPts val="1145"/>
              </a:spcBef>
            </a:pPr>
            <a:r>
              <a:rPr dirty="0" sz="1350" spc="45">
                <a:solidFill>
                  <a:srgbClr val="0F1A3A"/>
                </a:solidFill>
                <a:latin typeface="Calibri"/>
                <a:cs typeface="Calibri"/>
              </a:rPr>
              <a:t>Unsynchronized</a:t>
            </a:r>
            <a:r>
              <a:rPr dirty="0" sz="1350" spc="8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inventory </a:t>
            </a:r>
            <a:r>
              <a:rPr dirty="0" sz="1350" spc="60">
                <a:solidFill>
                  <a:srgbClr val="0F1A3A"/>
                </a:solidFill>
                <a:latin typeface="Calibri"/>
                <a:cs typeface="Calibri"/>
              </a:rPr>
              <a:t>triggers</a:t>
            </a:r>
            <a:r>
              <a:rPr dirty="0" sz="1350" spc="1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20">
                <a:solidFill>
                  <a:srgbClr val="0F1A3A"/>
                </a:solidFill>
                <a:latin typeface="Calibri"/>
                <a:cs typeface="Calibri"/>
              </a:rPr>
              <a:t>seat</a:t>
            </a:r>
            <a:r>
              <a:rPr dirty="0" sz="1350" spc="14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20">
                <a:solidFill>
                  <a:srgbClr val="0F1A3A"/>
                </a:solidFill>
                <a:latin typeface="Calibri"/>
                <a:cs typeface="Calibri"/>
              </a:rPr>
              <a:t>overselling</a:t>
            </a:r>
            <a:r>
              <a:rPr dirty="0" sz="1350" spc="14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35">
                <a:solidFill>
                  <a:srgbClr val="0F1A3A"/>
                </a:solidFill>
                <a:latin typeface="Calibri"/>
                <a:cs typeface="Calibri"/>
              </a:rPr>
              <a:t>and </a:t>
            </a:r>
            <a:r>
              <a:rPr dirty="0" sz="1350" spc="45">
                <a:solidFill>
                  <a:srgbClr val="0F1A3A"/>
                </a:solidFill>
                <a:latin typeface="Calibri"/>
                <a:cs typeface="Calibri"/>
              </a:rPr>
              <a:t>departure</a:t>
            </a:r>
            <a:r>
              <a:rPr dirty="0" sz="1350" spc="2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45">
                <a:solidFill>
                  <a:srgbClr val="0F1A3A"/>
                </a:solidFill>
                <a:latin typeface="Calibri"/>
                <a:cs typeface="Calibri"/>
              </a:rPr>
              <a:t>overbooking </a:t>
            </a:r>
            <a:r>
              <a:rPr dirty="0" sz="1350" spc="50">
                <a:solidFill>
                  <a:srgbClr val="0F1A3A"/>
                </a:solidFill>
                <a:latin typeface="Calibri"/>
                <a:cs typeface="Calibri"/>
              </a:rPr>
              <a:t>during</a:t>
            </a:r>
            <a:r>
              <a:rPr dirty="0" sz="1350" spc="3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65">
                <a:solidFill>
                  <a:srgbClr val="0F1A3A"/>
                </a:solidFill>
                <a:latin typeface="Calibri"/>
                <a:cs typeface="Calibri"/>
              </a:rPr>
              <a:t>peak</a:t>
            </a:r>
            <a:r>
              <a:rPr dirty="0" sz="1350" spc="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seasonal </a:t>
            </a:r>
            <a:r>
              <a:rPr dirty="0" sz="1350" spc="65">
                <a:solidFill>
                  <a:srgbClr val="0F1A3A"/>
                </a:solidFill>
                <a:latin typeface="Calibri"/>
                <a:cs typeface="Calibri"/>
              </a:rPr>
              <a:t>booking</a:t>
            </a:r>
            <a:r>
              <a:rPr dirty="0" sz="1350" spc="4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windows.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94000" y="5972238"/>
            <a:ext cx="154432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60">
                <a:solidFill>
                  <a:srgbClr val="4A5372"/>
                </a:solidFill>
                <a:latin typeface="Calibri"/>
                <a:cs typeface="Calibri"/>
              </a:rPr>
              <a:t>Seat</a:t>
            </a:r>
            <a:r>
              <a:rPr dirty="0" sz="1250" spc="150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 spc="10">
                <a:solidFill>
                  <a:srgbClr val="4A5372"/>
                </a:solidFill>
                <a:latin typeface="Calibri"/>
                <a:cs typeface="Calibri"/>
              </a:rPr>
              <a:t>allocation</a:t>
            </a:r>
            <a:r>
              <a:rPr dirty="0" sz="1250" spc="155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A5372"/>
                </a:solidFill>
                <a:latin typeface="Calibri"/>
                <a:cs typeface="Calibri"/>
              </a:rPr>
              <a:t>failure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48399" y="2362200"/>
            <a:ext cx="2514600" cy="152400"/>
          </a:xfrm>
          <a:custGeom>
            <a:avLst/>
            <a:gdLst/>
            <a:ahLst/>
            <a:cxnLst/>
            <a:rect l="l" t="t" r="r" b="b"/>
            <a:pathLst>
              <a:path w="2514600" h="152400">
                <a:moveTo>
                  <a:pt x="0" y="152399"/>
                </a:moveTo>
                <a:lnTo>
                  <a:pt x="717" y="137531"/>
                </a:lnTo>
                <a:lnTo>
                  <a:pt x="724" y="137387"/>
                </a:lnTo>
                <a:lnTo>
                  <a:pt x="2814" y="123239"/>
                </a:lnTo>
                <a:lnTo>
                  <a:pt x="2899" y="122662"/>
                </a:lnTo>
                <a:lnTo>
                  <a:pt x="18014" y="80486"/>
                </a:lnTo>
                <a:lnTo>
                  <a:pt x="44636" y="44636"/>
                </a:lnTo>
                <a:lnTo>
                  <a:pt x="80485" y="18015"/>
                </a:lnTo>
                <a:lnTo>
                  <a:pt x="122661" y="2900"/>
                </a:lnTo>
                <a:lnTo>
                  <a:pt x="152399" y="0"/>
                </a:lnTo>
                <a:lnTo>
                  <a:pt x="2362199" y="0"/>
                </a:lnTo>
                <a:lnTo>
                  <a:pt x="2406372" y="6525"/>
                </a:lnTo>
                <a:lnTo>
                  <a:pt x="2446883" y="25660"/>
                </a:lnTo>
                <a:lnTo>
                  <a:pt x="2480065" y="55765"/>
                </a:lnTo>
                <a:lnTo>
                  <a:pt x="2494017" y="76199"/>
                </a:lnTo>
                <a:lnTo>
                  <a:pt x="152399" y="76199"/>
                </a:lnTo>
                <a:lnTo>
                  <a:pt x="137386" y="76562"/>
                </a:lnTo>
                <a:lnTo>
                  <a:pt x="94078" y="82000"/>
                </a:lnTo>
                <a:lnTo>
                  <a:pt x="55764" y="93466"/>
                </a:lnTo>
                <a:lnTo>
                  <a:pt x="18014" y="116442"/>
                </a:lnTo>
                <a:lnTo>
                  <a:pt x="2971" y="137387"/>
                </a:lnTo>
                <a:lnTo>
                  <a:pt x="2899" y="137531"/>
                </a:lnTo>
                <a:lnTo>
                  <a:pt x="724" y="144893"/>
                </a:lnTo>
                <a:lnTo>
                  <a:pt x="0" y="152399"/>
                </a:lnTo>
                <a:close/>
              </a:path>
              <a:path w="2514600" h="152400">
                <a:moveTo>
                  <a:pt x="2514599" y="152399"/>
                </a:moveTo>
                <a:lnTo>
                  <a:pt x="2496583" y="116442"/>
                </a:lnTo>
                <a:lnTo>
                  <a:pt x="2458833" y="93466"/>
                </a:lnTo>
                <a:lnTo>
                  <a:pt x="2420519" y="82000"/>
                </a:lnTo>
                <a:lnTo>
                  <a:pt x="2377212" y="76562"/>
                </a:lnTo>
                <a:lnTo>
                  <a:pt x="2362199" y="76199"/>
                </a:lnTo>
                <a:lnTo>
                  <a:pt x="2494017" y="76199"/>
                </a:lnTo>
                <a:lnTo>
                  <a:pt x="2511699" y="122662"/>
                </a:lnTo>
                <a:lnTo>
                  <a:pt x="2513874" y="137387"/>
                </a:lnTo>
                <a:lnTo>
                  <a:pt x="2514599" y="152399"/>
                </a:lnTo>
                <a:close/>
              </a:path>
            </a:pathLst>
          </a:custGeom>
          <a:solidFill>
            <a:srgbClr val="FF83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429373" y="2647949"/>
            <a:ext cx="447675" cy="247650"/>
          </a:xfrm>
          <a:custGeom>
            <a:avLst/>
            <a:gdLst/>
            <a:ahLst/>
            <a:cxnLst/>
            <a:rect l="l" t="t" r="r" b="b"/>
            <a:pathLst>
              <a:path w="447675" h="247650">
                <a:moveTo>
                  <a:pt x="331980" y="247649"/>
                </a:moveTo>
                <a:lnTo>
                  <a:pt x="115695" y="247649"/>
                </a:lnTo>
                <a:lnTo>
                  <a:pt x="107642" y="246856"/>
                </a:lnTo>
                <a:lnTo>
                  <a:pt x="68928" y="235112"/>
                </a:lnTo>
                <a:lnTo>
                  <a:pt x="30519" y="205633"/>
                </a:lnTo>
                <a:lnTo>
                  <a:pt x="6314" y="163699"/>
                </a:lnTo>
                <a:lnTo>
                  <a:pt x="0" y="131955"/>
                </a:lnTo>
                <a:lnTo>
                  <a:pt x="0" y="123824"/>
                </a:lnTo>
                <a:lnTo>
                  <a:pt x="0" y="115694"/>
                </a:lnTo>
                <a:lnTo>
                  <a:pt x="12536" y="68927"/>
                </a:lnTo>
                <a:lnTo>
                  <a:pt x="42017" y="30518"/>
                </a:lnTo>
                <a:lnTo>
                  <a:pt x="83951" y="6313"/>
                </a:lnTo>
                <a:lnTo>
                  <a:pt x="115695" y="0"/>
                </a:lnTo>
                <a:lnTo>
                  <a:pt x="331980" y="0"/>
                </a:lnTo>
                <a:lnTo>
                  <a:pt x="378747" y="12536"/>
                </a:lnTo>
                <a:lnTo>
                  <a:pt x="417157" y="42016"/>
                </a:lnTo>
                <a:lnTo>
                  <a:pt x="441360" y="83950"/>
                </a:lnTo>
                <a:lnTo>
                  <a:pt x="447675" y="115694"/>
                </a:lnTo>
                <a:lnTo>
                  <a:pt x="447675" y="131955"/>
                </a:lnTo>
                <a:lnTo>
                  <a:pt x="435138" y="178721"/>
                </a:lnTo>
                <a:lnTo>
                  <a:pt x="405658" y="217131"/>
                </a:lnTo>
                <a:lnTo>
                  <a:pt x="363724" y="241335"/>
                </a:lnTo>
                <a:lnTo>
                  <a:pt x="340033" y="246856"/>
                </a:lnTo>
                <a:lnTo>
                  <a:pt x="331980" y="247649"/>
                </a:lnTo>
                <a:close/>
              </a:path>
            </a:pathLst>
          </a:custGeom>
          <a:solidFill>
            <a:srgbClr val="FF83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413400" y="2641631"/>
            <a:ext cx="2140585" cy="20345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dirty="0" sz="1300" spc="-25">
                <a:latin typeface="Courier New"/>
                <a:cs typeface="Courier New"/>
              </a:rPr>
              <a:t>03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1900" spc="65">
                <a:solidFill>
                  <a:srgbClr val="0F1A3A"/>
                </a:solidFill>
                <a:latin typeface="Calibri"/>
                <a:cs typeface="Calibri"/>
              </a:rPr>
              <a:t>Resource</a:t>
            </a:r>
            <a:r>
              <a:rPr dirty="0" sz="1900" spc="7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65">
                <a:solidFill>
                  <a:srgbClr val="0F1A3A"/>
                </a:solidFill>
                <a:latin typeface="Calibri"/>
                <a:cs typeface="Calibri"/>
              </a:rPr>
              <a:t>overlaps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116900"/>
              </a:lnSpc>
              <a:spcBef>
                <a:spcPts val="1145"/>
              </a:spcBef>
            </a:pPr>
            <a:r>
              <a:rPr dirty="0" sz="1350" spc="65">
                <a:solidFill>
                  <a:srgbClr val="0F1A3A"/>
                </a:solidFill>
                <a:latin typeface="Calibri"/>
                <a:cs typeface="Calibri"/>
              </a:rPr>
              <a:t>Guides</a:t>
            </a:r>
            <a:r>
              <a:rPr dirty="0" sz="1350" spc="12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60">
                <a:solidFill>
                  <a:srgbClr val="0F1A3A"/>
                </a:solidFill>
                <a:latin typeface="Calibri"/>
                <a:cs typeface="Calibri"/>
              </a:rPr>
              <a:t>and</a:t>
            </a:r>
            <a:r>
              <a:rPr dirty="0" sz="1350" spc="12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transport</a:t>
            </a:r>
            <a:r>
              <a:rPr dirty="0" sz="1350" spc="12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fleets </a:t>
            </a:r>
            <a:r>
              <a:rPr dirty="0" sz="1350" spc="80">
                <a:solidFill>
                  <a:srgbClr val="0F1A3A"/>
                </a:solidFill>
                <a:latin typeface="Calibri"/>
                <a:cs typeface="Calibri"/>
              </a:rPr>
              <a:t>get</a:t>
            </a:r>
            <a:r>
              <a:rPr dirty="0" sz="1350" spc="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60">
                <a:solidFill>
                  <a:srgbClr val="0F1A3A"/>
                </a:solidFill>
                <a:latin typeface="Calibri"/>
                <a:cs typeface="Calibri"/>
              </a:rPr>
              <a:t>double-</a:t>
            </a:r>
            <a:r>
              <a:rPr dirty="0" sz="1350" spc="70">
                <a:solidFill>
                  <a:srgbClr val="0F1A3A"/>
                </a:solidFill>
                <a:latin typeface="Calibri"/>
                <a:cs typeface="Calibri"/>
              </a:rPr>
              <a:t>booked</a:t>
            </a:r>
            <a:r>
              <a:rPr dirty="0" sz="1350" spc="4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across </a:t>
            </a: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concurrent</a:t>
            </a:r>
            <a:r>
              <a:rPr dirty="0" sz="1350" spc="29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itineraries</a:t>
            </a:r>
            <a:r>
              <a:rPr dirty="0" sz="1350" spc="50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F1A3A"/>
                </a:solidFill>
                <a:latin typeface="Calibri"/>
                <a:cs typeface="Calibri"/>
              </a:rPr>
              <a:t>without</a:t>
            </a:r>
            <a:r>
              <a:rPr dirty="0" sz="1350" spc="16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45">
                <a:solidFill>
                  <a:srgbClr val="0F1A3A"/>
                </a:solidFill>
                <a:latin typeface="Calibri"/>
                <a:cs typeface="Calibri"/>
              </a:rPr>
              <a:t>automated</a:t>
            </a:r>
            <a:r>
              <a:rPr dirty="0" sz="1350" spc="17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collision detection.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13400" y="5972238"/>
            <a:ext cx="120205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55">
                <a:solidFill>
                  <a:srgbClr val="4A5372"/>
                </a:solidFill>
                <a:latin typeface="Calibri"/>
                <a:cs typeface="Calibri"/>
              </a:rPr>
              <a:t>Scheduling</a:t>
            </a:r>
            <a:r>
              <a:rPr dirty="0" sz="1250" spc="35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4A5372"/>
                </a:solidFill>
                <a:latin typeface="Calibri"/>
                <a:cs typeface="Calibri"/>
              </a:rPr>
              <a:t>clash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067800" y="2362200"/>
            <a:ext cx="2514600" cy="152400"/>
          </a:xfrm>
          <a:custGeom>
            <a:avLst/>
            <a:gdLst/>
            <a:ahLst/>
            <a:cxnLst/>
            <a:rect l="l" t="t" r="r" b="b"/>
            <a:pathLst>
              <a:path w="2514600" h="152400">
                <a:moveTo>
                  <a:pt x="0" y="152399"/>
                </a:moveTo>
                <a:lnTo>
                  <a:pt x="717" y="137531"/>
                </a:lnTo>
                <a:lnTo>
                  <a:pt x="724" y="137387"/>
                </a:lnTo>
                <a:lnTo>
                  <a:pt x="2814" y="123239"/>
                </a:lnTo>
                <a:lnTo>
                  <a:pt x="18014" y="80486"/>
                </a:lnTo>
                <a:lnTo>
                  <a:pt x="44636" y="44636"/>
                </a:lnTo>
                <a:lnTo>
                  <a:pt x="80485" y="18015"/>
                </a:lnTo>
                <a:lnTo>
                  <a:pt x="122662" y="2900"/>
                </a:lnTo>
                <a:lnTo>
                  <a:pt x="152399" y="0"/>
                </a:lnTo>
                <a:lnTo>
                  <a:pt x="2362199" y="0"/>
                </a:lnTo>
                <a:lnTo>
                  <a:pt x="2406373" y="6525"/>
                </a:lnTo>
                <a:lnTo>
                  <a:pt x="2446883" y="25660"/>
                </a:lnTo>
                <a:lnTo>
                  <a:pt x="2480065" y="55765"/>
                </a:lnTo>
                <a:lnTo>
                  <a:pt x="2494017" y="76199"/>
                </a:lnTo>
                <a:lnTo>
                  <a:pt x="152399" y="76199"/>
                </a:lnTo>
                <a:lnTo>
                  <a:pt x="137386" y="76562"/>
                </a:lnTo>
                <a:lnTo>
                  <a:pt x="94078" y="82000"/>
                </a:lnTo>
                <a:lnTo>
                  <a:pt x="55764" y="93466"/>
                </a:lnTo>
                <a:lnTo>
                  <a:pt x="18014" y="116442"/>
                </a:lnTo>
                <a:lnTo>
                  <a:pt x="2971" y="137387"/>
                </a:lnTo>
                <a:lnTo>
                  <a:pt x="2899" y="137531"/>
                </a:lnTo>
                <a:lnTo>
                  <a:pt x="724" y="144893"/>
                </a:lnTo>
                <a:lnTo>
                  <a:pt x="0" y="152399"/>
                </a:lnTo>
                <a:close/>
              </a:path>
              <a:path w="2514600" h="152400">
                <a:moveTo>
                  <a:pt x="2514599" y="152399"/>
                </a:moveTo>
                <a:lnTo>
                  <a:pt x="2496583" y="116442"/>
                </a:lnTo>
                <a:lnTo>
                  <a:pt x="2458833" y="93466"/>
                </a:lnTo>
                <a:lnTo>
                  <a:pt x="2420520" y="82000"/>
                </a:lnTo>
                <a:lnTo>
                  <a:pt x="2377212" y="76562"/>
                </a:lnTo>
                <a:lnTo>
                  <a:pt x="2362199" y="76199"/>
                </a:lnTo>
                <a:lnTo>
                  <a:pt x="2494017" y="76199"/>
                </a:lnTo>
                <a:lnTo>
                  <a:pt x="2511698" y="122662"/>
                </a:lnTo>
                <a:lnTo>
                  <a:pt x="2513874" y="137387"/>
                </a:lnTo>
                <a:lnTo>
                  <a:pt x="2514599" y="152399"/>
                </a:lnTo>
                <a:close/>
              </a:path>
            </a:pathLst>
          </a:custGeom>
          <a:solidFill>
            <a:srgbClr val="D512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248773" y="2647949"/>
            <a:ext cx="447675" cy="247650"/>
          </a:xfrm>
          <a:custGeom>
            <a:avLst/>
            <a:gdLst/>
            <a:ahLst/>
            <a:cxnLst/>
            <a:rect l="l" t="t" r="r" b="b"/>
            <a:pathLst>
              <a:path w="447675" h="247650">
                <a:moveTo>
                  <a:pt x="331980" y="247649"/>
                </a:moveTo>
                <a:lnTo>
                  <a:pt x="115695" y="247649"/>
                </a:lnTo>
                <a:lnTo>
                  <a:pt x="107642" y="246856"/>
                </a:lnTo>
                <a:lnTo>
                  <a:pt x="68927" y="235112"/>
                </a:lnTo>
                <a:lnTo>
                  <a:pt x="30517" y="205633"/>
                </a:lnTo>
                <a:lnTo>
                  <a:pt x="6312" y="163699"/>
                </a:lnTo>
                <a:lnTo>
                  <a:pt x="0" y="131955"/>
                </a:lnTo>
                <a:lnTo>
                  <a:pt x="0" y="123824"/>
                </a:lnTo>
                <a:lnTo>
                  <a:pt x="0" y="115694"/>
                </a:lnTo>
                <a:lnTo>
                  <a:pt x="12536" y="68927"/>
                </a:lnTo>
                <a:lnTo>
                  <a:pt x="42016" y="30518"/>
                </a:lnTo>
                <a:lnTo>
                  <a:pt x="83950" y="6313"/>
                </a:lnTo>
                <a:lnTo>
                  <a:pt x="115695" y="0"/>
                </a:lnTo>
                <a:lnTo>
                  <a:pt x="331980" y="0"/>
                </a:lnTo>
                <a:lnTo>
                  <a:pt x="378746" y="12536"/>
                </a:lnTo>
                <a:lnTo>
                  <a:pt x="417156" y="42016"/>
                </a:lnTo>
                <a:lnTo>
                  <a:pt x="441360" y="83950"/>
                </a:lnTo>
                <a:lnTo>
                  <a:pt x="447674" y="115694"/>
                </a:lnTo>
                <a:lnTo>
                  <a:pt x="447674" y="131955"/>
                </a:lnTo>
                <a:lnTo>
                  <a:pt x="435137" y="178721"/>
                </a:lnTo>
                <a:lnTo>
                  <a:pt x="405657" y="217131"/>
                </a:lnTo>
                <a:lnTo>
                  <a:pt x="363723" y="241335"/>
                </a:lnTo>
                <a:lnTo>
                  <a:pt x="340032" y="246856"/>
                </a:lnTo>
                <a:lnTo>
                  <a:pt x="331980" y="247649"/>
                </a:lnTo>
                <a:close/>
              </a:path>
            </a:pathLst>
          </a:custGeom>
          <a:solidFill>
            <a:srgbClr val="D512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9232800" y="2641631"/>
            <a:ext cx="1868170" cy="20345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dirty="0" sz="1300" spc="-25">
                <a:solidFill>
                  <a:srgbClr val="FFFFFF"/>
                </a:solidFill>
                <a:latin typeface="Courier New"/>
                <a:cs typeface="Courier New"/>
              </a:rPr>
              <a:t>04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1900" spc="55">
                <a:solidFill>
                  <a:srgbClr val="0F1A3A"/>
                </a:solidFill>
                <a:latin typeface="Calibri"/>
                <a:cs typeface="Calibri"/>
              </a:rPr>
              <a:t>Financial</a:t>
            </a:r>
            <a:r>
              <a:rPr dirty="0" sz="1900" spc="6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85">
                <a:solidFill>
                  <a:srgbClr val="0F1A3A"/>
                </a:solidFill>
                <a:latin typeface="Calibri"/>
                <a:cs typeface="Calibri"/>
              </a:rPr>
              <a:t>leakage</a:t>
            </a:r>
            <a:endParaRPr sz="1900">
              <a:latin typeface="Calibri"/>
              <a:cs typeface="Calibri"/>
            </a:endParaRPr>
          </a:p>
          <a:p>
            <a:pPr marL="12700" marR="36195">
              <a:lnSpc>
                <a:spcPct val="116900"/>
              </a:lnSpc>
              <a:spcBef>
                <a:spcPts val="1145"/>
              </a:spcBef>
            </a:pPr>
            <a:r>
              <a:rPr dirty="0" sz="1350" spc="20">
                <a:solidFill>
                  <a:srgbClr val="0F1A3A"/>
                </a:solidFill>
                <a:latin typeface="Calibri"/>
                <a:cs typeface="Calibri"/>
              </a:rPr>
              <a:t>Cancellations,</a:t>
            </a:r>
            <a:r>
              <a:rPr dirty="0" sz="1350" spc="30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45">
                <a:solidFill>
                  <a:srgbClr val="0F1A3A"/>
                </a:solidFill>
                <a:latin typeface="Calibri"/>
                <a:cs typeface="Calibri"/>
              </a:rPr>
              <a:t>policy </a:t>
            </a: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penalties,</a:t>
            </a:r>
            <a:r>
              <a:rPr dirty="0" sz="1350" spc="14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60">
                <a:solidFill>
                  <a:srgbClr val="0F1A3A"/>
                </a:solidFill>
                <a:latin typeface="Calibri"/>
                <a:cs typeface="Calibri"/>
              </a:rPr>
              <a:t>and</a:t>
            </a:r>
            <a:r>
              <a:rPr dirty="0" sz="1350" spc="14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customer </a:t>
            </a:r>
            <a:r>
              <a:rPr dirty="0" sz="1350">
                <a:solidFill>
                  <a:srgbClr val="0F1A3A"/>
                </a:solidFill>
                <a:latin typeface="Calibri"/>
                <a:cs typeface="Calibri"/>
              </a:rPr>
              <a:t>refunds</a:t>
            </a:r>
            <a:r>
              <a:rPr dirty="0" sz="1350" spc="17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110">
                <a:solidFill>
                  <a:srgbClr val="0F1A3A"/>
                </a:solidFill>
                <a:latin typeface="Calibri"/>
                <a:cs typeface="Calibri"/>
              </a:rPr>
              <a:t>go</a:t>
            </a:r>
            <a:r>
              <a:rPr dirty="0" sz="1350" spc="17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unverified, </a:t>
            </a:r>
            <a:r>
              <a:rPr dirty="0" sz="1350" spc="50">
                <a:solidFill>
                  <a:srgbClr val="0F1A3A"/>
                </a:solidFill>
                <a:latin typeface="Calibri"/>
                <a:cs typeface="Calibri"/>
              </a:rPr>
              <a:t>leaking</a:t>
            </a:r>
            <a:r>
              <a:rPr dirty="0" sz="1350" spc="3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80">
                <a:solidFill>
                  <a:srgbClr val="0F1A3A"/>
                </a:solidFill>
                <a:latin typeface="Calibri"/>
                <a:cs typeface="Calibri"/>
              </a:rPr>
              <a:t>agency</a:t>
            </a:r>
            <a:r>
              <a:rPr dirty="0" sz="1350" spc="35">
                <a:solidFill>
                  <a:srgbClr val="0F1A3A"/>
                </a:solidFill>
                <a:latin typeface="Calibri"/>
                <a:cs typeface="Calibri"/>
              </a:rPr>
              <a:t> margins </a:t>
            </a:r>
            <a:r>
              <a:rPr dirty="0" sz="1350">
                <a:solidFill>
                  <a:srgbClr val="0F1A3A"/>
                </a:solidFill>
                <a:latin typeface="Calibri"/>
                <a:cs typeface="Calibri"/>
              </a:rPr>
              <a:t>without</a:t>
            </a:r>
            <a:r>
              <a:rPr dirty="0" sz="1350" spc="27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F1A3A"/>
                </a:solidFill>
                <a:latin typeface="Calibri"/>
                <a:cs typeface="Calibri"/>
              </a:rPr>
              <a:t>audit</a:t>
            </a:r>
            <a:r>
              <a:rPr dirty="0" sz="1350" spc="27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trails.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232800" y="5972238"/>
            <a:ext cx="136080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10">
                <a:solidFill>
                  <a:srgbClr val="4A5372"/>
                </a:solidFill>
                <a:latin typeface="Calibri"/>
                <a:cs typeface="Calibri"/>
              </a:rPr>
              <a:t>Unverified</a:t>
            </a:r>
            <a:r>
              <a:rPr dirty="0" sz="1250" spc="305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 spc="40">
                <a:solidFill>
                  <a:srgbClr val="4A5372"/>
                </a:solidFill>
                <a:latin typeface="Calibri"/>
                <a:cs typeface="Calibri"/>
              </a:rPr>
              <a:t>payouts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0316590" y="6342371"/>
            <a:ext cx="1780539" cy="431800"/>
            <a:chOff x="10316590" y="6342371"/>
            <a:chExt cx="1780539" cy="431800"/>
          </a:xfrm>
        </p:grpSpPr>
        <p:pic>
          <p:nvPicPr>
            <p:cNvPr id="26" name="object 26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42244" y="6343649"/>
              <a:ext cx="1754504" cy="419100"/>
            </a:xfrm>
            <a:prstGeom prst="rect">
              <a:avLst/>
            </a:prstGeom>
          </p:spPr>
        </p:pic>
        <p:sp>
          <p:nvSpPr>
            <p:cNvPr id="27" name="object 27">
              <a:hlinkClick r:id="rId3"/>
            </p:cNvPr>
            <p:cNvSpPr/>
            <p:nvPr/>
          </p:nvSpPr>
          <p:spPr>
            <a:xfrm>
              <a:off x="10316590" y="6342371"/>
              <a:ext cx="1772285" cy="431800"/>
            </a:xfrm>
            <a:custGeom>
              <a:avLst/>
              <a:gdLst/>
              <a:ahLst/>
              <a:cxnLst/>
              <a:rect l="l" t="t" r="r" b="b"/>
              <a:pathLst>
                <a:path w="1772284" h="431800">
                  <a:moveTo>
                    <a:pt x="1575945" y="0"/>
                  </a:moveTo>
                  <a:lnTo>
                    <a:pt x="196126" y="0"/>
                  </a:lnTo>
                  <a:lnTo>
                    <a:pt x="151156" y="5179"/>
                  </a:lnTo>
                  <a:lnTo>
                    <a:pt x="109875" y="19934"/>
                  </a:lnTo>
                  <a:lnTo>
                    <a:pt x="73459" y="43086"/>
                  </a:lnTo>
                  <a:lnTo>
                    <a:pt x="43086" y="73459"/>
                  </a:lnTo>
                  <a:lnTo>
                    <a:pt x="19934" y="109875"/>
                  </a:lnTo>
                  <a:lnTo>
                    <a:pt x="5179" y="151156"/>
                  </a:lnTo>
                  <a:lnTo>
                    <a:pt x="0" y="196126"/>
                  </a:lnTo>
                  <a:lnTo>
                    <a:pt x="0" y="235264"/>
                  </a:lnTo>
                  <a:lnTo>
                    <a:pt x="5179" y="280234"/>
                  </a:lnTo>
                  <a:lnTo>
                    <a:pt x="19934" y="321516"/>
                  </a:lnTo>
                  <a:lnTo>
                    <a:pt x="43086" y="357931"/>
                  </a:lnTo>
                  <a:lnTo>
                    <a:pt x="73459" y="388304"/>
                  </a:lnTo>
                  <a:lnTo>
                    <a:pt x="109875" y="411456"/>
                  </a:lnTo>
                  <a:lnTo>
                    <a:pt x="151156" y="426211"/>
                  </a:lnTo>
                  <a:lnTo>
                    <a:pt x="196126" y="431391"/>
                  </a:lnTo>
                  <a:lnTo>
                    <a:pt x="1575945" y="431391"/>
                  </a:lnTo>
                  <a:lnTo>
                    <a:pt x="1620915" y="426211"/>
                  </a:lnTo>
                  <a:lnTo>
                    <a:pt x="1662197" y="411456"/>
                  </a:lnTo>
                  <a:lnTo>
                    <a:pt x="1698613" y="388304"/>
                  </a:lnTo>
                  <a:lnTo>
                    <a:pt x="1728986" y="357931"/>
                  </a:lnTo>
                  <a:lnTo>
                    <a:pt x="1752138" y="321516"/>
                  </a:lnTo>
                  <a:lnTo>
                    <a:pt x="1766893" y="280234"/>
                  </a:lnTo>
                  <a:lnTo>
                    <a:pt x="1772072" y="235264"/>
                  </a:lnTo>
                  <a:lnTo>
                    <a:pt x="1772072" y="215695"/>
                  </a:lnTo>
                  <a:lnTo>
                    <a:pt x="1772072" y="196126"/>
                  </a:lnTo>
                  <a:lnTo>
                    <a:pt x="1766893" y="151156"/>
                  </a:lnTo>
                  <a:lnTo>
                    <a:pt x="1752138" y="109875"/>
                  </a:lnTo>
                  <a:lnTo>
                    <a:pt x="1728986" y="73459"/>
                  </a:lnTo>
                  <a:lnTo>
                    <a:pt x="1698613" y="43086"/>
                  </a:lnTo>
                  <a:lnTo>
                    <a:pt x="1662197" y="19934"/>
                  </a:lnTo>
                  <a:lnTo>
                    <a:pt x="1620915" y="5179"/>
                  </a:lnTo>
                  <a:lnTo>
                    <a:pt x="15759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599" y="352424"/>
            <a:ext cx="1962150" cy="228600"/>
          </a:xfrm>
          <a:custGeom>
            <a:avLst/>
            <a:gdLst/>
            <a:ahLst/>
            <a:cxnLst/>
            <a:rect l="l" t="t" r="r" b="b"/>
            <a:pathLst>
              <a:path w="1962150" h="228600">
                <a:moveTo>
                  <a:pt x="1855354" y="228599"/>
                </a:moveTo>
                <a:lnTo>
                  <a:pt x="106795" y="228599"/>
                </a:lnTo>
                <a:lnTo>
                  <a:pt x="99362" y="227867"/>
                </a:lnTo>
                <a:lnTo>
                  <a:pt x="57038" y="213506"/>
                </a:lnTo>
                <a:lnTo>
                  <a:pt x="23432" y="184041"/>
                </a:lnTo>
                <a:lnTo>
                  <a:pt x="3660" y="143959"/>
                </a:lnTo>
                <a:lnTo>
                  <a:pt x="0" y="121805"/>
                </a:lnTo>
                <a:lnTo>
                  <a:pt x="0" y="114299"/>
                </a:lnTo>
                <a:lnTo>
                  <a:pt x="0" y="106794"/>
                </a:lnTo>
                <a:lnTo>
                  <a:pt x="11572" y="63625"/>
                </a:lnTo>
                <a:lnTo>
                  <a:pt x="38784" y="28170"/>
                </a:lnTo>
                <a:lnTo>
                  <a:pt x="77493" y="5828"/>
                </a:lnTo>
                <a:lnTo>
                  <a:pt x="106795" y="0"/>
                </a:lnTo>
                <a:lnTo>
                  <a:pt x="1855354" y="0"/>
                </a:lnTo>
                <a:lnTo>
                  <a:pt x="1898523" y="11572"/>
                </a:lnTo>
                <a:lnTo>
                  <a:pt x="1933978" y="38784"/>
                </a:lnTo>
                <a:lnTo>
                  <a:pt x="1956321" y="77492"/>
                </a:lnTo>
                <a:lnTo>
                  <a:pt x="1962149" y="106794"/>
                </a:lnTo>
                <a:lnTo>
                  <a:pt x="1962149" y="121805"/>
                </a:lnTo>
                <a:lnTo>
                  <a:pt x="1950576" y="164974"/>
                </a:lnTo>
                <a:lnTo>
                  <a:pt x="1923365" y="200429"/>
                </a:lnTo>
                <a:lnTo>
                  <a:pt x="1884656" y="222771"/>
                </a:lnTo>
                <a:lnTo>
                  <a:pt x="1862787" y="227867"/>
                </a:lnTo>
                <a:lnTo>
                  <a:pt x="1855354" y="228599"/>
                </a:lnTo>
                <a:close/>
              </a:path>
            </a:pathLst>
          </a:custGeom>
          <a:solidFill>
            <a:srgbClr val="1F4ED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2647949" y="371474"/>
            <a:ext cx="1600200" cy="200025"/>
            <a:chOff x="2647949" y="371474"/>
            <a:chExt cx="1600200" cy="2000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24149" y="419099"/>
              <a:ext cx="104774" cy="1047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652712" y="376237"/>
              <a:ext cx="1590675" cy="190500"/>
            </a:xfrm>
            <a:custGeom>
              <a:avLst/>
              <a:gdLst/>
              <a:ahLst/>
              <a:cxnLst/>
              <a:rect l="l" t="t" r="r" b="b"/>
              <a:pathLst>
                <a:path w="1590675" h="190500">
                  <a:moveTo>
                    <a:pt x="0" y="95249"/>
                  </a:moveTo>
                  <a:lnTo>
                    <a:pt x="0" y="88995"/>
                  </a:lnTo>
                  <a:lnTo>
                    <a:pt x="610" y="82801"/>
                  </a:lnTo>
                  <a:lnTo>
                    <a:pt x="1830" y="76667"/>
                  </a:lnTo>
                  <a:lnTo>
                    <a:pt x="3050" y="70533"/>
                  </a:lnTo>
                  <a:lnTo>
                    <a:pt x="4856" y="64577"/>
                  </a:lnTo>
                  <a:lnTo>
                    <a:pt x="7250" y="58799"/>
                  </a:lnTo>
                  <a:lnTo>
                    <a:pt x="9643" y="53021"/>
                  </a:lnTo>
                  <a:lnTo>
                    <a:pt x="12577" y="47532"/>
                  </a:lnTo>
                  <a:lnTo>
                    <a:pt x="16052" y="42331"/>
                  </a:lnTo>
                  <a:lnTo>
                    <a:pt x="19526" y="37131"/>
                  </a:lnTo>
                  <a:lnTo>
                    <a:pt x="23475" y="32320"/>
                  </a:lnTo>
                  <a:lnTo>
                    <a:pt x="27897" y="27898"/>
                  </a:lnTo>
                  <a:lnTo>
                    <a:pt x="32320" y="23475"/>
                  </a:lnTo>
                  <a:lnTo>
                    <a:pt x="37131" y="19527"/>
                  </a:lnTo>
                  <a:lnTo>
                    <a:pt x="42332" y="16052"/>
                  </a:lnTo>
                  <a:lnTo>
                    <a:pt x="47531" y="12577"/>
                  </a:lnTo>
                  <a:lnTo>
                    <a:pt x="53020" y="9643"/>
                  </a:lnTo>
                  <a:lnTo>
                    <a:pt x="58799" y="7250"/>
                  </a:lnTo>
                  <a:lnTo>
                    <a:pt x="64577" y="4857"/>
                  </a:lnTo>
                  <a:lnTo>
                    <a:pt x="70533" y="3050"/>
                  </a:lnTo>
                  <a:lnTo>
                    <a:pt x="76667" y="1830"/>
                  </a:lnTo>
                  <a:lnTo>
                    <a:pt x="82801" y="610"/>
                  </a:lnTo>
                  <a:lnTo>
                    <a:pt x="88995" y="0"/>
                  </a:lnTo>
                  <a:lnTo>
                    <a:pt x="95249" y="0"/>
                  </a:lnTo>
                  <a:lnTo>
                    <a:pt x="1495424" y="0"/>
                  </a:lnTo>
                  <a:lnTo>
                    <a:pt x="1501678" y="0"/>
                  </a:lnTo>
                  <a:lnTo>
                    <a:pt x="1507872" y="610"/>
                  </a:lnTo>
                  <a:lnTo>
                    <a:pt x="1548342" y="16052"/>
                  </a:lnTo>
                  <a:lnTo>
                    <a:pt x="1578096" y="47532"/>
                  </a:lnTo>
                  <a:lnTo>
                    <a:pt x="1583423" y="58799"/>
                  </a:lnTo>
                  <a:lnTo>
                    <a:pt x="1585817" y="64577"/>
                  </a:lnTo>
                  <a:lnTo>
                    <a:pt x="1590674" y="95249"/>
                  </a:lnTo>
                  <a:lnTo>
                    <a:pt x="1590674" y="101504"/>
                  </a:lnTo>
                  <a:lnTo>
                    <a:pt x="1583423" y="131700"/>
                  </a:lnTo>
                  <a:lnTo>
                    <a:pt x="1581030" y="137478"/>
                  </a:lnTo>
                  <a:lnTo>
                    <a:pt x="1553542" y="170972"/>
                  </a:lnTo>
                  <a:lnTo>
                    <a:pt x="1548342" y="174447"/>
                  </a:lnTo>
                  <a:lnTo>
                    <a:pt x="1543141" y="177922"/>
                  </a:lnTo>
                  <a:lnTo>
                    <a:pt x="1514006" y="188669"/>
                  </a:lnTo>
                  <a:lnTo>
                    <a:pt x="1507872" y="189889"/>
                  </a:lnTo>
                  <a:lnTo>
                    <a:pt x="1501678" y="190499"/>
                  </a:lnTo>
                  <a:lnTo>
                    <a:pt x="1495424" y="190499"/>
                  </a:lnTo>
                  <a:lnTo>
                    <a:pt x="95249" y="190499"/>
                  </a:lnTo>
                  <a:lnTo>
                    <a:pt x="58799" y="183249"/>
                  </a:lnTo>
                  <a:lnTo>
                    <a:pt x="53020" y="180856"/>
                  </a:lnTo>
                  <a:lnTo>
                    <a:pt x="47531" y="177922"/>
                  </a:lnTo>
                  <a:lnTo>
                    <a:pt x="42332" y="174447"/>
                  </a:lnTo>
                  <a:lnTo>
                    <a:pt x="37131" y="170972"/>
                  </a:lnTo>
                  <a:lnTo>
                    <a:pt x="32320" y="167024"/>
                  </a:lnTo>
                  <a:lnTo>
                    <a:pt x="27897" y="162601"/>
                  </a:lnTo>
                  <a:lnTo>
                    <a:pt x="23475" y="158179"/>
                  </a:lnTo>
                  <a:lnTo>
                    <a:pt x="7250" y="131700"/>
                  </a:lnTo>
                  <a:lnTo>
                    <a:pt x="4856" y="125922"/>
                  </a:lnTo>
                  <a:lnTo>
                    <a:pt x="3050" y="119966"/>
                  </a:lnTo>
                  <a:lnTo>
                    <a:pt x="1830" y="113832"/>
                  </a:lnTo>
                  <a:lnTo>
                    <a:pt x="610" y="107698"/>
                  </a:lnTo>
                  <a:lnTo>
                    <a:pt x="0" y="101504"/>
                  </a:lnTo>
                  <a:lnTo>
                    <a:pt x="0" y="95249"/>
                  </a:lnTo>
                  <a:close/>
                </a:path>
              </a:pathLst>
            </a:custGeom>
            <a:ln w="9524">
              <a:solidFill>
                <a:srgbClr val="0F1A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723850" y="362013"/>
            <a:ext cx="3462654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2660" algn="l"/>
              </a:tabLst>
            </a:pPr>
            <a:r>
              <a:rPr dirty="0" sz="1100" spc="-10">
                <a:solidFill>
                  <a:srgbClr val="FFFFFF"/>
                </a:solidFill>
                <a:latin typeface="Courier New"/>
                <a:cs typeface="Courier New"/>
              </a:rPr>
              <a:t>SOLUTION</a:t>
            </a:r>
            <a:r>
              <a:rPr dirty="0" sz="1100" spc="-15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ourier New"/>
                <a:cs typeface="Courier New"/>
              </a:rPr>
              <a:t>ARCHITECTURE</a:t>
            </a:r>
            <a:r>
              <a:rPr dirty="0" sz="110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dirty="0" sz="1100" spc="-10">
                <a:solidFill>
                  <a:srgbClr val="0F1A3A"/>
                </a:solidFill>
                <a:latin typeface="Courier New"/>
                <a:cs typeface="Courier New"/>
              </a:rPr>
              <a:t>WORKFLOW</a:t>
            </a:r>
            <a:r>
              <a:rPr dirty="0" sz="1100" spc="-155">
                <a:solidFill>
                  <a:srgbClr val="0F1A3A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0F1A3A"/>
                </a:solidFill>
                <a:latin typeface="Courier New"/>
                <a:cs typeface="Courier New"/>
              </a:rPr>
              <a:t>ENGINE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96899" y="606425"/>
            <a:ext cx="9940290" cy="892175"/>
          </a:xfrm>
          <a:prstGeom prst="rect"/>
        </p:spPr>
        <p:txBody>
          <a:bodyPr wrap="square" lIns="0" tIns="65405" rIns="0" bIns="0" rtlCol="0" vert="horz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515"/>
              </a:spcBef>
            </a:pPr>
            <a:r>
              <a:rPr dirty="0" spc="-135"/>
              <a:t>One</a:t>
            </a:r>
            <a:r>
              <a:rPr dirty="0" spc="-405"/>
              <a:t> </a:t>
            </a:r>
            <a:r>
              <a:rPr dirty="0" spc="-85"/>
              <a:t>relational</a:t>
            </a:r>
            <a:r>
              <a:rPr dirty="0" spc="-405"/>
              <a:t> </a:t>
            </a:r>
            <a:r>
              <a:rPr dirty="0" spc="-114"/>
              <a:t>system</a:t>
            </a:r>
            <a:r>
              <a:rPr dirty="0" spc="-405"/>
              <a:t> </a:t>
            </a:r>
            <a:r>
              <a:rPr dirty="0" spc="-95"/>
              <a:t>turns</a:t>
            </a:r>
            <a:r>
              <a:rPr dirty="0" spc="-405"/>
              <a:t> </a:t>
            </a:r>
            <a:r>
              <a:rPr dirty="0" spc="-65"/>
              <a:t>travel</a:t>
            </a:r>
            <a:r>
              <a:rPr dirty="0" spc="-405"/>
              <a:t> </a:t>
            </a:r>
            <a:r>
              <a:rPr dirty="0" spc="-114"/>
              <a:t>operations</a:t>
            </a:r>
            <a:r>
              <a:rPr dirty="0" spc="-405"/>
              <a:t> </a:t>
            </a:r>
            <a:r>
              <a:rPr dirty="0" spc="-105"/>
              <a:t>into</a:t>
            </a:r>
            <a:r>
              <a:rPr dirty="0" spc="-405"/>
              <a:t> </a:t>
            </a:r>
            <a:r>
              <a:rPr dirty="0" spc="-50"/>
              <a:t>a </a:t>
            </a:r>
            <a:r>
              <a:rPr dirty="0" spc="-105"/>
              <a:t>controlled</a:t>
            </a:r>
            <a:r>
              <a:rPr dirty="0" spc="-380"/>
              <a:t> </a:t>
            </a:r>
            <a:r>
              <a:rPr dirty="0" spc="-25"/>
              <a:t>workflow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96899" y="1698656"/>
            <a:ext cx="902144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195">
                <a:solidFill>
                  <a:srgbClr val="0F1A3A"/>
                </a:solidFill>
                <a:latin typeface="Calibri"/>
                <a:cs typeface="Calibri"/>
              </a:rPr>
              <a:t>A</a:t>
            </a:r>
            <a:r>
              <a:rPr dirty="0" sz="1900" spc="8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60">
                <a:solidFill>
                  <a:srgbClr val="0F1A3A"/>
                </a:solidFill>
                <a:latin typeface="Calibri"/>
                <a:cs typeface="Calibri"/>
              </a:rPr>
              <a:t>continuous</a:t>
            </a:r>
            <a:r>
              <a:rPr dirty="0" sz="1900" spc="8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F1A3A"/>
                </a:solidFill>
                <a:latin typeface="Calibri"/>
                <a:cs typeface="Calibri"/>
              </a:rPr>
              <a:t>relational</a:t>
            </a:r>
            <a:r>
              <a:rPr dirty="0" sz="1900" spc="8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55">
                <a:solidFill>
                  <a:srgbClr val="0F1A3A"/>
                </a:solidFill>
                <a:latin typeface="Calibri"/>
                <a:cs typeface="Calibri"/>
              </a:rPr>
              <a:t>pipeline</a:t>
            </a:r>
            <a:r>
              <a:rPr dirty="0" sz="1900" spc="8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55">
                <a:solidFill>
                  <a:srgbClr val="0F1A3A"/>
                </a:solidFill>
                <a:latin typeface="Calibri"/>
                <a:cs typeface="Calibri"/>
              </a:rPr>
              <a:t>enforces</a:t>
            </a:r>
            <a:r>
              <a:rPr dirty="0" sz="1900" spc="80">
                <a:solidFill>
                  <a:srgbClr val="0F1A3A"/>
                </a:solidFill>
                <a:latin typeface="Calibri"/>
                <a:cs typeface="Calibri"/>
              </a:rPr>
              <a:t> governance</a:t>
            </a:r>
            <a:r>
              <a:rPr dirty="0" sz="1900" spc="8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55">
                <a:solidFill>
                  <a:srgbClr val="0F1A3A"/>
                </a:solidFill>
                <a:latin typeface="Calibri"/>
                <a:cs typeface="Calibri"/>
              </a:rPr>
              <a:t>at</a:t>
            </a:r>
            <a:r>
              <a:rPr dirty="0" sz="1900" spc="8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80">
                <a:solidFill>
                  <a:srgbClr val="0F1A3A"/>
                </a:solidFill>
                <a:latin typeface="Calibri"/>
                <a:cs typeface="Calibri"/>
              </a:rPr>
              <a:t>every</a:t>
            </a:r>
            <a:r>
              <a:rPr dirty="0" sz="1900" spc="8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55">
                <a:solidFill>
                  <a:srgbClr val="0F1A3A"/>
                </a:solidFill>
                <a:latin typeface="Calibri"/>
                <a:cs typeface="Calibri"/>
              </a:rPr>
              <a:t>operational</a:t>
            </a:r>
            <a:r>
              <a:rPr dirty="0" sz="1900" spc="8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0F1A3A"/>
                </a:solidFill>
                <a:latin typeface="Calibri"/>
                <a:cs typeface="Calibri"/>
              </a:rPr>
              <a:t>transition.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9599" y="3933825"/>
            <a:ext cx="10972800" cy="819150"/>
            <a:chOff x="609599" y="3933825"/>
            <a:chExt cx="10972800" cy="819150"/>
          </a:xfrm>
        </p:grpSpPr>
        <p:sp>
          <p:nvSpPr>
            <p:cNvPr id="10" name="object 10"/>
            <p:cNvSpPr/>
            <p:nvPr/>
          </p:nvSpPr>
          <p:spPr>
            <a:xfrm>
              <a:off x="609599" y="4343399"/>
              <a:ext cx="10972800" cy="66675"/>
            </a:xfrm>
            <a:custGeom>
              <a:avLst/>
              <a:gdLst/>
              <a:ahLst/>
              <a:cxnLst/>
              <a:rect l="l" t="t" r="r" b="b"/>
              <a:pathLst>
                <a:path w="10972800" h="66675">
                  <a:moveTo>
                    <a:pt x="10943881" y="66674"/>
                  </a:moveTo>
                  <a:lnTo>
                    <a:pt x="28916" y="66674"/>
                  </a:lnTo>
                  <a:lnTo>
                    <a:pt x="24664" y="65828"/>
                  </a:lnTo>
                  <a:lnTo>
                    <a:pt x="0" y="37757"/>
                  </a:lnTo>
                  <a:lnTo>
                    <a:pt x="0" y="3333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0943881" y="0"/>
                  </a:lnTo>
                  <a:lnTo>
                    <a:pt x="10972798" y="28916"/>
                  </a:lnTo>
                  <a:lnTo>
                    <a:pt x="10972798" y="37757"/>
                  </a:lnTo>
                  <a:lnTo>
                    <a:pt x="10948133" y="65828"/>
                  </a:lnTo>
                  <a:lnTo>
                    <a:pt x="10943881" y="66674"/>
                  </a:lnTo>
                  <a:close/>
                </a:path>
              </a:pathLst>
            </a:custGeom>
            <a:solidFill>
              <a:srgbClr val="1F4E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692449" y="3933825"/>
              <a:ext cx="66675" cy="409575"/>
            </a:xfrm>
            <a:custGeom>
              <a:avLst/>
              <a:gdLst/>
              <a:ahLst/>
              <a:cxnLst/>
              <a:rect l="l" t="t" r="r" b="b"/>
              <a:pathLst>
                <a:path w="66675" h="409575">
                  <a:moveTo>
                    <a:pt x="37758" y="409574"/>
                  </a:moveTo>
                  <a:lnTo>
                    <a:pt x="28916" y="409574"/>
                  </a:lnTo>
                  <a:lnTo>
                    <a:pt x="24664" y="408729"/>
                  </a:lnTo>
                  <a:lnTo>
                    <a:pt x="0" y="380658"/>
                  </a:lnTo>
                  <a:lnTo>
                    <a:pt x="0" y="37623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37758" y="0"/>
                  </a:lnTo>
                  <a:lnTo>
                    <a:pt x="66674" y="28916"/>
                  </a:lnTo>
                  <a:lnTo>
                    <a:pt x="66674" y="380658"/>
                  </a:lnTo>
                  <a:lnTo>
                    <a:pt x="42010" y="408729"/>
                  </a:lnTo>
                  <a:lnTo>
                    <a:pt x="37758" y="409574"/>
                  </a:lnTo>
                  <a:close/>
                </a:path>
              </a:pathLst>
            </a:custGeom>
            <a:solidFill>
              <a:srgbClr val="1F4ED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7949" y="4267199"/>
              <a:ext cx="152399" cy="1523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940349" y="4343400"/>
              <a:ext cx="66675" cy="409575"/>
            </a:xfrm>
            <a:custGeom>
              <a:avLst/>
              <a:gdLst/>
              <a:ahLst/>
              <a:cxnLst/>
              <a:rect l="l" t="t" r="r" b="b"/>
              <a:pathLst>
                <a:path w="66675" h="409575">
                  <a:moveTo>
                    <a:pt x="37758" y="409574"/>
                  </a:moveTo>
                  <a:lnTo>
                    <a:pt x="28916" y="409574"/>
                  </a:lnTo>
                  <a:lnTo>
                    <a:pt x="24664" y="408729"/>
                  </a:lnTo>
                  <a:lnTo>
                    <a:pt x="0" y="380658"/>
                  </a:lnTo>
                  <a:lnTo>
                    <a:pt x="0" y="37623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37758" y="0"/>
                  </a:lnTo>
                  <a:lnTo>
                    <a:pt x="66674" y="28916"/>
                  </a:lnTo>
                  <a:lnTo>
                    <a:pt x="66674" y="380658"/>
                  </a:lnTo>
                  <a:lnTo>
                    <a:pt x="42010" y="408729"/>
                  </a:lnTo>
                  <a:lnTo>
                    <a:pt x="37758" y="409574"/>
                  </a:lnTo>
                  <a:close/>
                </a:path>
              </a:pathLst>
            </a:custGeom>
            <a:solidFill>
              <a:srgbClr val="1F4ED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95849" y="4267199"/>
              <a:ext cx="152399" cy="1523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188249" y="3933825"/>
              <a:ext cx="66675" cy="409575"/>
            </a:xfrm>
            <a:custGeom>
              <a:avLst/>
              <a:gdLst/>
              <a:ahLst/>
              <a:cxnLst/>
              <a:rect l="l" t="t" r="r" b="b"/>
              <a:pathLst>
                <a:path w="66675" h="409575">
                  <a:moveTo>
                    <a:pt x="37758" y="409574"/>
                  </a:moveTo>
                  <a:lnTo>
                    <a:pt x="28916" y="409574"/>
                  </a:lnTo>
                  <a:lnTo>
                    <a:pt x="24664" y="408729"/>
                  </a:lnTo>
                  <a:lnTo>
                    <a:pt x="0" y="380658"/>
                  </a:lnTo>
                  <a:lnTo>
                    <a:pt x="0" y="37623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37758" y="0"/>
                  </a:lnTo>
                  <a:lnTo>
                    <a:pt x="66674" y="28916"/>
                  </a:lnTo>
                  <a:lnTo>
                    <a:pt x="66674" y="380658"/>
                  </a:lnTo>
                  <a:lnTo>
                    <a:pt x="42010" y="408729"/>
                  </a:lnTo>
                  <a:lnTo>
                    <a:pt x="37758" y="409574"/>
                  </a:lnTo>
                  <a:close/>
                </a:path>
              </a:pathLst>
            </a:custGeom>
            <a:solidFill>
              <a:srgbClr val="1F4ED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43749" y="4267199"/>
              <a:ext cx="152399" cy="15239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436149" y="4343400"/>
              <a:ext cx="57150" cy="409575"/>
            </a:xfrm>
            <a:custGeom>
              <a:avLst/>
              <a:gdLst/>
              <a:ahLst/>
              <a:cxnLst/>
              <a:rect l="l" t="t" r="r" b="b"/>
              <a:pathLst>
                <a:path w="57150" h="409575">
                  <a:moveTo>
                    <a:pt x="32364" y="409574"/>
                  </a:moveTo>
                  <a:lnTo>
                    <a:pt x="24785" y="409574"/>
                  </a:lnTo>
                  <a:lnTo>
                    <a:pt x="21140" y="408849"/>
                  </a:lnTo>
                  <a:lnTo>
                    <a:pt x="0" y="384789"/>
                  </a:lnTo>
                  <a:lnTo>
                    <a:pt x="0" y="380999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32364" y="0"/>
                  </a:lnTo>
                  <a:lnTo>
                    <a:pt x="57149" y="24785"/>
                  </a:lnTo>
                  <a:lnTo>
                    <a:pt x="57149" y="384789"/>
                  </a:lnTo>
                  <a:lnTo>
                    <a:pt x="36009" y="408849"/>
                  </a:lnTo>
                  <a:lnTo>
                    <a:pt x="32364" y="409574"/>
                  </a:lnTo>
                  <a:close/>
                </a:path>
              </a:pathLst>
            </a:custGeom>
            <a:solidFill>
              <a:srgbClr val="1F4ED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91649" y="4267199"/>
              <a:ext cx="152399" cy="152399"/>
            </a:xfrm>
            <a:prstGeom prst="rect">
              <a:avLst/>
            </a:prstGeom>
          </p:spPr>
        </p:pic>
      </p:grpSp>
      <p:sp>
        <p:nvSpPr>
          <p:cNvPr id="19" name="object 19"/>
          <p:cNvSpPr/>
          <p:nvPr/>
        </p:nvSpPr>
        <p:spPr>
          <a:xfrm>
            <a:off x="2219324" y="2476499"/>
            <a:ext cx="1019175" cy="247650"/>
          </a:xfrm>
          <a:custGeom>
            <a:avLst/>
            <a:gdLst/>
            <a:ahLst/>
            <a:cxnLst/>
            <a:rect l="l" t="t" r="r" b="b"/>
            <a:pathLst>
              <a:path w="1019175" h="247650">
                <a:moveTo>
                  <a:pt x="903480" y="247649"/>
                </a:moveTo>
                <a:lnTo>
                  <a:pt x="115694" y="247649"/>
                </a:lnTo>
                <a:lnTo>
                  <a:pt x="107642" y="246856"/>
                </a:lnTo>
                <a:lnTo>
                  <a:pt x="68927" y="235112"/>
                </a:lnTo>
                <a:lnTo>
                  <a:pt x="30518" y="205633"/>
                </a:lnTo>
                <a:lnTo>
                  <a:pt x="6314" y="163699"/>
                </a:lnTo>
                <a:lnTo>
                  <a:pt x="0" y="131955"/>
                </a:lnTo>
                <a:lnTo>
                  <a:pt x="0" y="123824"/>
                </a:lnTo>
                <a:lnTo>
                  <a:pt x="0" y="115694"/>
                </a:lnTo>
                <a:lnTo>
                  <a:pt x="12536" y="68927"/>
                </a:lnTo>
                <a:lnTo>
                  <a:pt x="42016" y="30518"/>
                </a:lnTo>
                <a:lnTo>
                  <a:pt x="83950" y="6314"/>
                </a:lnTo>
                <a:lnTo>
                  <a:pt x="115694" y="0"/>
                </a:lnTo>
                <a:lnTo>
                  <a:pt x="903480" y="0"/>
                </a:lnTo>
                <a:lnTo>
                  <a:pt x="950247" y="12536"/>
                </a:lnTo>
                <a:lnTo>
                  <a:pt x="988656" y="42016"/>
                </a:lnTo>
                <a:lnTo>
                  <a:pt x="1012860" y="83950"/>
                </a:lnTo>
                <a:lnTo>
                  <a:pt x="1019175" y="115694"/>
                </a:lnTo>
                <a:lnTo>
                  <a:pt x="1019175" y="131955"/>
                </a:lnTo>
                <a:lnTo>
                  <a:pt x="1006637" y="178721"/>
                </a:lnTo>
                <a:lnTo>
                  <a:pt x="977158" y="217131"/>
                </a:lnTo>
                <a:lnTo>
                  <a:pt x="935224" y="241335"/>
                </a:lnTo>
                <a:lnTo>
                  <a:pt x="911532" y="246856"/>
                </a:lnTo>
                <a:lnTo>
                  <a:pt x="903480" y="247649"/>
                </a:lnTo>
                <a:close/>
              </a:path>
            </a:pathLst>
          </a:custGeom>
          <a:solidFill>
            <a:srgbClr val="1F4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81905" y="2470181"/>
            <a:ext cx="3691890" cy="1253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FFFFFF"/>
                </a:solidFill>
                <a:latin typeface="Courier New"/>
                <a:cs typeface="Courier New"/>
              </a:rPr>
              <a:t>STAGE</a:t>
            </a:r>
            <a:r>
              <a:rPr dirty="0" sz="1300" spc="-1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Courier New"/>
                <a:cs typeface="Courier New"/>
              </a:rPr>
              <a:t>01</a:t>
            </a:r>
            <a:endParaRPr sz="13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265"/>
              </a:spcBef>
            </a:pPr>
            <a:r>
              <a:rPr dirty="0" sz="1700" spc="70" b="1">
                <a:solidFill>
                  <a:srgbClr val="0F1A3A"/>
                </a:solidFill>
                <a:latin typeface="Calibri"/>
                <a:cs typeface="Calibri"/>
              </a:rPr>
              <a:t>Centralize</a:t>
            </a:r>
            <a:r>
              <a:rPr dirty="0" sz="1700" spc="204" b="1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700" b="1">
                <a:solidFill>
                  <a:srgbClr val="0F1A3A"/>
                </a:solidFill>
                <a:latin typeface="Calibri"/>
                <a:cs typeface="Calibri"/>
              </a:rPr>
              <a:t>Master</a:t>
            </a:r>
            <a:r>
              <a:rPr dirty="0" sz="1700" spc="210" b="1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700" spc="50" b="1">
                <a:solidFill>
                  <a:srgbClr val="0F1A3A"/>
                </a:solidFill>
                <a:latin typeface="Calibri"/>
                <a:cs typeface="Calibri"/>
              </a:rPr>
              <a:t>Data</a:t>
            </a:r>
            <a:endParaRPr sz="1700">
              <a:latin typeface="Calibri"/>
              <a:cs typeface="Calibri"/>
            </a:endParaRPr>
          </a:p>
          <a:p>
            <a:pPr algn="ctr" marL="12700" marR="5080">
              <a:lnSpc>
                <a:spcPct val="115700"/>
              </a:lnSpc>
              <a:spcBef>
                <a:spcPts val="1055"/>
              </a:spcBef>
            </a:pPr>
            <a:r>
              <a:rPr dirty="0" sz="1350" spc="20">
                <a:solidFill>
                  <a:srgbClr val="0F1A3A"/>
                </a:solidFill>
                <a:latin typeface="Calibri"/>
                <a:cs typeface="Calibri"/>
              </a:rPr>
              <a:t>Centralize</a:t>
            </a:r>
            <a:r>
              <a:rPr dirty="0" sz="1350" spc="80">
                <a:solidFill>
                  <a:srgbClr val="0F1A3A"/>
                </a:solidFill>
                <a:latin typeface="Calibri"/>
                <a:cs typeface="Calibri"/>
              </a:rPr>
              <a:t> agency</a:t>
            </a:r>
            <a:r>
              <a:rPr dirty="0" sz="1350" spc="8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20">
                <a:solidFill>
                  <a:srgbClr val="0F1A3A"/>
                </a:solidFill>
                <a:latin typeface="Calibri"/>
                <a:cs typeface="Calibri"/>
              </a:rPr>
              <a:t>master</a:t>
            </a:r>
            <a:r>
              <a:rPr dirty="0" sz="1350" spc="8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55">
                <a:solidFill>
                  <a:srgbClr val="0F1A3A"/>
                </a:solidFill>
                <a:latin typeface="Calibri"/>
                <a:cs typeface="Calibri"/>
              </a:rPr>
              <a:t>data</a:t>
            </a:r>
            <a:r>
              <a:rPr dirty="0" sz="1350" spc="8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20">
                <a:solidFill>
                  <a:srgbClr val="0F1A3A"/>
                </a:solidFill>
                <a:latin typeface="Calibri"/>
                <a:cs typeface="Calibri"/>
              </a:rPr>
              <a:t>into</a:t>
            </a:r>
            <a:r>
              <a:rPr dirty="0" sz="1350" spc="8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55">
                <a:solidFill>
                  <a:srgbClr val="0F1A3A"/>
                </a:solidFill>
                <a:latin typeface="Calibri"/>
                <a:cs typeface="Calibri"/>
              </a:rPr>
              <a:t>a</a:t>
            </a:r>
            <a:r>
              <a:rPr dirty="0" sz="1350" spc="8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35">
                <a:solidFill>
                  <a:srgbClr val="0F1A3A"/>
                </a:solidFill>
                <a:latin typeface="Calibri"/>
                <a:cs typeface="Calibri"/>
              </a:rPr>
              <a:t>normalized </a:t>
            </a:r>
            <a:r>
              <a:rPr dirty="0" sz="1350">
                <a:solidFill>
                  <a:srgbClr val="0F1A3A"/>
                </a:solidFill>
                <a:latin typeface="Calibri"/>
                <a:cs typeface="Calibri"/>
              </a:rPr>
              <a:t>source</a:t>
            </a:r>
            <a:r>
              <a:rPr dirty="0" sz="1350" spc="1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65">
                <a:solidFill>
                  <a:srgbClr val="0F1A3A"/>
                </a:solidFill>
                <a:latin typeface="Calibri"/>
                <a:cs typeface="Calibri"/>
              </a:rPr>
              <a:t>of</a:t>
            </a:r>
            <a:r>
              <a:rPr dirty="0" sz="1350" spc="14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truth.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457699" y="4952999"/>
            <a:ext cx="1028700" cy="257175"/>
          </a:xfrm>
          <a:custGeom>
            <a:avLst/>
            <a:gdLst/>
            <a:ahLst/>
            <a:cxnLst/>
            <a:rect l="l" t="t" r="r" b="b"/>
            <a:pathLst>
              <a:path w="1028700" h="257175">
                <a:moveTo>
                  <a:pt x="908555" y="257174"/>
                </a:moveTo>
                <a:lnTo>
                  <a:pt x="120144" y="257174"/>
                </a:lnTo>
                <a:lnTo>
                  <a:pt x="111782" y="256350"/>
                </a:lnTo>
                <a:lnTo>
                  <a:pt x="71578" y="244155"/>
                </a:lnTo>
                <a:lnTo>
                  <a:pt x="31691" y="213541"/>
                </a:lnTo>
                <a:lnTo>
                  <a:pt x="6556" y="169994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1"/>
                </a:lnTo>
                <a:lnTo>
                  <a:pt x="87179" y="6556"/>
                </a:lnTo>
                <a:lnTo>
                  <a:pt x="120144" y="0"/>
                </a:lnTo>
                <a:lnTo>
                  <a:pt x="908555" y="0"/>
                </a:lnTo>
                <a:lnTo>
                  <a:pt x="957120" y="13018"/>
                </a:lnTo>
                <a:lnTo>
                  <a:pt x="997007" y="43632"/>
                </a:lnTo>
                <a:lnTo>
                  <a:pt x="1022142" y="87179"/>
                </a:lnTo>
                <a:lnTo>
                  <a:pt x="1028699" y="120144"/>
                </a:lnTo>
                <a:lnTo>
                  <a:pt x="1028699" y="137030"/>
                </a:lnTo>
                <a:lnTo>
                  <a:pt x="1015679" y="185595"/>
                </a:lnTo>
                <a:lnTo>
                  <a:pt x="985067" y="225482"/>
                </a:lnTo>
                <a:lnTo>
                  <a:pt x="941519" y="250617"/>
                </a:lnTo>
                <a:lnTo>
                  <a:pt x="916918" y="256350"/>
                </a:lnTo>
                <a:lnTo>
                  <a:pt x="908555" y="257174"/>
                </a:lnTo>
                <a:close/>
              </a:path>
            </a:pathLst>
          </a:custGeom>
          <a:solidFill>
            <a:srgbClr val="FF83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066256" y="4840571"/>
            <a:ext cx="3814445" cy="136017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dirty="0" sz="1300">
                <a:latin typeface="Courier New"/>
                <a:cs typeface="Courier New"/>
              </a:rPr>
              <a:t>STAGE</a:t>
            </a:r>
            <a:r>
              <a:rPr dirty="0" sz="1300" spc="-135">
                <a:latin typeface="Courier New"/>
                <a:cs typeface="Courier New"/>
              </a:rPr>
              <a:t> </a:t>
            </a:r>
            <a:r>
              <a:rPr dirty="0" sz="1300" spc="-25">
                <a:latin typeface="Courier New"/>
                <a:cs typeface="Courier New"/>
              </a:rPr>
              <a:t>02</a:t>
            </a:r>
            <a:endParaRPr sz="13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dirty="0" sz="1700" spc="60" b="1">
                <a:solidFill>
                  <a:srgbClr val="0F1A3A"/>
                </a:solidFill>
                <a:latin typeface="Calibri"/>
                <a:cs typeface="Calibri"/>
              </a:rPr>
              <a:t>Enforce</a:t>
            </a:r>
            <a:r>
              <a:rPr dirty="0" sz="1700" spc="65" b="1">
                <a:solidFill>
                  <a:srgbClr val="0F1A3A"/>
                </a:solidFill>
                <a:latin typeface="Calibri"/>
                <a:cs typeface="Calibri"/>
              </a:rPr>
              <a:t> Business</a:t>
            </a:r>
            <a:r>
              <a:rPr dirty="0" sz="1700" spc="70" b="1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700" spc="45" b="1">
                <a:solidFill>
                  <a:srgbClr val="0F1A3A"/>
                </a:solidFill>
                <a:latin typeface="Calibri"/>
                <a:cs typeface="Calibri"/>
              </a:rPr>
              <a:t>Rules</a:t>
            </a:r>
            <a:endParaRPr sz="1700">
              <a:latin typeface="Calibri"/>
              <a:cs typeface="Calibri"/>
            </a:endParaRPr>
          </a:p>
          <a:p>
            <a:pPr algn="ctr" marL="12065" marR="5080">
              <a:lnSpc>
                <a:spcPct val="115700"/>
              </a:lnSpc>
              <a:spcBef>
                <a:spcPts val="1055"/>
              </a:spcBef>
            </a:pP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Enforce</a:t>
            </a:r>
            <a:r>
              <a:rPr dirty="0" sz="1350" spc="18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business</a:t>
            </a:r>
            <a:r>
              <a:rPr dirty="0" sz="1350" spc="18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rules</a:t>
            </a:r>
            <a:r>
              <a:rPr dirty="0" sz="1350" spc="19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to</a:t>
            </a:r>
            <a:r>
              <a:rPr dirty="0" sz="1350" spc="18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prevent</a:t>
            </a:r>
            <a:r>
              <a:rPr dirty="0" sz="1350" spc="18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resource</a:t>
            </a:r>
            <a:r>
              <a:rPr dirty="0" sz="1350" spc="19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35">
                <a:solidFill>
                  <a:srgbClr val="0F1A3A"/>
                </a:solidFill>
                <a:latin typeface="Calibri"/>
                <a:cs typeface="Calibri"/>
              </a:rPr>
              <a:t>clashes </a:t>
            </a:r>
            <a:r>
              <a:rPr dirty="0" sz="1350" spc="60">
                <a:solidFill>
                  <a:srgbClr val="0F1A3A"/>
                </a:solidFill>
                <a:latin typeface="Calibri"/>
                <a:cs typeface="Calibri"/>
              </a:rPr>
              <a:t>and</a:t>
            </a:r>
            <a:r>
              <a:rPr dirty="0" sz="1350" spc="2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overbooking.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705599" y="2476499"/>
            <a:ext cx="1028700" cy="247650"/>
          </a:xfrm>
          <a:custGeom>
            <a:avLst/>
            <a:gdLst/>
            <a:ahLst/>
            <a:cxnLst/>
            <a:rect l="l" t="t" r="r" b="b"/>
            <a:pathLst>
              <a:path w="1028700" h="247650">
                <a:moveTo>
                  <a:pt x="913005" y="247649"/>
                </a:moveTo>
                <a:lnTo>
                  <a:pt x="115695" y="247649"/>
                </a:lnTo>
                <a:lnTo>
                  <a:pt x="107642" y="246856"/>
                </a:lnTo>
                <a:lnTo>
                  <a:pt x="68927" y="235112"/>
                </a:lnTo>
                <a:lnTo>
                  <a:pt x="30518" y="205633"/>
                </a:lnTo>
                <a:lnTo>
                  <a:pt x="6314" y="163699"/>
                </a:lnTo>
                <a:lnTo>
                  <a:pt x="0" y="131955"/>
                </a:lnTo>
                <a:lnTo>
                  <a:pt x="0" y="123824"/>
                </a:lnTo>
                <a:lnTo>
                  <a:pt x="0" y="115694"/>
                </a:lnTo>
                <a:lnTo>
                  <a:pt x="12536" y="68927"/>
                </a:lnTo>
                <a:lnTo>
                  <a:pt x="42017" y="30518"/>
                </a:lnTo>
                <a:lnTo>
                  <a:pt x="83951" y="6314"/>
                </a:lnTo>
                <a:lnTo>
                  <a:pt x="115695" y="0"/>
                </a:lnTo>
                <a:lnTo>
                  <a:pt x="913005" y="0"/>
                </a:lnTo>
                <a:lnTo>
                  <a:pt x="959771" y="12536"/>
                </a:lnTo>
                <a:lnTo>
                  <a:pt x="998181" y="42016"/>
                </a:lnTo>
                <a:lnTo>
                  <a:pt x="1022385" y="83950"/>
                </a:lnTo>
                <a:lnTo>
                  <a:pt x="1028699" y="115694"/>
                </a:lnTo>
                <a:lnTo>
                  <a:pt x="1028699" y="131955"/>
                </a:lnTo>
                <a:lnTo>
                  <a:pt x="1016162" y="178721"/>
                </a:lnTo>
                <a:lnTo>
                  <a:pt x="986682" y="217131"/>
                </a:lnTo>
                <a:lnTo>
                  <a:pt x="944748" y="241335"/>
                </a:lnTo>
                <a:lnTo>
                  <a:pt x="921057" y="246856"/>
                </a:lnTo>
                <a:lnTo>
                  <a:pt x="913005" y="247649"/>
                </a:lnTo>
                <a:close/>
              </a:path>
            </a:pathLst>
          </a:custGeom>
          <a:solidFill>
            <a:srgbClr val="1F4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442892" y="2470181"/>
            <a:ext cx="3551554" cy="1253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FFFFFF"/>
                </a:solidFill>
                <a:latin typeface="Courier New"/>
                <a:cs typeface="Courier New"/>
              </a:rPr>
              <a:t>STAGE</a:t>
            </a:r>
            <a:r>
              <a:rPr dirty="0" sz="1300" spc="-1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Courier New"/>
                <a:cs typeface="Courier New"/>
              </a:rPr>
              <a:t>03</a:t>
            </a:r>
            <a:endParaRPr sz="13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265"/>
              </a:spcBef>
            </a:pPr>
            <a:r>
              <a:rPr dirty="0" sz="1700" spc="65" b="1">
                <a:solidFill>
                  <a:srgbClr val="0F1A3A"/>
                </a:solidFill>
                <a:latin typeface="Calibri"/>
                <a:cs typeface="Calibri"/>
              </a:rPr>
              <a:t>Automate</a:t>
            </a:r>
            <a:r>
              <a:rPr dirty="0" sz="1700" spc="85" b="1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700" spc="40" b="1">
                <a:solidFill>
                  <a:srgbClr val="0F1A3A"/>
                </a:solidFill>
                <a:latin typeface="Calibri"/>
                <a:cs typeface="Calibri"/>
              </a:rPr>
              <a:t>Financials</a:t>
            </a:r>
            <a:endParaRPr sz="1700">
              <a:latin typeface="Calibri"/>
              <a:cs typeface="Calibri"/>
            </a:endParaRPr>
          </a:p>
          <a:p>
            <a:pPr algn="ctr" marL="12700" marR="5080">
              <a:lnSpc>
                <a:spcPct val="115700"/>
              </a:lnSpc>
              <a:spcBef>
                <a:spcPts val="1055"/>
              </a:spcBef>
            </a:pPr>
            <a:r>
              <a:rPr dirty="0" sz="1350" spc="50">
                <a:solidFill>
                  <a:srgbClr val="0F1A3A"/>
                </a:solidFill>
                <a:latin typeface="Calibri"/>
                <a:cs typeface="Calibri"/>
              </a:rPr>
              <a:t>Automate</a:t>
            </a:r>
            <a:r>
              <a:rPr dirty="0" sz="1350" spc="114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20">
                <a:solidFill>
                  <a:srgbClr val="0F1A3A"/>
                </a:solidFill>
                <a:latin typeface="Calibri"/>
                <a:cs typeface="Calibri"/>
              </a:rPr>
              <a:t>payments,</a:t>
            </a:r>
            <a:r>
              <a:rPr dirty="0" sz="1350" spc="12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20">
                <a:solidFill>
                  <a:srgbClr val="0F1A3A"/>
                </a:solidFill>
                <a:latin typeface="Calibri"/>
                <a:cs typeface="Calibri"/>
              </a:rPr>
              <a:t>cancellations,</a:t>
            </a:r>
            <a:r>
              <a:rPr dirty="0" sz="1350" spc="12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60">
                <a:solidFill>
                  <a:srgbClr val="0F1A3A"/>
                </a:solidFill>
                <a:latin typeface="Calibri"/>
                <a:cs typeface="Calibri"/>
              </a:rPr>
              <a:t>and</a:t>
            </a:r>
            <a:r>
              <a:rPr dirty="0" sz="1350" spc="12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refund workflows.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953498" y="4952999"/>
            <a:ext cx="1019175" cy="257175"/>
          </a:xfrm>
          <a:custGeom>
            <a:avLst/>
            <a:gdLst/>
            <a:ahLst/>
            <a:cxnLst/>
            <a:rect l="l" t="t" r="r" b="b"/>
            <a:pathLst>
              <a:path w="1019175" h="257175">
                <a:moveTo>
                  <a:pt x="899030" y="257174"/>
                </a:moveTo>
                <a:lnTo>
                  <a:pt x="120145" y="257174"/>
                </a:lnTo>
                <a:lnTo>
                  <a:pt x="111782" y="256350"/>
                </a:lnTo>
                <a:lnTo>
                  <a:pt x="71579" y="244155"/>
                </a:lnTo>
                <a:lnTo>
                  <a:pt x="31692" y="213541"/>
                </a:lnTo>
                <a:lnTo>
                  <a:pt x="6557" y="169994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1"/>
                </a:lnTo>
                <a:lnTo>
                  <a:pt x="87179" y="6556"/>
                </a:lnTo>
                <a:lnTo>
                  <a:pt x="120145" y="0"/>
                </a:lnTo>
                <a:lnTo>
                  <a:pt x="899030" y="0"/>
                </a:lnTo>
                <a:lnTo>
                  <a:pt x="947595" y="13018"/>
                </a:lnTo>
                <a:lnTo>
                  <a:pt x="987482" y="43632"/>
                </a:lnTo>
                <a:lnTo>
                  <a:pt x="1012617" y="87179"/>
                </a:lnTo>
                <a:lnTo>
                  <a:pt x="1019174" y="120144"/>
                </a:lnTo>
                <a:lnTo>
                  <a:pt x="1019174" y="137030"/>
                </a:lnTo>
                <a:lnTo>
                  <a:pt x="1006155" y="185595"/>
                </a:lnTo>
                <a:lnTo>
                  <a:pt x="975542" y="225482"/>
                </a:lnTo>
                <a:lnTo>
                  <a:pt x="931993" y="250617"/>
                </a:lnTo>
                <a:lnTo>
                  <a:pt x="907392" y="256350"/>
                </a:lnTo>
                <a:lnTo>
                  <a:pt x="899030" y="257174"/>
                </a:lnTo>
                <a:close/>
              </a:path>
            </a:pathLst>
          </a:custGeom>
          <a:solidFill>
            <a:srgbClr val="1281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679183" y="4840571"/>
            <a:ext cx="3569970" cy="136017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dirty="0" sz="1300">
                <a:solidFill>
                  <a:srgbClr val="FFFFFF"/>
                </a:solidFill>
                <a:latin typeface="Courier New"/>
                <a:cs typeface="Courier New"/>
              </a:rPr>
              <a:t>STAGE</a:t>
            </a:r>
            <a:r>
              <a:rPr dirty="0" sz="1300" spc="-1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Courier New"/>
                <a:cs typeface="Courier New"/>
              </a:rPr>
              <a:t>04</a:t>
            </a:r>
            <a:endParaRPr sz="13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dirty="0" sz="1700" spc="75" b="1">
                <a:solidFill>
                  <a:srgbClr val="0F1A3A"/>
                </a:solidFill>
                <a:latin typeface="Calibri"/>
                <a:cs typeface="Calibri"/>
              </a:rPr>
              <a:t>Role-</a:t>
            </a:r>
            <a:r>
              <a:rPr dirty="0" sz="1700" spc="95" b="1">
                <a:solidFill>
                  <a:srgbClr val="0F1A3A"/>
                </a:solidFill>
                <a:latin typeface="Calibri"/>
                <a:cs typeface="Calibri"/>
              </a:rPr>
              <a:t>Based</a:t>
            </a:r>
            <a:r>
              <a:rPr dirty="0" sz="1700" spc="80" b="1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700" spc="50" b="1">
                <a:solidFill>
                  <a:srgbClr val="0F1A3A"/>
                </a:solidFill>
                <a:latin typeface="Calibri"/>
                <a:cs typeface="Calibri"/>
              </a:rPr>
              <a:t>Interfaces</a:t>
            </a:r>
            <a:endParaRPr sz="1700">
              <a:latin typeface="Calibri"/>
              <a:cs typeface="Calibri"/>
            </a:endParaRPr>
          </a:p>
          <a:p>
            <a:pPr algn="ctr" marL="12700" marR="5080">
              <a:lnSpc>
                <a:spcPct val="115700"/>
              </a:lnSpc>
              <a:spcBef>
                <a:spcPts val="1055"/>
              </a:spcBef>
            </a:pPr>
            <a:r>
              <a:rPr dirty="0" sz="1350" spc="65">
                <a:solidFill>
                  <a:srgbClr val="0F1A3A"/>
                </a:solidFill>
                <a:latin typeface="Calibri"/>
                <a:cs typeface="Calibri"/>
              </a:rPr>
              <a:t>Give</a:t>
            </a:r>
            <a:r>
              <a:rPr dirty="0" sz="1350" spc="15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agents,</a:t>
            </a:r>
            <a:r>
              <a:rPr dirty="0" sz="1350" spc="16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customers,</a:t>
            </a:r>
            <a:r>
              <a:rPr dirty="0" sz="1350" spc="15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60">
                <a:solidFill>
                  <a:srgbClr val="0F1A3A"/>
                </a:solidFill>
                <a:latin typeface="Calibri"/>
                <a:cs typeface="Calibri"/>
              </a:rPr>
              <a:t>and</a:t>
            </a:r>
            <a:r>
              <a:rPr dirty="0" sz="1350" spc="16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65">
                <a:solidFill>
                  <a:srgbClr val="0F1A3A"/>
                </a:solidFill>
                <a:latin typeface="Calibri"/>
                <a:cs typeface="Calibri"/>
              </a:rPr>
              <a:t>guides</a:t>
            </a:r>
            <a:r>
              <a:rPr dirty="0" sz="1350" spc="16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role-</a:t>
            </a:r>
            <a:r>
              <a:rPr dirty="0" sz="1350" spc="45">
                <a:solidFill>
                  <a:srgbClr val="0F1A3A"/>
                </a:solidFill>
                <a:latin typeface="Calibri"/>
                <a:cs typeface="Calibri"/>
              </a:rPr>
              <a:t>based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dashboards.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0316590" y="6342371"/>
            <a:ext cx="1780539" cy="431800"/>
            <a:chOff x="10316590" y="6342371"/>
            <a:chExt cx="1780539" cy="431800"/>
          </a:xfrm>
        </p:grpSpPr>
        <p:pic>
          <p:nvPicPr>
            <p:cNvPr id="28" name="object 28">
              <a:hlinkClick r:id="rId5"/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42244" y="6343649"/>
              <a:ext cx="1754504" cy="419100"/>
            </a:xfrm>
            <a:prstGeom prst="rect">
              <a:avLst/>
            </a:prstGeom>
          </p:spPr>
        </p:pic>
        <p:sp>
          <p:nvSpPr>
            <p:cNvPr id="29" name="object 29">
              <a:hlinkClick r:id="rId5"/>
            </p:cNvPr>
            <p:cNvSpPr/>
            <p:nvPr/>
          </p:nvSpPr>
          <p:spPr>
            <a:xfrm>
              <a:off x="10316590" y="6342371"/>
              <a:ext cx="1772285" cy="431800"/>
            </a:xfrm>
            <a:custGeom>
              <a:avLst/>
              <a:gdLst/>
              <a:ahLst/>
              <a:cxnLst/>
              <a:rect l="l" t="t" r="r" b="b"/>
              <a:pathLst>
                <a:path w="1772284" h="431800">
                  <a:moveTo>
                    <a:pt x="1575945" y="0"/>
                  </a:moveTo>
                  <a:lnTo>
                    <a:pt x="196126" y="0"/>
                  </a:lnTo>
                  <a:lnTo>
                    <a:pt x="151156" y="5179"/>
                  </a:lnTo>
                  <a:lnTo>
                    <a:pt x="109875" y="19934"/>
                  </a:lnTo>
                  <a:lnTo>
                    <a:pt x="73459" y="43086"/>
                  </a:lnTo>
                  <a:lnTo>
                    <a:pt x="43086" y="73459"/>
                  </a:lnTo>
                  <a:lnTo>
                    <a:pt x="19934" y="109875"/>
                  </a:lnTo>
                  <a:lnTo>
                    <a:pt x="5179" y="151156"/>
                  </a:lnTo>
                  <a:lnTo>
                    <a:pt x="0" y="196126"/>
                  </a:lnTo>
                  <a:lnTo>
                    <a:pt x="0" y="235264"/>
                  </a:lnTo>
                  <a:lnTo>
                    <a:pt x="5179" y="280234"/>
                  </a:lnTo>
                  <a:lnTo>
                    <a:pt x="19934" y="321516"/>
                  </a:lnTo>
                  <a:lnTo>
                    <a:pt x="43086" y="357931"/>
                  </a:lnTo>
                  <a:lnTo>
                    <a:pt x="73459" y="388304"/>
                  </a:lnTo>
                  <a:lnTo>
                    <a:pt x="109875" y="411456"/>
                  </a:lnTo>
                  <a:lnTo>
                    <a:pt x="151156" y="426211"/>
                  </a:lnTo>
                  <a:lnTo>
                    <a:pt x="196126" y="431391"/>
                  </a:lnTo>
                  <a:lnTo>
                    <a:pt x="1575945" y="431391"/>
                  </a:lnTo>
                  <a:lnTo>
                    <a:pt x="1620915" y="426211"/>
                  </a:lnTo>
                  <a:lnTo>
                    <a:pt x="1662197" y="411456"/>
                  </a:lnTo>
                  <a:lnTo>
                    <a:pt x="1698613" y="388304"/>
                  </a:lnTo>
                  <a:lnTo>
                    <a:pt x="1728986" y="357931"/>
                  </a:lnTo>
                  <a:lnTo>
                    <a:pt x="1752138" y="321516"/>
                  </a:lnTo>
                  <a:lnTo>
                    <a:pt x="1766893" y="280234"/>
                  </a:lnTo>
                  <a:lnTo>
                    <a:pt x="1772072" y="235264"/>
                  </a:lnTo>
                  <a:lnTo>
                    <a:pt x="1772072" y="215695"/>
                  </a:lnTo>
                  <a:lnTo>
                    <a:pt x="1772072" y="196126"/>
                  </a:lnTo>
                  <a:lnTo>
                    <a:pt x="1766893" y="151156"/>
                  </a:lnTo>
                  <a:lnTo>
                    <a:pt x="1752138" y="109875"/>
                  </a:lnTo>
                  <a:lnTo>
                    <a:pt x="1728986" y="73459"/>
                  </a:lnTo>
                  <a:lnTo>
                    <a:pt x="1698613" y="43086"/>
                  </a:lnTo>
                  <a:lnTo>
                    <a:pt x="1662197" y="19934"/>
                  </a:lnTo>
                  <a:lnTo>
                    <a:pt x="1620915" y="5179"/>
                  </a:lnTo>
                  <a:lnTo>
                    <a:pt x="15759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5250" y="168275"/>
            <a:ext cx="93211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Three</a:t>
            </a:r>
            <a:r>
              <a:rPr dirty="0" spc="-409"/>
              <a:t> </a:t>
            </a:r>
            <a:r>
              <a:rPr dirty="0" spc="-150"/>
              <a:t>user</a:t>
            </a:r>
            <a:r>
              <a:rPr dirty="0" spc="-409"/>
              <a:t> </a:t>
            </a:r>
            <a:r>
              <a:rPr dirty="0" spc="-165"/>
              <a:t>roles,</a:t>
            </a:r>
            <a:r>
              <a:rPr dirty="0" spc="-409"/>
              <a:t> </a:t>
            </a:r>
            <a:r>
              <a:rPr dirty="0" spc="-110"/>
              <a:t>one</a:t>
            </a:r>
            <a:r>
              <a:rPr dirty="0" spc="-409"/>
              <a:t> </a:t>
            </a:r>
            <a:r>
              <a:rPr dirty="0" spc="-90"/>
              <a:t>functional</a:t>
            </a:r>
            <a:r>
              <a:rPr dirty="0" spc="-409"/>
              <a:t> </a:t>
            </a:r>
            <a:r>
              <a:rPr dirty="0" spc="-80"/>
              <a:t>operating</a:t>
            </a:r>
            <a:r>
              <a:rPr dirty="0" spc="-409"/>
              <a:t> </a:t>
            </a:r>
            <a:r>
              <a:rPr dirty="0" spc="-1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504825" y="771525"/>
            <a:ext cx="3524250" cy="152400"/>
          </a:xfrm>
          <a:custGeom>
            <a:avLst/>
            <a:gdLst/>
            <a:ahLst/>
            <a:cxnLst/>
            <a:rect l="l" t="t" r="r" b="b"/>
            <a:pathLst>
              <a:path w="3524250" h="152400">
                <a:moveTo>
                  <a:pt x="0" y="152399"/>
                </a:moveTo>
                <a:lnTo>
                  <a:pt x="718" y="137531"/>
                </a:lnTo>
                <a:lnTo>
                  <a:pt x="725" y="137387"/>
                </a:lnTo>
                <a:lnTo>
                  <a:pt x="2814" y="123239"/>
                </a:lnTo>
                <a:lnTo>
                  <a:pt x="2900" y="122662"/>
                </a:lnTo>
                <a:lnTo>
                  <a:pt x="18015" y="80486"/>
                </a:lnTo>
                <a:lnTo>
                  <a:pt x="44636" y="44636"/>
                </a:lnTo>
                <a:lnTo>
                  <a:pt x="80486" y="18015"/>
                </a:lnTo>
                <a:lnTo>
                  <a:pt x="122662" y="2900"/>
                </a:lnTo>
                <a:lnTo>
                  <a:pt x="152399" y="0"/>
                </a:lnTo>
                <a:lnTo>
                  <a:pt x="3371849" y="0"/>
                </a:lnTo>
                <a:lnTo>
                  <a:pt x="3416022" y="6525"/>
                </a:lnTo>
                <a:lnTo>
                  <a:pt x="3456534" y="25660"/>
                </a:lnTo>
                <a:lnTo>
                  <a:pt x="3489715" y="55765"/>
                </a:lnTo>
                <a:lnTo>
                  <a:pt x="3503667" y="76199"/>
                </a:lnTo>
                <a:lnTo>
                  <a:pt x="152399" y="76199"/>
                </a:lnTo>
                <a:lnTo>
                  <a:pt x="137387" y="76562"/>
                </a:lnTo>
                <a:lnTo>
                  <a:pt x="94078" y="82000"/>
                </a:lnTo>
                <a:lnTo>
                  <a:pt x="55765" y="93466"/>
                </a:lnTo>
                <a:lnTo>
                  <a:pt x="18015" y="116443"/>
                </a:lnTo>
                <a:lnTo>
                  <a:pt x="2972" y="137387"/>
                </a:lnTo>
                <a:lnTo>
                  <a:pt x="2900" y="137531"/>
                </a:lnTo>
                <a:lnTo>
                  <a:pt x="725" y="144893"/>
                </a:lnTo>
                <a:lnTo>
                  <a:pt x="0" y="152399"/>
                </a:lnTo>
                <a:close/>
              </a:path>
              <a:path w="3524250" h="152400">
                <a:moveTo>
                  <a:pt x="3524249" y="152399"/>
                </a:moveTo>
                <a:lnTo>
                  <a:pt x="3506233" y="116443"/>
                </a:lnTo>
                <a:lnTo>
                  <a:pt x="3468484" y="93466"/>
                </a:lnTo>
                <a:lnTo>
                  <a:pt x="3430170" y="82000"/>
                </a:lnTo>
                <a:lnTo>
                  <a:pt x="3386862" y="76562"/>
                </a:lnTo>
                <a:lnTo>
                  <a:pt x="3371849" y="76199"/>
                </a:lnTo>
                <a:lnTo>
                  <a:pt x="3503667" y="76199"/>
                </a:lnTo>
                <a:lnTo>
                  <a:pt x="3521349" y="122662"/>
                </a:lnTo>
                <a:lnTo>
                  <a:pt x="3523524" y="137387"/>
                </a:lnTo>
                <a:lnTo>
                  <a:pt x="3524249" y="152399"/>
                </a:lnTo>
                <a:close/>
              </a:path>
            </a:pathLst>
          </a:custGeom>
          <a:solidFill>
            <a:srgbClr val="1F4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5799" y="1000124"/>
            <a:ext cx="409575" cy="400050"/>
          </a:xfrm>
          <a:custGeom>
            <a:avLst/>
            <a:gdLst/>
            <a:ahLst/>
            <a:cxnLst/>
            <a:rect l="l" t="t" r="r" b="b"/>
            <a:pathLst>
              <a:path w="409575" h="400050">
                <a:moveTo>
                  <a:pt x="409574" y="400049"/>
                </a:moveTo>
                <a:lnTo>
                  <a:pt x="0" y="400049"/>
                </a:lnTo>
                <a:lnTo>
                  <a:pt x="0" y="0"/>
                </a:lnTo>
                <a:lnTo>
                  <a:pt x="409574" y="0"/>
                </a:lnTo>
                <a:lnTo>
                  <a:pt x="409574" y="400049"/>
                </a:lnTo>
                <a:close/>
              </a:path>
            </a:pathLst>
          </a:custGeom>
          <a:solidFill>
            <a:srgbClr val="1F4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5799" y="3857624"/>
            <a:ext cx="1314450" cy="257175"/>
          </a:xfrm>
          <a:custGeom>
            <a:avLst/>
            <a:gdLst/>
            <a:ahLst/>
            <a:cxnLst/>
            <a:rect l="l" t="t" r="r" b="b"/>
            <a:pathLst>
              <a:path w="1314450" h="257175">
                <a:moveTo>
                  <a:pt x="1194305" y="257174"/>
                </a:moveTo>
                <a:lnTo>
                  <a:pt x="120144" y="257174"/>
                </a:lnTo>
                <a:lnTo>
                  <a:pt x="111782" y="256351"/>
                </a:lnTo>
                <a:lnTo>
                  <a:pt x="71578" y="244155"/>
                </a:lnTo>
                <a:lnTo>
                  <a:pt x="31692" y="213541"/>
                </a:lnTo>
                <a:lnTo>
                  <a:pt x="6557" y="169994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4"/>
                </a:lnTo>
                <a:lnTo>
                  <a:pt x="13019" y="71578"/>
                </a:lnTo>
                <a:lnTo>
                  <a:pt x="43632" y="31691"/>
                </a:lnTo>
                <a:lnTo>
                  <a:pt x="87179" y="6556"/>
                </a:lnTo>
                <a:lnTo>
                  <a:pt x="120144" y="0"/>
                </a:lnTo>
                <a:lnTo>
                  <a:pt x="1194305" y="0"/>
                </a:lnTo>
                <a:lnTo>
                  <a:pt x="1242871" y="13018"/>
                </a:lnTo>
                <a:lnTo>
                  <a:pt x="1282757" y="43632"/>
                </a:lnTo>
                <a:lnTo>
                  <a:pt x="1307892" y="87178"/>
                </a:lnTo>
                <a:lnTo>
                  <a:pt x="1314449" y="120144"/>
                </a:lnTo>
                <a:lnTo>
                  <a:pt x="1314449" y="137030"/>
                </a:lnTo>
                <a:lnTo>
                  <a:pt x="1301430" y="185595"/>
                </a:lnTo>
                <a:lnTo>
                  <a:pt x="1270817" y="225482"/>
                </a:lnTo>
                <a:lnTo>
                  <a:pt x="1227270" y="250617"/>
                </a:lnTo>
                <a:lnTo>
                  <a:pt x="1202667" y="256350"/>
                </a:lnTo>
                <a:lnTo>
                  <a:pt x="1194305" y="257174"/>
                </a:lnTo>
                <a:close/>
              </a:path>
            </a:pathLst>
          </a:custGeom>
          <a:solidFill>
            <a:srgbClr val="1F4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72951" y="1508156"/>
            <a:ext cx="3084195" cy="2576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solidFill>
                  <a:srgbClr val="0F1A3A"/>
                </a:solidFill>
                <a:latin typeface="Calibri"/>
                <a:cs typeface="Calibri"/>
              </a:rPr>
              <a:t>Travel</a:t>
            </a:r>
            <a:r>
              <a:rPr dirty="0" sz="1900" spc="30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50">
                <a:solidFill>
                  <a:srgbClr val="0F1A3A"/>
                </a:solidFill>
                <a:latin typeface="Calibri"/>
                <a:cs typeface="Calibri"/>
              </a:rPr>
              <a:t>Administrator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1250" spc="50">
                <a:solidFill>
                  <a:srgbClr val="1F4EDF"/>
                </a:solidFill>
                <a:latin typeface="Calibri"/>
                <a:cs typeface="Calibri"/>
              </a:rPr>
              <a:t>Governance</a:t>
            </a:r>
            <a:r>
              <a:rPr dirty="0" sz="1250" spc="60">
                <a:solidFill>
                  <a:srgbClr val="1F4ED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F4EDF"/>
                </a:solidFill>
                <a:latin typeface="Calibri"/>
                <a:cs typeface="Calibri"/>
              </a:rPr>
              <a:t>&amp;</a:t>
            </a:r>
            <a:r>
              <a:rPr dirty="0" sz="1250" spc="60">
                <a:solidFill>
                  <a:srgbClr val="1F4EDF"/>
                </a:solidFill>
                <a:latin typeface="Calibri"/>
                <a:cs typeface="Calibri"/>
              </a:rPr>
              <a:t> </a:t>
            </a:r>
            <a:r>
              <a:rPr dirty="0" sz="1250" spc="35">
                <a:solidFill>
                  <a:srgbClr val="1F4EDF"/>
                </a:solidFill>
                <a:latin typeface="Calibri"/>
                <a:cs typeface="Calibri"/>
              </a:rPr>
              <a:t>Operations</a:t>
            </a:r>
            <a:endParaRPr sz="1250">
              <a:latin typeface="Calibri"/>
              <a:cs typeface="Calibri"/>
            </a:endParaRPr>
          </a:p>
          <a:p>
            <a:pPr marL="12700" marR="5080">
              <a:lnSpc>
                <a:spcPct val="117200"/>
              </a:lnSpc>
              <a:spcBef>
                <a:spcPts val="820"/>
              </a:spcBef>
            </a:pPr>
            <a:r>
              <a:rPr dirty="0" sz="1600" spc="55">
                <a:solidFill>
                  <a:srgbClr val="0F1A3A"/>
                </a:solidFill>
                <a:latin typeface="Calibri"/>
                <a:cs typeface="Calibri"/>
              </a:rPr>
              <a:t>Create</a:t>
            </a:r>
            <a:r>
              <a:rPr dirty="0" sz="1600" spc="4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85">
                <a:solidFill>
                  <a:srgbClr val="0F1A3A"/>
                </a:solidFill>
                <a:latin typeface="Calibri"/>
                <a:cs typeface="Calibri"/>
              </a:rPr>
              <a:t>packages</a:t>
            </a:r>
            <a:r>
              <a:rPr dirty="0" sz="1600" spc="4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F1A3A"/>
                </a:solidFill>
                <a:latin typeface="Calibri"/>
                <a:cs typeface="Calibri"/>
              </a:rPr>
              <a:t>&amp;</a:t>
            </a:r>
            <a:r>
              <a:rPr dirty="0" sz="1600" spc="4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95">
                <a:solidFill>
                  <a:srgbClr val="0F1A3A"/>
                </a:solidFill>
                <a:latin typeface="Calibri"/>
                <a:cs typeface="Calibri"/>
              </a:rPr>
              <a:t>day</a:t>
            </a:r>
            <a:r>
              <a:rPr dirty="0" sz="1600" spc="4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F1A3A"/>
                </a:solidFill>
                <a:latin typeface="Calibri"/>
                <a:cs typeface="Calibri"/>
              </a:rPr>
              <a:t>itineraries; </a:t>
            </a:r>
            <a:r>
              <a:rPr dirty="0" sz="1600" spc="65">
                <a:solidFill>
                  <a:srgbClr val="0F1A3A"/>
                </a:solidFill>
                <a:latin typeface="Calibri"/>
                <a:cs typeface="Calibri"/>
              </a:rPr>
              <a:t>assign</a:t>
            </a:r>
            <a:r>
              <a:rPr dirty="0" sz="1600" spc="3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55">
                <a:solidFill>
                  <a:srgbClr val="0F1A3A"/>
                </a:solidFill>
                <a:latin typeface="Calibri"/>
                <a:cs typeface="Calibri"/>
              </a:rPr>
              <a:t>certified</a:t>
            </a:r>
            <a:r>
              <a:rPr dirty="0" sz="1600" spc="3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80">
                <a:solidFill>
                  <a:srgbClr val="0F1A3A"/>
                </a:solidFill>
                <a:latin typeface="Calibri"/>
                <a:cs typeface="Calibri"/>
              </a:rPr>
              <a:t>guides</a:t>
            </a:r>
            <a:r>
              <a:rPr dirty="0" sz="1600" spc="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0F1A3A"/>
                </a:solidFill>
                <a:latin typeface="Calibri"/>
                <a:cs typeface="Calibri"/>
              </a:rPr>
              <a:t>to </a:t>
            </a:r>
            <a:r>
              <a:rPr dirty="0" sz="1600" spc="45">
                <a:solidFill>
                  <a:srgbClr val="0F1A3A"/>
                </a:solidFill>
                <a:latin typeface="Calibri"/>
                <a:cs typeface="Calibri"/>
              </a:rPr>
              <a:t>departures;</a:t>
            </a:r>
            <a:r>
              <a:rPr dirty="0" sz="1600" spc="3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65">
                <a:solidFill>
                  <a:srgbClr val="0F1A3A"/>
                </a:solidFill>
                <a:latin typeface="Calibri"/>
                <a:cs typeface="Calibri"/>
              </a:rPr>
              <a:t>schedule</a:t>
            </a:r>
            <a:r>
              <a:rPr dirty="0" sz="1600" spc="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35">
                <a:solidFill>
                  <a:srgbClr val="0F1A3A"/>
                </a:solidFill>
                <a:latin typeface="Calibri"/>
                <a:cs typeface="Calibri"/>
              </a:rPr>
              <a:t>transport </a:t>
            </a:r>
            <a:r>
              <a:rPr dirty="0" sz="1600" spc="55">
                <a:solidFill>
                  <a:srgbClr val="0F1A3A"/>
                </a:solidFill>
                <a:latin typeface="Calibri"/>
                <a:cs typeface="Calibri"/>
              </a:rPr>
              <a:t>fleets</a:t>
            </a:r>
            <a:r>
              <a:rPr dirty="0" sz="1600" spc="9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F1A3A"/>
                </a:solidFill>
                <a:latin typeface="Calibri"/>
                <a:cs typeface="Calibri"/>
              </a:rPr>
              <a:t>&amp;</a:t>
            </a:r>
            <a:r>
              <a:rPr dirty="0" sz="1600" spc="9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F1A3A"/>
                </a:solidFill>
                <a:latin typeface="Calibri"/>
                <a:cs typeface="Calibri"/>
              </a:rPr>
              <a:t>hotels;</a:t>
            </a:r>
            <a:r>
              <a:rPr dirty="0" sz="1600" spc="9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65">
                <a:solidFill>
                  <a:srgbClr val="0F1A3A"/>
                </a:solidFill>
                <a:latin typeface="Calibri"/>
                <a:cs typeface="Calibri"/>
              </a:rPr>
              <a:t>analyze</a:t>
            </a:r>
            <a:r>
              <a:rPr dirty="0" sz="1600" spc="9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F1A3A"/>
                </a:solidFill>
                <a:latin typeface="Calibri"/>
                <a:cs typeface="Calibri"/>
              </a:rPr>
              <a:t>revenue, </a:t>
            </a:r>
            <a:r>
              <a:rPr dirty="0" sz="1600" spc="45">
                <a:solidFill>
                  <a:srgbClr val="0F1A3A"/>
                </a:solidFill>
                <a:latin typeface="Calibri"/>
                <a:cs typeface="Calibri"/>
              </a:rPr>
              <a:t>capacity, </a:t>
            </a:r>
            <a:r>
              <a:rPr dirty="0" sz="1600">
                <a:solidFill>
                  <a:srgbClr val="0F1A3A"/>
                </a:solidFill>
                <a:latin typeface="Calibri"/>
                <a:cs typeface="Calibri"/>
              </a:rPr>
              <a:t>&amp;</a:t>
            </a:r>
            <a:r>
              <a:rPr dirty="0" sz="1600" spc="5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F1A3A"/>
                </a:solidFill>
                <a:latin typeface="Calibri"/>
                <a:cs typeface="Calibri"/>
              </a:rPr>
              <a:t>margins.</a:t>
            </a:r>
            <a:endParaRPr sz="1600">
              <a:latin typeface="Calibri"/>
              <a:cs typeface="Calibri"/>
            </a:endParaRPr>
          </a:p>
          <a:p>
            <a:pPr marL="139065">
              <a:lnSpc>
                <a:spcPct val="100000"/>
              </a:lnSpc>
              <a:spcBef>
                <a:spcPts val="1305"/>
              </a:spcBef>
            </a:pPr>
            <a:r>
              <a:rPr dirty="0" sz="1300">
                <a:solidFill>
                  <a:srgbClr val="FFFFFF"/>
                </a:solidFill>
                <a:latin typeface="Courier New"/>
                <a:cs typeface="Courier New"/>
              </a:rPr>
              <a:t>FULL</a:t>
            </a:r>
            <a:r>
              <a:rPr dirty="0" sz="1300" spc="-114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ourier New"/>
                <a:cs typeface="Courier New"/>
              </a:rPr>
              <a:t>ACCESS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33875" y="771525"/>
            <a:ext cx="3524250" cy="152400"/>
          </a:xfrm>
          <a:custGeom>
            <a:avLst/>
            <a:gdLst/>
            <a:ahLst/>
            <a:cxnLst/>
            <a:rect l="l" t="t" r="r" b="b"/>
            <a:pathLst>
              <a:path w="3524250" h="152400">
                <a:moveTo>
                  <a:pt x="0" y="152399"/>
                </a:moveTo>
                <a:lnTo>
                  <a:pt x="717" y="137531"/>
                </a:lnTo>
                <a:lnTo>
                  <a:pt x="724" y="137387"/>
                </a:lnTo>
                <a:lnTo>
                  <a:pt x="2814" y="123239"/>
                </a:lnTo>
                <a:lnTo>
                  <a:pt x="18015" y="80486"/>
                </a:lnTo>
                <a:lnTo>
                  <a:pt x="44636" y="44636"/>
                </a:lnTo>
                <a:lnTo>
                  <a:pt x="80485" y="18015"/>
                </a:lnTo>
                <a:lnTo>
                  <a:pt x="122662" y="2900"/>
                </a:lnTo>
                <a:lnTo>
                  <a:pt x="152399" y="0"/>
                </a:lnTo>
                <a:lnTo>
                  <a:pt x="3371849" y="0"/>
                </a:lnTo>
                <a:lnTo>
                  <a:pt x="3416022" y="6525"/>
                </a:lnTo>
                <a:lnTo>
                  <a:pt x="3456533" y="25660"/>
                </a:lnTo>
                <a:lnTo>
                  <a:pt x="3489715" y="55765"/>
                </a:lnTo>
                <a:lnTo>
                  <a:pt x="3503667" y="76199"/>
                </a:lnTo>
                <a:lnTo>
                  <a:pt x="152399" y="76199"/>
                </a:lnTo>
                <a:lnTo>
                  <a:pt x="137386" y="76562"/>
                </a:lnTo>
                <a:lnTo>
                  <a:pt x="94078" y="82000"/>
                </a:lnTo>
                <a:lnTo>
                  <a:pt x="55764" y="93466"/>
                </a:lnTo>
                <a:lnTo>
                  <a:pt x="18015" y="116443"/>
                </a:lnTo>
                <a:lnTo>
                  <a:pt x="724" y="144893"/>
                </a:lnTo>
                <a:lnTo>
                  <a:pt x="0" y="152399"/>
                </a:lnTo>
                <a:close/>
              </a:path>
              <a:path w="3524250" h="152400">
                <a:moveTo>
                  <a:pt x="3524249" y="152399"/>
                </a:moveTo>
                <a:lnTo>
                  <a:pt x="3506233" y="116443"/>
                </a:lnTo>
                <a:lnTo>
                  <a:pt x="3468483" y="93466"/>
                </a:lnTo>
                <a:lnTo>
                  <a:pt x="3430169" y="82000"/>
                </a:lnTo>
                <a:lnTo>
                  <a:pt x="3386862" y="76562"/>
                </a:lnTo>
                <a:lnTo>
                  <a:pt x="3371849" y="76199"/>
                </a:lnTo>
                <a:lnTo>
                  <a:pt x="3503667" y="76199"/>
                </a:lnTo>
                <a:lnTo>
                  <a:pt x="3521349" y="122662"/>
                </a:lnTo>
                <a:lnTo>
                  <a:pt x="3523524" y="137387"/>
                </a:lnTo>
                <a:lnTo>
                  <a:pt x="3524249" y="152399"/>
                </a:lnTo>
                <a:close/>
              </a:path>
            </a:pathLst>
          </a:custGeom>
          <a:solidFill>
            <a:srgbClr val="FF83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14849" y="1000124"/>
            <a:ext cx="400050" cy="400050"/>
          </a:xfrm>
          <a:custGeom>
            <a:avLst/>
            <a:gdLst/>
            <a:ahLst/>
            <a:cxnLst/>
            <a:rect l="l" t="t" r="r" b="b"/>
            <a:pathLst>
              <a:path w="400050" h="400050">
                <a:moveTo>
                  <a:pt x="400049" y="400049"/>
                </a:moveTo>
                <a:lnTo>
                  <a:pt x="0" y="400049"/>
                </a:lnTo>
                <a:lnTo>
                  <a:pt x="0" y="0"/>
                </a:lnTo>
                <a:lnTo>
                  <a:pt x="400049" y="0"/>
                </a:lnTo>
                <a:lnTo>
                  <a:pt x="400049" y="400049"/>
                </a:lnTo>
                <a:close/>
              </a:path>
            </a:pathLst>
          </a:custGeom>
          <a:solidFill>
            <a:srgbClr val="1F4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14849" y="3238500"/>
            <a:ext cx="1695450" cy="257175"/>
          </a:xfrm>
          <a:custGeom>
            <a:avLst/>
            <a:gdLst/>
            <a:ahLst/>
            <a:cxnLst/>
            <a:rect l="l" t="t" r="r" b="b"/>
            <a:pathLst>
              <a:path w="1695450" h="257175">
                <a:moveTo>
                  <a:pt x="1575305" y="257174"/>
                </a:moveTo>
                <a:lnTo>
                  <a:pt x="120144" y="257174"/>
                </a:lnTo>
                <a:lnTo>
                  <a:pt x="111782" y="256350"/>
                </a:lnTo>
                <a:lnTo>
                  <a:pt x="71578" y="244155"/>
                </a:lnTo>
                <a:lnTo>
                  <a:pt x="31691" y="213541"/>
                </a:lnTo>
                <a:lnTo>
                  <a:pt x="6556" y="169994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3"/>
                </a:lnTo>
                <a:lnTo>
                  <a:pt x="13018" y="71578"/>
                </a:lnTo>
                <a:lnTo>
                  <a:pt x="43632" y="31691"/>
                </a:lnTo>
                <a:lnTo>
                  <a:pt x="87179" y="6556"/>
                </a:lnTo>
                <a:lnTo>
                  <a:pt x="120144" y="0"/>
                </a:lnTo>
                <a:lnTo>
                  <a:pt x="1575305" y="0"/>
                </a:lnTo>
                <a:lnTo>
                  <a:pt x="1623870" y="13018"/>
                </a:lnTo>
                <a:lnTo>
                  <a:pt x="1663757" y="43632"/>
                </a:lnTo>
                <a:lnTo>
                  <a:pt x="1688891" y="87178"/>
                </a:lnTo>
                <a:lnTo>
                  <a:pt x="1695449" y="120143"/>
                </a:lnTo>
                <a:lnTo>
                  <a:pt x="1695449" y="137030"/>
                </a:lnTo>
                <a:lnTo>
                  <a:pt x="1682430" y="185595"/>
                </a:lnTo>
                <a:lnTo>
                  <a:pt x="1651816" y="225482"/>
                </a:lnTo>
                <a:lnTo>
                  <a:pt x="1608270" y="250617"/>
                </a:lnTo>
                <a:lnTo>
                  <a:pt x="1583666" y="256350"/>
                </a:lnTo>
                <a:lnTo>
                  <a:pt x="1575305" y="257174"/>
                </a:lnTo>
                <a:close/>
              </a:path>
            </a:pathLst>
          </a:custGeom>
          <a:solidFill>
            <a:srgbClr val="FF83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499768" y="1508156"/>
            <a:ext cx="2790825" cy="1957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85">
                <a:solidFill>
                  <a:srgbClr val="0F1A3A"/>
                </a:solidFill>
                <a:latin typeface="Calibri"/>
                <a:cs typeface="Calibri"/>
              </a:rPr>
              <a:t>Customer</a:t>
            </a:r>
            <a:r>
              <a:rPr dirty="0" sz="1900" spc="4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F1A3A"/>
                </a:solidFill>
                <a:latin typeface="Calibri"/>
                <a:cs typeface="Calibri"/>
              </a:rPr>
              <a:t>/</a:t>
            </a:r>
            <a:r>
              <a:rPr dirty="0" sz="1900" spc="5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95">
                <a:solidFill>
                  <a:srgbClr val="0F1A3A"/>
                </a:solidFill>
                <a:latin typeface="Calibri"/>
                <a:cs typeface="Calibri"/>
              </a:rPr>
              <a:t>Lead</a:t>
            </a:r>
            <a:r>
              <a:rPr dirty="0" sz="1900" spc="4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35">
                <a:solidFill>
                  <a:srgbClr val="0F1A3A"/>
                </a:solidFill>
                <a:latin typeface="Calibri"/>
                <a:cs typeface="Calibri"/>
              </a:rPr>
              <a:t>Traveller</a:t>
            </a:r>
            <a:endParaRPr sz="1900">
              <a:latin typeface="Calibri"/>
              <a:cs typeface="Calibri"/>
            </a:endParaRPr>
          </a:p>
          <a:p>
            <a:pPr marL="12700" marR="45085">
              <a:lnSpc>
                <a:spcPct val="117200"/>
              </a:lnSpc>
              <a:spcBef>
                <a:spcPts val="1065"/>
              </a:spcBef>
            </a:pPr>
            <a:r>
              <a:rPr dirty="0" sz="1600">
                <a:solidFill>
                  <a:srgbClr val="0F1A3A"/>
                </a:solidFill>
                <a:latin typeface="Calibri"/>
                <a:cs typeface="Calibri"/>
              </a:rPr>
              <a:t>Browse</a:t>
            </a:r>
            <a:r>
              <a:rPr dirty="0" sz="1600" spc="16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70">
                <a:solidFill>
                  <a:srgbClr val="0F1A3A"/>
                </a:solidFill>
                <a:latin typeface="Calibri"/>
                <a:cs typeface="Calibri"/>
              </a:rPr>
              <a:t>scheduled</a:t>
            </a:r>
            <a:r>
              <a:rPr dirty="0" sz="1600" spc="16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35">
                <a:solidFill>
                  <a:srgbClr val="0F1A3A"/>
                </a:solidFill>
                <a:latin typeface="Calibri"/>
                <a:cs typeface="Calibri"/>
              </a:rPr>
              <a:t>departures; </a:t>
            </a:r>
            <a:r>
              <a:rPr dirty="0" sz="1600" spc="85">
                <a:solidFill>
                  <a:srgbClr val="0F1A3A"/>
                </a:solidFill>
                <a:latin typeface="Calibri"/>
                <a:cs typeface="Calibri"/>
              </a:rPr>
              <a:t>book</a:t>
            </a:r>
            <a:r>
              <a:rPr dirty="0" sz="1600" spc="15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F1A3A"/>
                </a:solidFill>
                <a:latin typeface="Calibri"/>
                <a:cs typeface="Calibri"/>
              </a:rPr>
              <a:t>multi-</a:t>
            </a:r>
            <a:r>
              <a:rPr dirty="0" sz="1600" spc="70">
                <a:solidFill>
                  <a:srgbClr val="0F1A3A"/>
                </a:solidFill>
                <a:latin typeface="Calibri"/>
                <a:cs typeface="Calibri"/>
              </a:rPr>
              <a:t>passenger</a:t>
            </a:r>
            <a:r>
              <a:rPr dirty="0" sz="1600" spc="15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F1A3A"/>
                </a:solidFill>
                <a:latin typeface="Calibri"/>
                <a:cs typeface="Calibri"/>
              </a:rPr>
              <a:t>rosters; </a:t>
            </a:r>
            <a:r>
              <a:rPr dirty="0" sz="1600" spc="55">
                <a:solidFill>
                  <a:srgbClr val="0F1A3A"/>
                </a:solidFill>
                <a:latin typeface="Calibri"/>
                <a:cs typeface="Calibri"/>
              </a:rPr>
              <a:t>execute</a:t>
            </a:r>
            <a:r>
              <a:rPr dirty="0" sz="1600" spc="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50">
                <a:solidFill>
                  <a:srgbClr val="0F1A3A"/>
                </a:solidFill>
                <a:latin typeface="Calibri"/>
                <a:cs typeface="Calibri"/>
              </a:rPr>
              <a:t>secure</a:t>
            </a:r>
            <a:r>
              <a:rPr dirty="0" sz="1600" spc="4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35">
                <a:solidFill>
                  <a:srgbClr val="0F1A3A"/>
                </a:solidFill>
                <a:latin typeface="Calibri"/>
                <a:cs typeface="Calibri"/>
              </a:rPr>
              <a:t>transaction payments.</a:t>
            </a:r>
            <a:endParaRPr sz="1600">
              <a:latin typeface="Calibri"/>
              <a:cs typeface="Calibri"/>
            </a:endParaRPr>
          </a:p>
          <a:p>
            <a:pPr marL="139065">
              <a:lnSpc>
                <a:spcPct val="100000"/>
              </a:lnSpc>
              <a:spcBef>
                <a:spcPts val="1305"/>
              </a:spcBef>
            </a:pPr>
            <a:r>
              <a:rPr dirty="0" sz="1300">
                <a:latin typeface="Courier New"/>
                <a:cs typeface="Courier New"/>
              </a:rPr>
              <a:t>BOOKING</a:t>
            </a:r>
            <a:r>
              <a:rPr dirty="0" sz="1300" spc="-180">
                <a:latin typeface="Courier New"/>
                <a:cs typeface="Courier New"/>
              </a:rPr>
              <a:t> </a:t>
            </a:r>
            <a:r>
              <a:rPr dirty="0" sz="1300" spc="-10">
                <a:latin typeface="Courier New"/>
                <a:cs typeface="Courier New"/>
              </a:rPr>
              <a:t>SURFACE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162925" y="771525"/>
            <a:ext cx="3524250" cy="152400"/>
          </a:xfrm>
          <a:custGeom>
            <a:avLst/>
            <a:gdLst/>
            <a:ahLst/>
            <a:cxnLst/>
            <a:rect l="l" t="t" r="r" b="b"/>
            <a:pathLst>
              <a:path w="3524250" h="152400">
                <a:moveTo>
                  <a:pt x="0" y="152399"/>
                </a:moveTo>
                <a:lnTo>
                  <a:pt x="717" y="137531"/>
                </a:lnTo>
                <a:lnTo>
                  <a:pt x="724" y="137387"/>
                </a:lnTo>
                <a:lnTo>
                  <a:pt x="2814" y="123239"/>
                </a:lnTo>
                <a:lnTo>
                  <a:pt x="18014" y="80486"/>
                </a:lnTo>
                <a:lnTo>
                  <a:pt x="44636" y="44636"/>
                </a:lnTo>
                <a:lnTo>
                  <a:pt x="80484" y="18015"/>
                </a:lnTo>
                <a:lnTo>
                  <a:pt x="122661" y="2900"/>
                </a:lnTo>
                <a:lnTo>
                  <a:pt x="152399" y="0"/>
                </a:lnTo>
                <a:lnTo>
                  <a:pt x="3371849" y="0"/>
                </a:lnTo>
                <a:lnTo>
                  <a:pt x="3416022" y="6525"/>
                </a:lnTo>
                <a:lnTo>
                  <a:pt x="3456533" y="25660"/>
                </a:lnTo>
                <a:lnTo>
                  <a:pt x="3489714" y="55765"/>
                </a:lnTo>
                <a:lnTo>
                  <a:pt x="3503666" y="76199"/>
                </a:lnTo>
                <a:lnTo>
                  <a:pt x="152399" y="76199"/>
                </a:lnTo>
                <a:lnTo>
                  <a:pt x="137386" y="76562"/>
                </a:lnTo>
                <a:lnTo>
                  <a:pt x="94077" y="82000"/>
                </a:lnTo>
                <a:lnTo>
                  <a:pt x="55764" y="93466"/>
                </a:lnTo>
                <a:lnTo>
                  <a:pt x="18014" y="116443"/>
                </a:lnTo>
                <a:lnTo>
                  <a:pt x="2971" y="137387"/>
                </a:lnTo>
                <a:lnTo>
                  <a:pt x="2899" y="137531"/>
                </a:lnTo>
                <a:lnTo>
                  <a:pt x="724" y="144893"/>
                </a:lnTo>
                <a:lnTo>
                  <a:pt x="0" y="152399"/>
                </a:lnTo>
                <a:close/>
              </a:path>
              <a:path w="3524250" h="152400">
                <a:moveTo>
                  <a:pt x="3524249" y="152399"/>
                </a:moveTo>
                <a:lnTo>
                  <a:pt x="3506232" y="116443"/>
                </a:lnTo>
                <a:lnTo>
                  <a:pt x="3468483" y="93466"/>
                </a:lnTo>
                <a:lnTo>
                  <a:pt x="3430169" y="82000"/>
                </a:lnTo>
                <a:lnTo>
                  <a:pt x="3386862" y="76562"/>
                </a:lnTo>
                <a:lnTo>
                  <a:pt x="3371849" y="76199"/>
                </a:lnTo>
                <a:lnTo>
                  <a:pt x="3503666" y="76199"/>
                </a:lnTo>
                <a:lnTo>
                  <a:pt x="3521348" y="122662"/>
                </a:lnTo>
                <a:lnTo>
                  <a:pt x="3523524" y="137387"/>
                </a:lnTo>
                <a:lnTo>
                  <a:pt x="3524249" y="152399"/>
                </a:lnTo>
                <a:close/>
              </a:path>
            </a:pathLst>
          </a:custGeom>
          <a:solidFill>
            <a:srgbClr val="1281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343899" y="1000124"/>
            <a:ext cx="400050" cy="400050"/>
          </a:xfrm>
          <a:custGeom>
            <a:avLst/>
            <a:gdLst/>
            <a:ahLst/>
            <a:cxnLst/>
            <a:rect l="l" t="t" r="r" b="b"/>
            <a:pathLst>
              <a:path w="400050" h="400050">
                <a:moveTo>
                  <a:pt x="400049" y="400049"/>
                </a:moveTo>
                <a:lnTo>
                  <a:pt x="0" y="400049"/>
                </a:lnTo>
                <a:lnTo>
                  <a:pt x="0" y="0"/>
                </a:lnTo>
                <a:lnTo>
                  <a:pt x="400049" y="0"/>
                </a:lnTo>
                <a:lnTo>
                  <a:pt x="400049" y="400049"/>
                </a:lnTo>
                <a:close/>
              </a:path>
            </a:pathLst>
          </a:custGeom>
          <a:solidFill>
            <a:srgbClr val="1F4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343898" y="3238500"/>
            <a:ext cx="1600200" cy="257175"/>
          </a:xfrm>
          <a:custGeom>
            <a:avLst/>
            <a:gdLst/>
            <a:ahLst/>
            <a:cxnLst/>
            <a:rect l="l" t="t" r="r" b="b"/>
            <a:pathLst>
              <a:path w="1600200" h="257175">
                <a:moveTo>
                  <a:pt x="1480055" y="257174"/>
                </a:moveTo>
                <a:lnTo>
                  <a:pt x="120145" y="257174"/>
                </a:lnTo>
                <a:lnTo>
                  <a:pt x="111782" y="256350"/>
                </a:lnTo>
                <a:lnTo>
                  <a:pt x="71578" y="244155"/>
                </a:lnTo>
                <a:lnTo>
                  <a:pt x="31691" y="213541"/>
                </a:lnTo>
                <a:lnTo>
                  <a:pt x="6556" y="169994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3"/>
                </a:lnTo>
                <a:lnTo>
                  <a:pt x="13018" y="71578"/>
                </a:lnTo>
                <a:lnTo>
                  <a:pt x="43632" y="31691"/>
                </a:lnTo>
                <a:lnTo>
                  <a:pt x="87178" y="6556"/>
                </a:lnTo>
                <a:lnTo>
                  <a:pt x="120145" y="0"/>
                </a:lnTo>
                <a:lnTo>
                  <a:pt x="1480055" y="0"/>
                </a:lnTo>
                <a:lnTo>
                  <a:pt x="1528621" y="13018"/>
                </a:lnTo>
                <a:lnTo>
                  <a:pt x="1568507" y="43632"/>
                </a:lnTo>
                <a:lnTo>
                  <a:pt x="1593642" y="87178"/>
                </a:lnTo>
                <a:lnTo>
                  <a:pt x="1600199" y="120143"/>
                </a:lnTo>
                <a:lnTo>
                  <a:pt x="1600199" y="137030"/>
                </a:lnTo>
                <a:lnTo>
                  <a:pt x="1587180" y="185595"/>
                </a:lnTo>
                <a:lnTo>
                  <a:pt x="1556567" y="225482"/>
                </a:lnTo>
                <a:lnTo>
                  <a:pt x="1513019" y="250617"/>
                </a:lnTo>
                <a:lnTo>
                  <a:pt x="1488417" y="256350"/>
                </a:lnTo>
                <a:lnTo>
                  <a:pt x="1480055" y="257174"/>
                </a:lnTo>
                <a:close/>
              </a:path>
            </a:pathLst>
          </a:custGeom>
          <a:solidFill>
            <a:srgbClr val="1281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326735" y="1508156"/>
            <a:ext cx="3032760" cy="1957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solidFill>
                  <a:srgbClr val="0F1A3A"/>
                </a:solidFill>
                <a:latin typeface="Calibri"/>
                <a:cs typeface="Calibri"/>
              </a:rPr>
              <a:t>Tour</a:t>
            </a:r>
            <a:r>
              <a:rPr dirty="0" sz="1900" spc="19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80">
                <a:solidFill>
                  <a:srgbClr val="0F1A3A"/>
                </a:solidFill>
                <a:latin typeface="Calibri"/>
                <a:cs typeface="Calibri"/>
              </a:rPr>
              <a:t>Guide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117200"/>
              </a:lnSpc>
              <a:spcBef>
                <a:spcPts val="1065"/>
              </a:spcBef>
            </a:pPr>
            <a:r>
              <a:rPr dirty="0" sz="1600" spc="75">
                <a:solidFill>
                  <a:srgbClr val="0F1A3A"/>
                </a:solidFill>
                <a:latin typeface="Calibri"/>
                <a:cs typeface="Calibri"/>
              </a:rPr>
              <a:t>Access</a:t>
            </a:r>
            <a:r>
              <a:rPr dirty="0" sz="1600" spc="14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75">
                <a:solidFill>
                  <a:srgbClr val="0F1A3A"/>
                </a:solidFill>
                <a:latin typeface="Calibri"/>
                <a:cs typeface="Calibri"/>
              </a:rPr>
              <a:t>assigned</a:t>
            </a:r>
            <a:r>
              <a:rPr dirty="0" sz="1600" spc="14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F1A3A"/>
                </a:solidFill>
                <a:latin typeface="Calibri"/>
                <a:cs typeface="Calibri"/>
              </a:rPr>
              <a:t>itinerary</a:t>
            </a:r>
            <a:r>
              <a:rPr dirty="0" sz="1600" spc="14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0F1A3A"/>
                </a:solidFill>
                <a:latin typeface="Calibri"/>
                <a:cs typeface="Calibri"/>
              </a:rPr>
              <a:t>runs; </a:t>
            </a:r>
            <a:r>
              <a:rPr dirty="0" sz="1600" spc="55">
                <a:solidFill>
                  <a:srgbClr val="0F1A3A"/>
                </a:solidFill>
                <a:latin typeface="Calibri"/>
                <a:cs typeface="Calibri"/>
              </a:rPr>
              <a:t>inspect</a:t>
            </a:r>
            <a:r>
              <a:rPr dirty="0" sz="1600" spc="14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55">
                <a:solidFill>
                  <a:srgbClr val="0F1A3A"/>
                </a:solidFill>
                <a:latin typeface="Calibri"/>
                <a:cs typeface="Calibri"/>
              </a:rPr>
              <a:t>verified</a:t>
            </a:r>
            <a:r>
              <a:rPr dirty="0" sz="1600" spc="15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F1A3A"/>
                </a:solidFill>
                <a:latin typeface="Calibri"/>
                <a:cs typeface="Calibri"/>
              </a:rPr>
              <a:t>traveller</a:t>
            </a:r>
            <a:r>
              <a:rPr dirty="0" sz="1600" spc="15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F1A3A"/>
                </a:solidFill>
                <a:latin typeface="Calibri"/>
                <a:cs typeface="Calibri"/>
              </a:rPr>
              <a:t>manifest </a:t>
            </a:r>
            <a:r>
              <a:rPr dirty="0" sz="1600">
                <a:solidFill>
                  <a:srgbClr val="0F1A3A"/>
                </a:solidFill>
                <a:latin typeface="Calibri"/>
                <a:cs typeface="Calibri"/>
              </a:rPr>
              <a:t>lists;</a:t>
            </a:r>
            <a:r>
              <a:rPr dirty="0" sz="1600" spc="7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90">
                <a:solidFill>
                  <a:srgbClr val="0F1A3A"/>
                </a:solidFill>
                <a:latin typeface="Calibri"/>
                <a:cs typeface="Calibri"/>
              </a:rPr>
              <a:t>log</a:t>
            </a:r>
            <a:r>
              <a:rPr dirty="0" sz="1600" spc="8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45">
                <a:solidFill>
                  <a:srgbClr val="0F1A3A"/>
                </a:solidFill>
                <a:latin typeface="Calibri"/>
                <a:cs typeface="Calibri"/>
              </a:rPr>
              <a:t>operational</a:t>
            </a:r>
            <a:r>
              <a:rPr dirty="0" sz="1600" spc="8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45">
                <a:solidFill>
                  <a:srgbClr val="0F1A3A"/>
                </a:solidFill>
                <a:latin typeface="Calibri"/>
                <a:cs typeface="Calibri"/>
              </a:rPr>
              <a:t>departure </a:t>
            </a:r>
            <a:r>
              <a:rPr dirty="0" sz="1600" spc="-10">
                <a:solidFill>
                  <a:srgbClr val="0F1A3A"/>
                </a:solidFill>
                <a:latin typeface="Calibri"/>
                <a:cs typeface="Calibri"/>
              </a:rPr>
              <a:t>status.</a:t>
            </a:r>
            <a:endParaRPr sz="1600">
              <a:latin typeface="Calibri"/>
              <a:cs typeface="Calibri"/>
            </a:endParaRPr>
          </a:p>
          <a:p>
            <a:pPr marL="139065">
              <a:lnSpc>
                <a:spcPct val="100000"/>
              </a:lnSpc>
              <a:spcBef>
                <a:spcPts val="1305"/>
              </a:spcBef>
            </a:pPr>
            <a:r>
              <a:rPr dirty="0" sz="1300">
                <a:solidFill>
                  <a:srgbClr val="FFFFFF"/>
                </a:solidFill>
                <a:latin typeface="Courier New"/>
                <a:cs typeface="Courier New"/>
              </a:rPr>
              <a:t>FIELD</a:t>
            </a:r>
            <a:r>
              <a:rPr dirty="0" sz="1300" spc="-1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ourier New"/>
                <a:cs typeface="Courier New"/>
              </a:rPr>
              <a:t>DISPATCH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4824" y="4419599"/>
            <a:ext cx="11182350" cy="1695450"/>
          </a:xfrm>
          <a:prstGeom prst="rect">
            <a:avLst/>
          </a:prstGeom>
          <a:solidFill>
            <a:srgbClr val="0F1A3A"/>
          </a:solidFill>
        </p:spPr>
        <p:txBody>
          <a:bodyPr wrap="square" lIns="0" tIns="1016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dirty="0" sz="1600" spc="110">
                <a:solidFill>
                  <a:srgbClr val="FF8320"/>
                </a:solidFill>
                <a:latin typeface="Calibri"/>
                <a:cs typeface="Calibri"/>
              </a:rPr>
              <a:t>CENTRAL</a:t>
            </a:r>
            <a:r>
              <a:rPr dirty="0" sz="1600" spc="70">
                <a:solidFill>
                  <a:srgbClr val="FF8320"/>
                </a:solidFill>
                <a:latin typeface="Calibri"/>
                <a:cs typeface="Calibri"/>
              </a:rPr>
              <a:t> </a:t>
            </a:r>
            <a:r>
              <a:rPr dirty="0" sz="1600" spc="130">
                <a:solidFill>
                  <a:srgbClr val="FF8320"/>
                </a:solidFill>
                <a:latin typeface="Calibri"/>
                <a:cs typeface="Calibri"/>
              </a:rPr>
              <a:t>CONTROL</a:t>
            </a:r>
            <a:r>
              <a:rPr dirty="0" sz="1600" spc="70">
                <a:solidFill>
                  <a:srgbClr val="FF8320"/>
                </a:solidFill>
                <a:latin typeface="Calibri"/>
                <a:cs typeface="Calibri"/>
              </a:rPr>
              <a:t> </a:t>
            </a:r>
            <a:r>
              <a:rPr dirty="0" sz="1600" spc="125">
                <a:solidFill>
                  <a:srgbClr val="FF8320"/>
                </a:solidFill>
                <a:latin typeface="Calibri"/>
                <a:cs typeface="Calibri"/>
              </a:rPr>
              <a:t>CORE</a:t>
            </a:r>
            <a:r>
              <a:rPr dirty="0" sz="1600" spc="70">
                <a:solidFill>
                  <a:srgbClr val="FF8320"/>
                </a:solidFill>
                <a:latin typeface="Calibri"/>
                <a:cs typeface="Calibri"/>
              </a:rPr>
              <a:t> </a:t>
            </a:r>
            <a:r>
              <a:rPr dirty="0" sz="1600" spc="1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dirty="0" sz="160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55">
                <a:solidFill>
                  <a:srgbClr val="FFFFFF"/>
                </a:solidFill>
                <a:latin typeface="Calibri"/>
                <a:cs typeface="Calibri"/>
              </a:rPr>
              <a:t>Central</a:t>
            </a:r>
            <a:r>
              <a:rPr dirty="0" sz="160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0">
                <a:solidFill>
                  <a:srgbClr val="FFFFFF"/>
                </a:solidFill>
                <a:latin typeface="Calibri"/>
                <a:cs typeface="Calibri"/>
              </a:rPr>
              <a:t>Relational</a:t>
            </a:r>
            <a:r>
              <a:rPr dirty="0" sz="160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50">
                <a:solidFill>
                  <a:srgbClr val="FFFFFF"/>
                </a:solidFill>
                <a:latin typeface="Calibri"/>
                <a:cs typeface="Calibri"/>
              </a:rPr>
              <a:t>DBMS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330"/>
              </a:spcBef>
            </a:pPr>
            <a:r>
              <a:rPr dirty="0" sz="1350" spc="60">
                <a:solidFill>
                  <a:srgbClr val="E9F0FF"/>
                </a:solidFill>
                <a:latin typeface="Calibri"/>
                <a:cs typeface="Calibri"/>
              </a:rPr>
              <a:t>Single</a:t>
            </a:r>
            <a:r>
              <a:rPr dirty="0" sz="1350" spc="100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E9F0FF"/>
                </a:solidFill>
                <a:latin typeface="Calibri"/>
                <a:cs typeface="Calibri"/>
              </a:rPr>
              <a:t>unified</a:t>
            </a:r>
            <a:r>
              <a:rPr dirty="0" sz="1350" spc="105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350" spc="70">
                <a:solidFill>
                  <a:srgbClr val="E9F0FF"/>
                </a:solidFill>
                <a:latin typeface="Calibri"/>
                <a:cs typeface="Calibri"/>
              </a:rPr>
              <a:t>PostgreSQL</a:t>
            </a:r>
            <a:r>
              <a:rPr dirty="0" sz="1350" spc="105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350" spc="50">
                <a:solidFill>
                  <a:srgbClr val="E9F0FF"/>
                </a:solidFill>
                <a:latin typeface="Calibri"/>
                <a:cs typeface="Calibri"/>
              </a:rPr>
              <a:t>schema</a:t>
            </a:r>
            <a:r>
              <a:rPr dirty="0" sz="1350" spc="105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E9F0FF"/>
                </a:solidFill>
                <a:latin typeface="Calibri"/>
                <a:cs typeface="Calibri"/>
              </a:rPr>
              <a:t>with</a:t>
            </a:r>
            <a:r>
              <a:rPr dirty="0" sz="1350" spc="105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E9F0FF"/>
                </a:solidFill>
                <a:latin typeface="Calibri"/>
                <a:cs typeface="Calibri"/>
              </a:rPr>
              <a:t>role-</a:t>
            </a:r>
            <a:r>
              <a:rPr dirty="0" sz="1350" spc="65">
                <a:solidFill>
                  <a:srgbClr val="E9F0FF"/>
                </a:solidFill>
                <a:latin typeface="Calibri"/>
                <a:cs typeface="Calibri"/>
              </a:rPr>
              <a:t>based</a:t>
            </a:r>
            <a:r>
              <a:rPr dirty="0" sz="1350" spc="105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E9F0FF"/>
                </a:solidFill>
                <a:latin typeface="Calibri"/>
                <a:cs typeface="Calibri"/>
              </a:rPr>
              <a:t>row-level</a:t>
            </a:r>
            <a:r>
              <a:rPr dirty="0" sz="1350" spc="105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E9F0FF"/>
                </a:solidFill>
                <a:latin typeface="Calibri"/>
                <a:cs typeface="Calibri"/>
              </a:rPr>
              <a:t>security</a:t>
            </a:r>
            <a:r>
              <a:rPr dirty="0" sz="1350" spc="105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E9F0FF"/>
                </a:solidFill>
                <a:latin typeface="Calibri"/>
                <a:cs typeface="Calibri"/>
              </a:rPr>
              <a:t>·</a:t>
            </a:r>
            <a:r>
              <a:rPr dirty="0" sz="1350" spc="105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350" spc="50">
                <a:solidFill>
                  <a:srgbClr val="E9F0FF"/>
                </a:solidFill>
                <a:latin typeface="Calibri"/>
                <a:cs typeface="Calibri"/>
              </a:rPr>
              <a:t>Synchronized</a:t>
            </a:r>
            <a:r>
              <a:rPr dirty="0" sz="1350" spc="105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E9F0FF"/>
                </a:solidFill>
                <a:latin typeface="Calibri"/>
                <a:cs typeface="Calibri"/>
              </a:rPr>
              <a:t>State</a:t>
            </a:r>
            <a:r>
              <a:rPr dirty="0" sz="1350" spc="105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350" spc="55">
                <a:solidFill>
                  <a:srgbClr val="E9F0FF"/>
                </a:solidFill>
                <a:latin typeface="Calibri"/>
                <a:cs typeface="Calibri"/>
              </a:rPr>
              <a:t>Across</a:t>
            </a:r>
            <a:r>
              <a:rPr dirty="0" sz="1350" spc="105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350" spc="60">
                <a:solidFill>
                  <a:srgbClr val="E9F0FF"/>
                </a:solidFill>
                <a:latin typeface="Calibri"/>
                <a:cs typeface="Calibri"/>
              </a:rPr>
              <a:t>All</a:t>
            </a:r>
            <a:r>
              <a:rPr dirty="0" sz="1350" spc="100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350" spc="50">
                <a:solidFill>
                  <a:srgbClr val="E9F0FF"/>
                </a:solidFill>
                <a:latin typeface="Calibri"/>
                <a:cs typeface="Calibri"/>
              </a:rPr>
              <a:t>Client</a:t>
            </a:r>
            <a:r>
              <a:rPr dirty="0" sz="1350" spc="105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350" spc="45">
                <a:solidFill>
                  <a:srgbClr val="E9F0FF"/>
                </a:solidFill>
                <a:latin typeface="Calibri"/>
                <a:cs typeface="Calibri"/>
              </a:rPr>
              <a:t>Surfaces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5799" y="5286374"/>
            <a:ext cx="5257800" cy="723900"/>
          </a:xfrm>
          <a:prstGeom prst="rect">
            <a:avLst/>
          </a:prstGeom>
          <a:solidFill>
            <a:srgbClr val="EDF1FD"/>
          </a:solidFill>
        </p:spPr>
        <p:txBody>
          <a:bodyPr wrap="square" lIns="0" tIns="85725" rIns="0" bIns="0" rtlCol="0" vert="horz">
            <a:spAutoFit/>
          </a:bodyPr>
          <a:lstStyle/>
          <a:p>
            <a:pPr marL="126364">
              <a:lnSpc>
                <a:spcPct val="100000"/>
              </a:lnSpc>
              <a:spcBef>
                <a:spcPts val="675"/>
              </a:spcBef>
            </a:pPr>
            <a:r>
              <a:rPr dirty="0" sz="1350" spc="-10" b="1">
                <a:solidFill>
                  <a:srgbClr val="0F1A3A"/>
                </a:solidFill>
                <a:latin typeface="Courier New"/>
                <a:cs typeface="Courier New"/>
              </a:rPr>
              <a:t>RBAC</a:t>
            </a:r>
            <a:r>
              <a:rPr dirty="0" sz="1350" spc="-145" b="1">
                <a:solidFill>
                  <a:srgbClr val="0F1A3A"/>
                </a:solidFill>
                <a:latin typeface="Courier New"/>
                <a:cs typeface="Courier New"/>
              </a:rPr>
              <a:t> </a:t>
            </a:r>
            <a:r>
              <a:rPr dirty="0" sz="1350" spc="-40" b="1">
                <a:solidFill>
                  <a:srgbClr val="0F1A3A"/>
                </a:solidFill>
                <a:latin typeface="Courier New"/>
                <a:cs typeface="Courier New"/>
              </a:rPr>
              <a:t>Validation</a:t>
            </a:r>
            <a:r>
              <a:rPr dirty="0" sz="1350" spc="-145" b="1">
                <a:solidFill>
                  <a:srgbClr val="0F1A3A"/>
                </a:solidFill>
                <a:latin typeface="Courier New"/>
                <a:cs typeface="Courier New"/>
              </a:rPr>
              <a:t> </a:t>
            </a:r>
            <a:r>
              <a:rPr dirty="0" sz="1350" spc="-10" b="1">
                <a:solidFill>
                  <a:srgbClr val="0F1A3A"/>
                </a:solidFill>
                <a:latin typeface="Courier New"/>
                <a:cs typeface="Courier New"/>
              </a:rPr>
              <a:t>Layer</a:t>
            </a:r>
            <a:endParaRPr sz="1350">
              <a:latin typeface="Courier New"/>
              <a:cs typeface="Courier New"/>
            </a:endParaRPr>
          </a:p>
          <a:p>
            <a:pPr marL="126364">
              <a:lnSpc>
                <a:spcPct val="100000"/>
              </a:lnSpc>
              <a:spcBef>
                <a:spcPts val="1180"/>
              </a:spcBef>
            </a:pPr>
            <a:r>
              <a:rPr dirty="0" sz="1250" spc="10">
                <a:solidFill>
                  <a:srgbClr val="0F1A3A"/>
                </a:solidFill>
                <a:latin typeface="Calibri"/>
                <a:cs typeface="Calibri"/>
              </a:rPr>
              <a:t>Strict</a:t>
            </a:r>
            <a:r>
              <a:rPr dirty="0" sz="1250" spc="10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250" spc="10">
                <a:solidFill>
                  <a:srgbClr val="0F1A3A"/>
                </a:solidFill>
                <a:latin typeface="Calibri"/>
                <a:cs typeface="Calibri"/>
              </a:rPr>
              <a:t>separation</a:t>
            </a:r>
            <a:r>
              <a:rPr dirty="0" sz="1250" spc="10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250" spc="55">
                <a:solidFill>
                  <a:srgbClr val="0F1A3A"/>
                </a:solidFill>
                <a:latin typeface="Calibri"/>
                <a:cs typeface="Calibri"/>
              </a:rPr>
              <a:t>of</a:t>
            </a:r>
            <a:r>
              <a:rPr dirty="0" sz="1250" spc="10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250" spc="10">
                <a:solidFill>
                  <a:srgbClr val="0F1A3A"/>
                </a:solidFill>
                <a:latin typeface="Calibri"/>
                <a:cs typeface="Calibri"/>
              </a:rPr>
              <a:t>read,</a:t>
            </a:r>
            <a:r>
              <a:rPr dirty="0" sz="1250" spc="10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250" spc="10">
                <a:solidFill>
                  <a:srgbClr val="0F1A3A"/>
                </a:solidFill>
                <a:latin typeface="Calibri"/>
                <a:cs typeface="Calibri"/>
              </a:rPr>
              <a:t>write,</a:t>
            </a:r>
            <a:r>
              <a:rPr dirty="0" sz="1250" spc="10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250" spc="55">
                <a:solidFill>
                  <a:srgbClr val="0F1A3A"/>
                </a:solidFill>
                <a:latin typeface="Calibri"/>
                <a:cs typeface="Calibri"/>
              </a:rPr>
              <a:t>and</a:t>
            </a:r>
            <a:r>
              <a:rPr dirty="0" sz="1250" spc="10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250" spc="45">
                <a:solidFill>
                  <a:srgbClr val="0F1A3A"/>
                </a:solidFill>
                <a:latin typeface="Calibri"/>
                <a:cs typeface="Calibri"/>
              </a:rPr>
              <a:t>execute</a:t>
            </a:r>
            <a:r>
              <a:rPr dirty="0" sz="1250" spc="10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F1A3A"/>
                </a:solidFill>
                <a:latin typeface="Calibri"/>
                <a:cs typeface="Calibri"/>
              </a:rPr>
              <a:t>permissions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48399" y="5286374"/>
            <a:ext cx="5257800" cy="723900"/>
          </a:xfrm>
          <a:prstGeom prst="rect">
            <a:avLst/>
          </a:prstGeom>
          <a:solidFill>
            <a:srgbClr val="EDF1FD"/>
          </a:solidFill>
        </p:spPr>
        <p:txBody>
          <a:bodyPr wrap="square" lIns="0" tIns="85725" rIns="0" bIns="0" rtlCol="0" vert="horz">
            <a:spAutoFit/>
          </a:bodyPr>
          <a:lstStyle/>
          <a:p>
            <a:pPr marL="126364">
              <a:lnSpc>
                <a:spcPct val="100000"/>
              </a:lnSpc>
              <a:spcBef>
                <a:spcPts val="675"/>
              </a:spcBef>
            </a:pPr>
            <a:r>
              <a:rPr dirty="0" sz="1350" spc="-10" b="1">
                <a:solidFill>
                  <a:srgbClr val="0F1A3A"/>
                </a:solidFill>
                <a:latin typeface="Courier New"/>
                <a:cs typeface="Courier New"/>
              </a:rPr>
              <a:t>ACID</a:t>
            </a:r>
            <a:r>
              <a:rPr dirty="0" sz="1350" spc="-150" b="1">
                <a:solidFill>
                  <a:srgbClr val="0F1A3A"/>
                </a:solidFill>
                <a:latin typeface="Courier New"/>
                <a:cs typeface="Courier New"/>
              </a:rPr>
              <a:t> </a:t>
            </a:r>
            <a:r>
              <a:rPr dirty="0" sz="1350" spc="-40" b="1">
                <a:solidFill>
                  <a:srgbClr val="0F1A3A"/>
                </a:solidFill>
                <a:latin typeface="Courier New"/>
                <a:cs typeface="Courier New"/>
              </a:rPr>
              <a:t>Transaction</a:t>
            </a:r>
            <a:r>
              <a:rPr dirty="0" sz="1350" spc="-145" b="1">
                <a:solidFill>
                  <a:srgbClr val="0F1A3A"/>
                </a:solidFill>
                <a:latin typeface="Courier New"/>
                <a:cs typeface="Courier New"/>
              </a:rPr>
              <a:t> </a:t>
            </a:r>
            <a:r>
              <a:rPr dirty="0" sz="1350" spc="-10" b="1">
                <a:solidFill>
                  <a:srgbClr val="0F1A3A"/>
                </a:solidFill>
                <a:latin typeface="Courier New"/>
                <a:cs typeface="Courier New"/>
              </a:rPr>
              <a:t>Isolation</a:t>
            </a:r>
            <a:endParaRPr sz="1350">
              <a:latin typeface="Courier New"/>
              <a:cs typeface="Courier New"/>
            </a:endParaRPr>
          </a:p>
          <a:p>
            <a:pPr marL="126364">
              <a:lnSpc>
                <a:spcPct val="100000"/>
              </a:lnSpc>
              <a:spcBef>
                <a:spcPts val="1180"/>
              </a:spcBef>
            </a:pPr>
            <a:r>
              <a:rPr dirty="0" sz="1250" spc="50">
                <a:solidFill>
                  <a:srgbClr val="0F1A3A"/>
                </a:solidFill>
                <a:latin typeface="Calibri"/>
                <a:cs typeface="Calibri"/>
              </a:rPr>
              <a:t>Zero-</a:t>
            </a:r>
            <a:r>
              <a:rPr dirty="0" sz="1250" spc="45">
                <a:solidFill>
                  <a:srgbClr val="0F1A3A"/>
                </a:solidFill>
                <a:latin typeface="Calibri"/>
                <a:cs typeface="Calibri"/>
              </a:rPr>
              <a:t>latency</a:t>
            </a:r>
            <a:r>
              <a:rPr dirty="0" sz="1250" spc="114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F1A3A"/>
                </a:solidFill>
                <a:latin typeface="Calibri"/>
                <a:cs typeface="Calibri"/>
              </a:rPr>
              <a:t>seat</a:t>
            </a:r>
            <a:r>
              <a:rPr dirty="0" sz="1250" spc="114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F1A3A"/>
                </a:solidFill>
                <a:latin typeface="Calibri"/>
                <a:cs typeface="Calibri"/>
              </a:rPr>
              <a:t>locks</a:t>
            </a:r>
            <a:r>
              <a:rPr dirty="0" sz="1250" spc="114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250" spc="50">
                <a:solidFill>
                  <a:srgbClr val="0F1A3A"/>
                </a:solidFill>
                <a:latin typeface="Calibri"/>
                <a:cs typeface="Calibri"/>
              </a:rPr>
              <a:t>during</a:t>
            </a:r>
            <a:r>
              <a:rPr dirty="0" sz="1250" spc="114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250" spc="45">
                <a:solidFill>
                  <a:srgbClr val="0F1A3A"/>
                </a:solidFill>
                <a:latin typeface="Calibri"/>
                <a:cs typeface="Calibri"/>
              </a:rPr>
              <a:t>payment</a:t>
            </a:r>
            <a:r>
              <a:rPr dirty="0" sz="1250" spc="114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F1A3A"/>
                </a:solidFill>
                <a:latin typeface="Calibri"/>
                <a:cs typeface="Calibri"/>
              </a:rPr>
              <a:t>execution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316590" y="6342371"/>
            <a:ext cx="1780539" cy="431800"/>
            <a:chOff x="10316590" y="6342371"/>
            <a:chExt cx="1780539" cy="431800"/>
          </a:xfrm>
        </p:grpSpPr>
        <p:pic>
          <p:nvPicPr>
            <p:cNvPr id="19" name="object 19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2244" y="6343649"/>
              <a:ext cx="1754504" cy="419100"/>
            </a:xfrm>
            <a:prstGeom prst="rect">
              <a:avLst/>
            </a:prstGeom>
          </p:spPr>
        </p:pic>
        <p:sp>
          <p:nvSpPr>
            <p:cNvPr id="20" name="object 20">
              <a:hlinkClick r:id="rId2"/>
            </p:cNvPr>
            <p:cNvSpPr/>
            <p:nvPr/>
          </p:nvSpPr>
          <p:spPr>
            <a:xfrm>
              <a:off x="10316590" y="6342371"/>
              <a:ext cx="1772285" cy="431800"/>
            </a:xfrm>
            <a:custGeom>
              <a:avLst/>
              <a:gdLst/>
              <a:ahLst/>
              <a:cxnLst/>
              <a:rect l="l" t="t" r="r" b="b"/>
              <a:pathLst>
                <a:path w="1772284" h="431800">
                  <a:moveTo>
                    <a:pt x="1575945" y="0"/>
                  </a:moveTo>
                  <a:lnTo>
                    <a:pt x="196126" y="0"/>
                  </a:lnTo>
                  <a:lnTo>
                    <a:pt x="151156" y="5179"/>
                  </a:lnTo>
                  <a:lnTo>
                    <a:pt x="109875" y="19934"/>
                  </a:lnTo>
                  <a:lnTo>
                    <a:pt x="73459" y="43086"/>
                  </a:lnTo>
                  <a:lnTo>
                    <a:pt x="43086" y="73459"/>
                  </a:lnTo>
                  <a:lnTo>
                    <a:pt x="19934" y="109875"/>
                  </a:lnTo>
                  <a:lnTo>
                    <a:pt x="5179" y="151156"/>
                  </a:lnTo>
                  <a:lnTo>
                    <a:pt x="0" y="196126"/>
                  </a:lnTo>
                  <a:lnTo>
                    <a:pt x="0" y="235264"/>
                  </a:lnTo>
                  <a:lnTo>
                    <a:pt x="5179" y="280234"/>
                  </a:lnTo>
                  <a:lnTo>
                    <a:pt x="19934" y="321516"/>
                  </a:lnTo>
                  <a:lnTo>
                    <a:pt x="43086" y="357931"/>
                  </a:lnTo>
                  <a:lnTo>
                    <a:pt x="73459" y="388304"/>
                  </a:lnTo>
                  <a:lnTo>
                    <a:pt x="109875" y="411456"/>
                  </a:lnTo>
                  <a:lnTo>
                    <a:pt x="151156" y="426211"/>
                  </a:lnTo>
                  <a:lnTo>
                    <a:pt x="196126" y="431391"/>
                  </a:lnTo>
                  <a:lnTo>
                    <a:pt x="1575945" y="431391"/>
                  </a:lnTo>
                  <a:lnTo>
                    <a:pt x="1620915" y="426211"/>
                  </a:lnTo>
                  <a:lnTo>
                    <a:pt x="1662197" y="411456"/>
                  </a:lnTo>
                  <a:lnTo>
                    <a:pt x="1698613" y="388304"/>
                  </a:lnTo>
                  <a:lnTo>
                    <a:pt x="1728986" y="357931"/>
                  </a:lnTo>
                  <a:lnTo>
                    <a:pt x="1752138" y="321516"/>
                  </a:lnTo>
                  <a:lnTo>
                    <a:pt x="1766893" y="280234"/>
                  </a:lnTo>
                  <a:lnTo>
                    <a:pt x="1772072" y="235264"/>
                  </a:lnTo>
                  <a:lnTo>
                    <a:pt x="1772072" y="215695"/>
                  </a:lnTo>
                  <a:lnTo>
                    <a:pt x="1772072" y="196126"/>
                  </a:lnTo>
                  <a:lnTo>
                    <a:pt x="1766893" y="151156"/>
                  </a:lnTo>
                  <a:lnTo>
                    <a:pt x="1752138" y="109875"/>
                  </a:lnTo>
                  <a:lnTo>
                    <a:pt x="1728986" y="73459"/>
                  </a:lnTo>
                  <a:lnTo>
                    <a:pt x="1698613" y="43086"/>
                  </a:lnTo>
                  <a:lnTo>
                    <a:pt x="1662197" y="19934"/>
                  </a:lnTo>
                  <a:lnTo>
                    <a:pt x="1620915" y="5179"/>
                  </a:lnTo>
                  <a:lnTo>
                    <a:pt x="15759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1974" y="428624"/>
            <a:ext cx="1695450" cy="257175"/>
          </a:xfrm>
          <a:custGeom>
            <a:avLst/>
            <a:gdLst/>
            <a:ahLst/>
            <a:cxnLst/>
            <a:rect l="l" t="t" r="r" b="b"/>
            <a:pathLst>
              <a:path w="1695450" h="257175">
                <a:moveTo>
                  <a:pt x="1575305" y="257174"/>
                </a:moveTo>
                <a:lnTo>
                  <a:pt x="120144" y="257174"/>
                </a:lnTo>
                <a:lnTo>
                  <a:pt x="111782" y="256351"/>
                </a:lnTo>
                <a:lnTo>
                  <a:pt x="71578" y="244155"/>
                </a:lnTo>
                <a:lnTo>
                  <a:pt x="31692" y="213542"/>
                </a:lnTo>
                <a:lnTo>
                  <a:pt x="6557" y="169995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4"/>
                </a:lnTo>
                <a:lnTo>
                  <a:pt x="13019" y="71578"/>
                </a:lnTo>
                <a:lnTo>
                  <a:pt x="43632" y="31692"/>
                </a:lnTo>
                <a:lnTo>
                  <a:pt x="87179" y="6557"/>
                </a:lnTo>
                <a:lnTo>
                  <a:pt x="120144" y="0"/>
                </a:lnTo>
                <a:lnTo>
                  <a:pt x="1575305" y="0"/>
                </a:lnTo>
                <a:lnTo>
                  <a:pt x="1623870" y="13019"/>
                </a:lnTo>
                <a:lnTo>
                  <a:pt x="1663757" y="43632"/>
                </a:lnTo>
                <a:lnTo>
                  <a:pt x="1688892" y="87179"/>
                </a:lnTo>
                <a:lnTo>
                  <a:pt x="1695449" y="120144"/>
                </a:lnTo>
                <a:lnTo>
                  <a:pt x="1695449" y="137030"/>
                </a:lnTo>
                <a:lnTo>
                  <a:pt x="1682430" y="185596"/>
                </a:lnTo>
                <a:lnTo>
                  <a:pt x="1651816" y="225482"/>
                </a:lnTo>
                <a:lnTo>
                  <a:pt x="1608269" y="250617"/>
                </a:lnTo>
                <a:lnTo>
                  <a:pt x="1583667" y="256351"/>
                </a:lnTo>
                <a:lnTo>
                  <a:pt x="1575305" y="257174"/>
                </a:lnTo>
                <a:close/>
              </a:path>
            </a:pathLst>
          </a:custGeom>
          <a:solidFill>
            <a:srgbClr val="1F4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72951" y="431831"/>
            <a:ext cx="146431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FFFFFF"/>
                </a:solidFill>
                <a:latin typeface="Courier New"/>
                <a:cs typeface="Courier New"/>
              </a:rPr>
              <a:t>SCHEMA</a:t>
            </a:r>
            <a:r>
              <a:rPr dirty="0" sz="1300" spc="-15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Courier New"/>
                <a:cs typeface="Courier New"/>
              </a:rPr>
              <a:t>TOPOLOGY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46000" y="711200"/>
            <a:ext cx="5603875" cy="892175"/>
          </a:xfrm>
          <a:prstGeom prst="rect"/>
        </p:spPr>
        <p:txBody>
          <a:bodyPr wrap="square" lIns="0" tIns="65405" rIns="0" bIns="0" rtlCol="0" vert="horz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515"/>
              </a:spcBef>
            </a:pPr>
            <a:r>
              <a:rPr dirty="0" spc="-375"/>
              <a:t>13</a:t>
            </a:r>
            <a:r>
              <a:rPr dirty="0" spc="-400"/>
              <a:t> </a:t>
            </a:r>
            <a:r>
              <a:rPr dirty="0" spc="-155"/>
              <a:t>entities</a:t>
            </a:r>
            <a:r>
              <a:rPr dirty="0" spc="-395"/>
              <a:t> </a:t>
            </a:r>
            <a:r>
              <a:rPr dirty="0"/>
              <a:t>map</a:t>
            </a:r>
            <a:r>
              <a:rPr dirty="0" spc="-400"/>
              <a:t> </a:t>
            </a:r>
            <a:r>
              <a:rPr dirty="0" spc="-90"/>
              <a:t>the</a:t>
            </a:r>
            <a:r>
              <a:rPr dirty="0" spc="-395"/>
              <a:t> </a:t>
            </a:r>
            <a:r>
              <a:rPr dirty="0" spc="-50"/>
              <a:t>full</a:t>
            </a:r>
            <a:r>
              <a:rPr dirty="0" spc="-400"/>
              <a:t> </a:t>
            </a:r>
            <a:r>
              <a:rPr dirty="0" spc="-40"/>
              <a:t>travel </a:t>
            </a:r>
            <a:r>
              <a:rPr dirty="0" spc="-95"/>
              <a:t>operation</a:t>
            </a:r>
            <a:r>
              <a:rPr dirty="0" spc="-400"/>
              <a:t> </a:t>
            </a:r>
            <a:r>
              <a:rPr dirty="0" spc="-180"/>
              <a:t>across</a:t>
            </a:r>
            <a:r>
              <a:rPr dirty="0" spc="-400"/>
              <a:t> </a:t>
            </a:r>
            <a:r>
              <a:rPr dirty="0" spc="-125"/>
              <a:t>five</a:t>
            </a:r>
            <a:r>
              <a:rPr dirty="0" spc="-400"/>
              <a:t> </a:t>
            </a:r>
            <a:r>
              <a:rPr dirty="0" spc="-10"/>
              <a:t>zones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68345" y="892175"/>
            <a:ext cx="257619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 b="1">
                <a:solidFill>
                  <a:srgbClr val="0F1A3A"/>
                </a:solidFill>
                <a:latin typeface="Courier New"/>
                <a:cs typeface="Courier New"/>
              </a:rPr>
              <a:t>CORE</a:t>
            </a:r>
            <a:r>
              <a:rPr dirty="0" sz="1350" spc="-160" b="1">
                <a:solidFill>
                  <a:srgbClr val="0F1A3A"/>
                </a:solidFill>
                <a:latin typeface="Courier New"/>
                <a:cs typeface="Courier New"/>
              </a:rPr>
              <a:t> </a:t>
            </a:r>
            <a:r>
              <a:rPr dirty="0" sz="1350" spc="-35" b="1">
                <a:solidFill>
                  <a:srgbClr val="0F1A3A"/>
                </a:solidFill>
                <a:latin typeface="Courier New"/>
                <a:cs typeface="Courier New"/>
              </a:rPr>
              <a:t>BRIDGING</a:t>
            </a:r>
            <a:r>
              <a:rPr dirty="0" sz="1350" spc="-155" b="1">
                <a:solidFill>
                  <a:srgbClr val="0F1A3A"/>
                </a:solidFill>
                <a:latin typeface="Courier New"/>
                <a:cs typeface="Courier New"/>
              </a:rPr>
              <a:t> </a:t>
            </a:r>
            <a:r>
              <a:rPr dirty="0" sz="1350" spc="-35" b="1">
                <a:solidFill>
                  <a:srgbClr val="0F1A3A"/>
                </a:solidFill>
                <a:latin typeface="Courier New"/>
                <a:cs typeface="Courier New"/>
              </a:rPr>
              <a:t>ARCHITECTURE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1975" y="1714500"/>
            <a:ext cx="1914525" cy="152400"/>
          </a:xfrm>
          <a:custGeom>
            <a:avLst/>
            <a:gdLst/>
            <a:ahLst/>
            <a:cxnLst/>
            <a:rect l="l" t="t" r="r" b="b"/>
            <a:pathLst>
              <a:path w="1914525" h="152400">
                <a:moveTo>
                  <a:pt x="0" y="152399"/>
                </a:moveTo>
                <a:lnTo>
                  <a:pt x="6525" y="108226"/>
                </a:lnTo>
                <a:lnTo>
                  <a:pt x="25660" y="67715"/>
                </a:lnTo>
                <a:lnTo>
                  <a:pt x="55765" y="34533"/>
                </a:lnTo>
                <a:lnTo>
                  <a:pt x="94078" y="11600"/>
                </a:lnTo>
                <a:lnTo>
                  <a:pt x="137387" y="725"/>
                </a:lnTo>
                <a:lnTo>
                  <a:pt x="152399" y="0"/>
                </a:lnTo>
                <a:lnTo>
                  <a:pt x="1762124" y="0"/>
                </a:lnTo>
                <a:lnTo>
                  <a:pt x="1806297" y="6525"/>
                </a:lnTo>
                <a:lnTo>
                  <a:pt x="1846809" y="25659"/>
                </a:lnTo>
                <a:lnTo>
                  <a:pt x="1879990" y="55765"/>
                </a:lnTo>
                <a:lnTo>
                  <a:pt x="1881019" y="57149"/>
                </a:lnTo>
                <a:lnTo>
                  <a:pt x="152399" y="57149"/>
                </a:lnTo>
                <a:lnTo>
                  <a:pt x="137387" y="57603"/>
                </a:lnTo>
                <a:lnTo>
                  <a:pt x="94078" y="64400"/>
                </a:lnTo>
                <a:lnTo>
                  <a:pt x="55765" y="78733"/>
                </a:lnTo>
                <a:lnTo>
                  <a:pt x="18015" y="107453"/>
                </a:lnTo>
                <a:lnTo>
                  <a:pt x="725" y="143016"/>
                </a:lnTo>
                <a:lnTo>
                  <a:pt x="0" y="152399"/>
                </a:lnTo>
                <a:close/>
              </a:path>
              <a:path w="1914525" h="152400">
                <a:moveTo>
                  <a:pt x="1914524" y="152399"/>
                </a:moveTo>
                <a:lnTo>
                  <a:pt x="1902923" y="115949"/>
                </a:lnTo>
                <a:lnTo>
                  <a:pt x="1869887" y="85048"/>
                </a:lnTo>
                <a:lnTo>
                  <a:pt x="1834038" y="68409"/>
                </a:lnTo>
                <a:lnTo>
                  <a:pt x="1791862" y="58962"/>
                </a:lnTo>
                <a:lnTo>
                  <a:pt x="1762124" y="57149"/>
                </a:lnTo>
                <a:lnTo>
                  <a:pt x="1881019" y="57149"/>
                </a:lnTo>
                <a:lnTo>
                  <a:pt x="1902923" y="94078"/>
                </a:lnTo>
                <a:lnTo>
                  <a:pt x="1913799" y="137387"/>
                </a:lnTo>
                <a:lnTo>
                  <a:pt x="1914524" y="152399"/>
                </a:lnTo>
                <a:close/>
              </a:path>
            </a:pathLst>
          </a:custGeom>
          <a:solidFill>
            <a:srgbClr val="1F4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90574" y="2000249"/>
            <a:ext cx="828675" cy="257175"/>
          </a:xfrm>
          <a:custGeom>
            <a:avLst/>
            <a:gdLst/>
            <a:ahLst/>
            <a:cxnLst/>
            <a:rect l="l" t="t" r="r" b="b"/>
            <a:pathLst>
              <a:path w="828675" h="257175">
                <a:moveTo>
                  <a:pt x="708530" y="257174"/>
                </a:moveTo>
                <a:lnTo>
                  <a:pt x="120144" y="257174"/>
                </a:lnTo>
                <a:lnTo>
                  <a:pt x="111782" y="256351"/>
                </a:lnTo>
                <a:lnTo>
                  <a:pt x="71578" y="244155"/>
                </a:lnTo>
                <a:lnTo>
                  <a:pt x="31692" y="213542"/>
                </a:lnTo>
                <a:lnTo>
                  <a:pt x="6557" y="169994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4"/>
                </a:lnTo>
                <a:lnTo>
                  <a:pt x="13019" y="71578"/>
                </a:lnTo>
                <a:lnTo>
                  <a:pt x="43632" y="31691"/>
                </a:lnTo>
                <a:lnTo>
                  <a:pt x="87179" y="6556"/>
                </a:lnTo>
                <a:lnTo>
                  <a:pt x="120144" y="0"/>
                </a:lnTo>
                <a:lnTo>
                  <a:pt x="708530" y="0"/>
                </a:lnTo>
                <a:lnTo>
                  <a:pt x="757096" y="13018"/>
                </a:lnTo>
                <a:lnTo>
                  <a:pt x="796982" y="43632"/>
                </a:lnTo>
                <a:lnTo>
                  <a:pt x="822117" y="87179"/>
                </a:lnTo>
                <a:lnTo>
                  <a:pt x="828674" y="120144"/>
                </a:lnTo>
                <a:lnTo>
                  <a:pt x="828674" y="137030"/>
                </a:lnTo>
                <a:lnTo>
                  <a:pt x="815655" y="185595"/>
                </a:lnTo>
                <a:lnTo>
                  <a:pt x="785042" y="225482"/>
                </a:lnTo>
                <a:lnTo>
                  <a:pt x="741495" y="250617"/>
                </a:lnTo>
                <a:lnTo>
                  <a:pt x="716892" y="256351"/>
                </a:lnTo>
                <a:lnTo>
                  <a:pt x="708530" y="257174"/>
                </a:lnTo>
                <a:close/>
              </a:path>
            </a:pathLst>
          </a:custGeom>
          <a:solidFill>
            <a:srgbClr val="1F4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74600" y="1909675"/>
            <a:ext cx="1356995" cy="2138045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835"/>
              </a:spcBef>
            </a:pPr>
            <a:r>
              <a:rPr dirty="0" sz="1300">
                <a:solidFill>
                  <a:srgbClr val="FFFFFF"/>
                </a:solidFill>
                <a:latin typeface="Courier New"/>
                <a:cs typeface="Courier New"/>
              </a:rPr>
              <a:t>ZONE</a:t>
            </a:r>
            <a:r>
              <a:rPr dirty="0" sz="1300" spc="-114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1700">
                <a:solidFill>
                  <a:srgbClr val="0F1A3A"/>
                </a:solidFill>
                <a:latin typeface="Calibri"/>
                <a:cs typeface="Calibri"/>
              </a:rPr>
              <a:t>Master</a:t>
            </a:r>
            <a:r>
              <a:rPr dirty="0" sz="1700" spc="26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700" spc="55">
                <a:solidFill>
                  <a:srgbClr val="0F1A3A"/>
                </a:solidFill>
                <a:latin typeface="Calibri"/>
                <a:cs typeface="Calibri"/>
              </a:rPr>
              <a:t>Data</a:t>
            </a:r>
            <a:endParaRPr sz="1700">
              <a:latin typeface="Calibri"/>
              <a:cs typeface="Calibri"/>
            </a:endParaRPr>
          </a:p>
          <a:p>
            <a:pPr marL="12700" marR="5080">
              <a:lnSpc>
                <a:spcPct val="176900"/>
              </a:lnSpc>
              <a:spcBef>
                <a:spcPts val="185"/>
              </a:spcBef>
            </a:pPr>
            <a:r>
              <a:rPr dirty="0" sz="1250" spc="70">
                <a:solidFill>
                  <a:srgbClr val="4A5372"/>
                </a:solidFill>
                <a:latin typeface="Calibri"/>
                <a:cs typeface="Calibri"/>
              </a:rPr>
              <a:t>Catalog</a:t>
            </a:r>
            <a:r>
              <a:rPr dirty="0" sz="1250" spc="15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A5372"/>
                </a:solidFill>
                <a:latin typeface="Calibri"/>
                <a:cs typeface="Calibri"/>
              </a:rPr>
              <a:t>definitions </a:t>
            </a:r>
            <a:r>
              <a:rPr dirty="0" sz="1350" spc="-10" b="1">
                <a:solidFill>
                  <a:srgbClr val="0F1A3A"/>
                </a:solidFill>
                <a:latin typeface="Courier New"/>
                <a:cs typeface="Courier New"/>
              </a:rPr>
              <a:t>Destination Package </a:t>
            </a:r>
            <a:r>
              <a:rPr dirty="0" sz="1350" spc="-35" b="1">
                <a:solidFill>
                  <a:srgbClr val="0F1A3A"/>
                </a:solidFill>
                <a:latin typeface="Courier New"/>
                <a:cs typeface="Courier New"/>
              </a:rPr>
              <a:t>Itinerary</a:t>
            </a:r>
            <a:r>
              <a:rPr dirty="0" sz="1350" spc="-145" b="1">
                <a:solidFill>
                  <a:srgbClr val="0F1A3A"/>
                </a:solidFill>
                <a:latin typeface="Courier New"/>
                <a:cs typeface="Courier New"/>
              </a:rPr>
              <a:t> </a:t>
            </a:r>
            <a:r>
              <a:rPr dirty="0" sz="1350" spc="-25" b="1">
                <a:solidFill>
                  <a:srgbClr val="0F1A3A"/>
                </a:solidFill>
                <a:latin typeface="Courier New"/>
                <a:cs typeface="Courier New"/>
              </a:rPr>
              <a:t>Day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28900" y="1714500"/>
            <a:ext cx="1924050" cy="152400"/>
          </a:xfrm>
          <a:custGeom>
            <a:avLst/>
            <a:gdLst/>
            <a:ahLst/>
            <a:cxnLst/>
            <a:rect l="l" t="t" r="r" b="b"/>
            <a:pathLst>
              <a:path w="1924050" h="152400">
                <a:moveTo>
                  <a:pt x="0" y="152399"/>
                </a:moveTo>
                <a:lnTo>
                  <a:pt x="6525" y="108226"/>
                </a:lnTo>
                <a:lnTo>
                  <a:pt x="25659" y="67715"/>
                </a:lnTo>
                <a:lnTo>
                  <a:pt x="55765" y="34533"/>
                </a:lnTo>
                <a:lnTo>
                  <a:pt x="94078" y="11600"/>
                </a:lnTo>
                <a:lnTo>
                  <a:pt x="137387" y="725"/>
                </a:lnTo>
                <a:lnTo>
                  <a:pt x="152399" y="0"/>
                </a:lnTo>
                <a:lnTo>
                  <a:pt x="1771649" y="0"/>
                </a:lnTo>
                <a:lnTo>
                  <a:pt x="1815823" y="6525"/>
                </a:lnTo>
                <a:lnTo>
                  <a:pt x="1856334" y="25659"/>
                </a:lnTo>
                <a:lnTo>
                  <a:pt x="1889515" y="55765"/>
                </a:lnTo>
                <a:lnTo>
                  <a:pt x="1890543" y="57149"/>
                </a:lnTo>
                <a:lnTo>
                  <a:pt x="152399" y="57149"/>
                </a:lnTo>
                <a:lnTo>
                  <a:pt x="137387" y="57603"/>
                </a:lnTo>
                <a:lnTo>
                  <a:pt x="94078" y="64400"/>
                </a:lnTo>
                <a:lnTo>
                  <a:pt x="55765" y="78733"/>
                </a:lnTo>
                <a:lnTo>
                  <a:pt x="18015" y="107453"/>
                </a:lnTo>
                <a:lnTo>
                  <a:pt x="725" y="143016"/>
                </a:lnTo>
                <a:lnTo>
                  <a:pt x="0" y="152399"/>
                </a:lnTo>
                <a:close/>
              </a:path>
              <a:path w="1924050" h="152400">
                <a:moveTo>
                  <a:pt x="1924049" y="152399"/>
                </a:moveTo>
                <a:lnTo>
                  <a:pt x="1912448" y="115949"/>
                </a:lnTo>
                <a:lnTo>
                  <a:pt x="1879412" y="85048"/>
                </a:lnTo>
                <a:lnTo>
                  <a:pt x="1843563" y="68409"/>
                </a:lnTo>
                <a:lnTo>
                  <a:pt x="1801387" y="58962"/>
                </a:lnTo>
                <a:lnTo>
                  <a:pt x="1771649" y="57149"/>
                </a:lnTo>
                <a:lnTo>
                  <a:pt x="1890543" y="57149"/>
                </a:lnTo>
                <a:lnTo>
                  <a:pt x="1912448" y="94078"/>
                </a:lnTo>
                <a:lnTo>
                  <a:pt x="1923324" y="137387"/>
                </a:lnTo>
                <a:lnTo>
                  <a:pt x="1924049" y="152399"/>
                </a:lnTo>
                <a:close/>
              </a:path>
            </a:pathLst>
          </a:custGeom>
          <a:solidFill>
            <a:srgbClr val="1F4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57499" y="2000249"/>
            <a:ext cx="828675" cy="257175"/>
          </a:xfrm>
          <a:custGeom>
            <a:avLst/>
            <a:gdLst/>
            <a:ahLst/>
            <a:cxnLst/>
            <a:rect l="l" t="t" r="r" b="b"/>
            <a:pathLst>
              <a:path w="828675" h="257175">
                <a:moveTo>
                  <a:pt x="708530" y="257174"/>
                </a:moveTo>
                <a:lnTo>
                  <a:pt x="120144" y="257174"/>
                </a:lnTo>
                <a:lnTo>
                  <a:pt x="111782" y="256351"/>
                </a:lnTo>
                <a:lnTo>
                  <a:pt x="71578" y="244155"/>
                </a:lnTo>
                <a:lnTo>
                  <a:pt x="31692" y="213542"/>
                </a:lnTo>
                <a:lnTo>
                  <a:pt x="6556" y="169994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4"/>
                </a:lnTo>
                <a:lnTo>
                  <a:pt x="13019" y="71578"/>
                </a:lnTo>
                <a:lnTo>
                  <a:pt x="43632" y="31691"/>
                </a:lnTo>
                <a:lnTo>
                  <a:pt x="87179" y="6556"/>
                </a:lnTo>
                <a:lnTo>
                  <a:pt x="120144" y="0"/>
                </a:lnTo>
                <a:lnTo>
                  <a:pt x="708530" y="0"/>
                </a:lnTo>
                <a:lnTo>
                  <a:pt x="757095" y="13018"/>
                </a:lnTo>
                <a:lnTo>
                  <a:pt x="796982" y="43632"/>
                </a:lnTo>
                <a:lnTo>
                  <a:pt x="822117" y="87179"/>
                </a:lnTo>
                <a:lnTo>
                  <a:pt x="828674" y="120144"/>
                </a:lnTo>
                <a:lnTo>
                  <a:pt x="828674" y="137030"/>
                </a:lnTo>
                <a:lnTo>
                  <a:pt x="815655" y="185595"/>
                </a:lnTo>
                <a:lnTo>
                  <a:pt x="785042" y="225482"/>
                </a:lnTo>
                <a:lnTo>
                  <a:pt x="741495" y="250617"/>
                </a:lnTo>
                <a:lnTo>
                  <a:pt x="716892" y="256351"/>
                </a:lnTo>
                <a:lnTo>
                  <a:pt x="708530" y="257174"/>
                </a:lnTo>
                <a:close/>
              </a:path>
            </a:pathLst>
          </a:custGeom>
          <a:solidFill>
            <a:srgbClr val="1F4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845544" y="1909675"/>
            <a:ext cx="1437005" cy="2138045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835"/>
              </a:spcBef>
            </a:pPr>
            <a:r>
              <a:rPr dirty="0" sz="1300">
                <a:solidFill>
                  <a:srgbClr val="FFFFFF"/>
                </a:solidFill>
                <a:latin typeface="Courier New"/>
                <a:cs typeface="Courier New"/>
              </a:rPr>
              <a:t>ZONE</a:t>
            </a:r>
            <a:r>
              <a:rPr dirty="0" sz="1300" spc="-114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Courier New"/>
                <a:cs typeface="Courier New"/>
              </a:rPr>
              <a:t>2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1700" spc="50">
                <a:solidFill>
                  <a:srgbClr val="0F1A3A"/>
                </a:solidFill>
                <a:latin typeface="Calibri"/>
                <a:cs typeface="Calibri"/>
              </a:rPr>
              <a:t>Resources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1250" spc="10">
                <a:solidFill>
                  <a:srgbClr val="4A5372"/>
                </a:solidFill>
                <a:latin typeface="Calibri"/>
                <a:cs typeface="Calibri"/>
              </a:rPr>
              <a:t>Field</a:t>
            </a:r>
            <a:r>
              <a:rPr dirty="0" sz="1250" spc="240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 spc="10">
                <a:solidFill>
                  <a:srgbClr val="4A5372"/>
                </a:solidFill>
                <a:latin typeface="Calibri"/>
                <a:cs typeface="Calibri"/>
              </a:rPr>
              <a:t>logistics</a:t>
            </a:r>
            <a:r>
              <a:rPr dirty="0" sz="1250" spc="245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A5372"/>
                </a:solidFill>
                <a:latin typeface="Calibri"/>
                <a:cs typeface="Calibri"/>
              </a:rPr>
              <a:t>assets</a:t>
            </a:r>
            <a:endParaRPr sz="1250">
              <a:latin typeface="Calibri"/>
              <a:cs typeface="Calibri"/>
            </a:endParaRPr>
          </a:p>
          <a:p>
            <a:pPr marL="12700" marR="534670">
              <a:lnSpc>
                <a:spcPct val="173600"/>
              </a:lnSpc>
              <a:spcBef>
                <a:spcPts val="60"/>
              </a:spcBef>
            </a:pPr>
            <a:r>
              <a:rPr dirty="0" sz="1350" spc="-10" b="1">
                <a:solidFill>
                  <a:srgbClr val="0F1A3A"/>
                </a:solidFill>
                <a:latin typeface="Courier New"/>
                <a:cs typeface="Courier New"/>
              </a:rPr>
              <a:t>Guide Hotel </a:t>
            </a:r>
            <a:r>
              <a:rPr dirty="0" sz="1350" spc="-55" b="1">
                <a:solidFill>
                  <a:srgbClr val="0F1A3A"/>
                </a:solidFill>
                <a:latin typeface="Courier New"/>
                <a:cs typeface="Courier New"/>
              </a:rPr>
              <a:t>Transport</a:t>
            </a:r>
            <a:endParaRPr sz="135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05349" y="1714499"/>
            <a:ext cx="2781300" cy="3152775"/>
            <a:chOff x="4705349" y="1714499"/>
            <a:chExt cx="2781300" cy="3152775"/>
          </a:xfrm>
        </p:grpSpPr>
        <p:sp>
          <p:nvSpPr>
            <p:cNvPr id="13" name="object 13"/>
            <p:cNvSpPr/>
            <p:nvPr/>
          </p:nvSpPr>
          <p:spPr>
            <a:xfrm>
              <a:off x="4705349" y="1714499"/>
              <a:ext cx="2781300" cy="3152775"/>
            </a:xfrm>
            <a:custGeom>
              <a:avLst/>
              <a:gdLst/>
              <a:ahLst/>
              <a:cxnLst/>
              <a:rect l="l" t="t" r="r" b="b"/>
              <a:pathLst>
                <a:path w="2781300" h="3152775">
                  <a:moveTo>
                    <a:pt x="2781299" y="3152774"/>
                  </a:moveTo>
                  <a:lnTo>
                    <a:pt x="0" y="3152774"/>
                  </a:lnTo>
                  <a:lnTo>
                    <a:pt x="0" y="0"/>
                  </a:lnTo>
                  <a:lnTo>
                    <a:pt x="2781299" y="0"/>
                  </a:lnTo>
                  <a:lnTo>
                    <a:pt x="2781299" y="3152774"/>
                  </a:lnTo>
                  <a:close/>
                </a:path>
              </a:pathLst>
            </a:custGeom>
            <a:solidFill>
              <a:srgbClr val="0F1A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933949" y="1943099"/>
              <a:ext cx="1400175" cy="257175"/>
            </a:xfrm>
            <a:custGeom>
              <a:avLst/>
              <a:gdLst/>
              <a:ahLst/>
              <a:cxnLst/>
              <a:rect l="l" t="t" r="r" b="b"/>
              <a:pathLst>
                <a:path w="1400175" h="257175">
                  <a:moveTo>
                    <a:pt x="1280030" y="257174"/>
                  </a:moveTo>
                  <a:lnTo>
                    <a:pt x="120143" y="257174"/>
                  </a:lnTo>
                  <a:lnTo>
                    <a:pt x="111781" y="256351"/>
                  </a:lnTo>
                  <a:lnTo>
                    <a:pt x="71578" y="244155"/>
                  </a:lnTo>
                  <a:lnTo>
                    <a:pt x="31691" y="213542"/>
                  </a:lnTo>
                  <a:lnTo>
                    <a:pt x="6555" y="169995"/>
                  </a:lnTo>
                  <a:lnTo>
                    <a:pt x="0" y="137030"/>
                  </a:lnTo>
                  <a:lnTo>
                    <a:pt x="0" y="128587"/>
                  </a:lnTo>
                  <a:lnTo>
                    <a:pt x="0" y="120144"/>
                  </a:lnTo>
                  <a:lnTo>
                    <a:pt x="13018" y="71578"/>
                  </a:lnTo>
                  <a:lnTo>
                    <a:pt x="43632" y="31691"/>
                  </a:lnTo>
                  <a:lnTo>
                    <a:pt x="87178" y="6556"/>
                  </a:lnTo>
                  <a:lnTo>
                    <a:pt x="120143" y="0"/>
                  </a:lnTo>
                  <a:lnTo>
                    <a:pt x="1280030" y="0"/>
                  </a:lnTo>
                  <a:lnTo>
                    <a:pt x="1328595" y="13018"/>
                  </a:lnTo>
                  <a:lnTo>
                    <a:pt x="1368482" y="43632"/>
                  </a:lnTo>
                  <a:lnTo>
                    <a:pt x="1393617" y="87179"/>
                  </a:lnTo>
                  <a:lnTo>
                    <a:pt x="1400174" y="120144"/>
                  </a:lnTo>
                  <a:lnTo>
                    <a:pt x="1400174" y="137030"/>
                  </a:lnTo>
                  <a:lnTo>
                    <a:pt x="1387155" y="185596"/>
                  </a:lnTo>
                  <a:lnTo>
                    <a:pt x="1356542" y="225482"/>
                  </a:lnTo>
                  <a:lnTo>
                    <a:pt x="1312994" y="250617"/>
                  </a:lnTo>
                  <a:lnTo>
                    <a:pt x="1288392" y="256351"/>
                  </a:lnTo>
                  <a:lnTo>
                    <a:pt x="1280030" y="257174"/>
                  </a:lnTo>
                  <a:close/>
                </a:path>
              </a:pathLst>
            </a:custGeom>
            <a:solidFill>
              <a:srgbClr val="FF832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705349" y="1714499"/>
            <a:ext cx="2781300" cy="315277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30"/>
              </a:spcBef>
            </a:pPr>
            <a:endParaRPr sz="1300">
              <a:latin typeface="Times New Roman"/>
              <a:cs typeface="Times New Roman"/>
            </a:endParaRPr>
          </a:p>
          <a:p>
            <a:pPr marL="350520">
              <a:lnSpc>
                <a:spcPct val="100000"/>
              </a:lnSpc>
            </a:pPr>
            <a:r>
              <a:rPr dirty="0" sz="1300">
                <a:latin typeface="Courier New"/>
                <a:cs typeface="Courier New"/>
              </a:rPr>
              <a:t>ZONE</a:t>
            </a:r>
            <a:r>
              <a:rPr dirty="0" sz="1300" spc="-70">
                <a:latin typeface="Courier New"/>
                <a:cs typeface="Courier New"/>
              </a:rPr>
              <a:t> </a:t>
            </a:r>
            <a:r>
              <a:rPr dirty="0" sz="1300">
                <a:latin typeface="Courier New"/>
                <a:cs typeface="Courier New"/>
              </a:rPr>
              <a:t>3</a:t>
            </a:r>
            <a:r>
              <a:rPr dirty="0" sz="1300" spc="-70">
                <a:latin typeface="Courier New"/>
                <a:cs typeface="Courier New"/>
              </a:rPr>
              <a:t> </a:t>
            </a:r>
            <a:r>
              <a:rPr dirty="0" sz="1300">
                <a:latin typeface="Courier New"/>
                <a:cs typeface="Courier New"/>
              </a:rPr>
              <a:t>·</a:t>
            </a:r>
            <a:r>
              <a:rPr dirty="0" sz="1300" spc="-65">
                <a:latin typeface="Courier New"/>
                <a:cs typeface="Courier New"/>
              </a:rPr>
              <a:t> </a:t>
            </a:r>
            <a:r>
              <a:rPr dirty="0" sz="1300" spc="-25">
                <a:latin typeface="Courier New"/>
                <a:cs typeface="Courier New"/>
              </a:rPr>
              <a:t>HUB</a:t>
            </a:r>
            <a:endParaRPr sz="1300">
              <a:latin typeface="Courier New"/>
              <a:cs typeface="Courier New"/>
            </a:endParaRPr>
          </a:p>
          <a:p>
            <a:pPr marL="223520">
              <a:lnSpc>
                <a:spcPct val="100000"/>
              </a:lnSpc>
              <a:spcBef>
                <a:spcPts val="990"/>
              </a:spcBef>
            </a:pPr>
            <a:r>
              <a:rPr dirty="0" sz="1900" spc="65">
                <a:solidFill>
                  <a:srgbClr val="FF8320"/>
                </a:solidFill>
                <a:latin typeface="Calibri"/>
                <a:cs typeface="Calibri"/>
              </a:rPr>
              <a:t>Departure</a:t>
            </a:r>
            <a:endParaRPr sz="1900">
              <a:latin typeface="Calibri"/>
              <a:cs typeface="Calibri"/>
            </a:endParaRPr>
          </a:p>
          <a:p>
            <a:pPr marL="223520">
              <a:lnSpc>
                <a:spcPct val="100000"/>
              </a:lnSpc>
              <a:spcBef>
                <a:spcPts val="1370"/>
              </a:spcBef>
            </a:pPr>
            <a:r>
              <a:rPr dirty="0" sz="1250" spc="55">
                <a:solidFill>
                  <a:srgbClr val="E9F0FF"/>
                </a:solidFill>
                <a:latin typeface="Calibri"/>
                <a:cs typeface="Calibri"/>
              </a:rPr>
              <a:t>Bridging</a:t>
            </a:r>
            <a:r>
              <a:rPr dirty="0" sz="1250" spc="30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250" spc="60">
                <a:solidFill>
                  <a:srgbClr val="E9F0FF"/>
                </a:solidFill>
                <a:latin typeface="Calibri"/>
                <a:cs typeface="Calibri"/>
              </a:rPr>
              <a:t>Nexus</a:t>
            </a:r>
            <a:r>
              <a:rPr dirty="0" sz="1250" spc="35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E9F0FF"/>
                </a:solidFill>
                <a:latin typeface="Calibri"/>
                <a:cs typeface="Calibri"/>
              </a:rPr>
              <a:t>Entity</a:t>
            </a:r>
            <a:endParaRPr sz="1250">
              <a:latin typeface="Calibri"/>
              <a:cs typeface="Calibri"/>
            </a:endParaRPr>
          </a:p>
          <a:p>
            <a:pPr marL="223520" marR="284480">
              <a:lnSpc>
                <a:spcPct val="117300"/>
              </a:lnSpc>
              <a:spcBef>
                <a:spcPts val="895"/>
              </a:spcBef>
            </a:pP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Binds</a:t>
            </a:r>
            <a:r>
              <a:rPr dirty="0" sz="135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65">
                <a:solidFill>
                  <a:srgbClr val="FFFFFF"/>
                </a:solidFill>
                <a:latin typeface="Calibri"/>
                <a:cs typeface="Calibri"/>
              </a:rPr>
              <a:t>Package</a:t>
            </a:r>
            <a:r>
              <a:rPr dirty="0" sz="135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135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70">
                <a:solidFill>
                  <a:srgbClr val="FFFFFF"/>
                </a:solidFill>
                <a:latin typeface="Calibri"/>
                <a:cs typeface="Calibri"/>
              </a:rPr>
              <a:t>Guide</a:t>
            </a:r>
            <a:r>
              <a:rPr dirty="0" sz="135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50">
                <a:solidFill>
                  <a:srgbClr val="FFFFFF"/>
                </a:solidFill>
                <a:latin typeface="Calibri"/>
                <a:cs typeface="Calibri"/>
              </a:rPr>
              <a:t>+ </a:t>
            </a: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Transport</a:t>
            </a:r>
            <a:r>
              <a:rPr dirty="0" sz="1350" spc="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350" spc="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55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350" spc="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50">
                <a:solidFill>
                  <a:srgbClr val="FFFFFF"/>
                </a:solidFill>
                <a:latin typeface="Calibri"/>
                <a:cs typeface="Calibri"/>
              </a:rPr>
              <a:t>specific</a:t>
            </a:r>
            <a:r>
              <a:rPr dirty="0" sz="1350" spc="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30">
                <a:solidFill>
                  <a:srgbClr val="FFFFFF"/>
                </a:solidFill>
                <a:latin typeface="Calibri"/>
                <a:cs typeface="Calibri"/>
              </a:rPr>
              <a:t>date </a:t>
            </a: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window,</a:t>
            </a:r>
            <a:r>
              <a:rPr dirty="0" sz="1350" spc="1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seat</a:t>
            </a:r>
            <a:r>
              <a:rPr dirty="0" sz="1350" spc="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quota,</a:t>
            </a:r>
            <a:r>
              <a:rPr dirty="0" sz="1350" spc="1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6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350" spc="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price schedule.</a:t>
            </a:r>
            <a:endParaRPr sz="1350">
              <a:latin typeface="Calibri"/>
              <a:cs typeface="Calibri"/>
            </a:endParaRPr>
          </a:p>
          <a:p>
            <a:pPr marL="223520" marR="686435">
              <a:lnSpc>
                <a:spcPct val="120400"/>
              </a:lnSpc>
              <a:spcBef>
                <a:spcPts val="825"/>
              </a:spcBef>
            </a:pPr>
            <a:r>
              <a:rPr dirty="0" sz="1350" spc="-30">
                <a:solidFill>
                  <a:srgbClr val="FF8320"/>
                </a:solidFill>
                <a:latin typeface="Courier New"/>
                <a:cs typeface="Courier New"/>
              </a:rPr>
              <a:t>Central</a:t>
            </a:r>
            <a:r>
              <a:rPr dirty="0" sz="1350" spc="-90">
                <a:solidFill>
                  <a:srgbClr val="FF8320"/>
                </a:solidFill>
                <a:latin typeface="Courier New"/>
                <a:cs typeface="Courier New"/>
              </a:rPr>
              <a:t> </a:t>
            </a:r>
            <a:r>
              <a:rPr dirty="0" sz="1350" spc="-55">
                <a:solidFill>
                  <a:srgbClr val="FF8320"/>
                </a:solidFill>
                <a:latin typeface="Courier New"/>
                <a:cs typeface="Courier New"/>
              </a:rPr>
              <a:t>foreign-</a:t>
            </a:r>
            <a:r>
              <a:rPr dirty="0" sz="1350" spc="-30">
                <a:solidFill>
                  <a:srgbClr val="FF8320"/>
                </a:solidFill>
                <a:latin typeface="Courier New"/>
                <a:cs typeface="Courier New"/>
              </a:rPr>
              <a:t>key </a:t>
            </a:r>
            <a:r>
              <a:rPr dirty="0" sz="1350" spc="-10">
                <a:solidFill>
                  <a:srgbClr val="FF8320"/>
                </a:solidFill>
                <a:latin typeface="Courier New"/>
                <a:cs typeface="Courier New"/>
              </a:rPr>
              <a:t>pivot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639050" y="1714500"/>
            <a:ext cx="1924050" cy="152400"/>
          </a:xfrm>
          <a:custGeom>
            <a:avLst/>
            <a:gdLst/>
            <a:ahLst/>
            <a:cxnLst/>
            <a:rect l="l" t="t" r="r" b="b"/>
            <a:pathLst>
              <a:path w="1924050" h="152400">
                <a:moveTo>
                  <a:pt x="0" y="152399"/>
                </a:moveTo>
                <a:lnTo>
                  <a:pt x="6525" y="108226"/>
                </a:lnTo>
                <a:lnTo>
                  <a:pt x="25659" y="67715"/>
                </a:lnTo>
                <a:lnTo>
                  <a:pt x="55764" y="34533"/>
                </a:lnTo>
                <a:lnTo>
                  <a:pt x="94078" y="11600"/>
                </a:lnTo>
                <a:lnTo>
                  <a:pt x="137387" y="725"/>
                </a:lnTo>
                <a:lnTo>
                  <a:pt x="152399" y="0"/>
                </a:lnTo>
                <a:lnTo>
                  <a:pt x="1771649" y="0"/>
                </a:lnTo>
                <a:lnTo>
                  <a:pt x="1815822" y="6525"/>
                </a:lnTo>
                <a:lnTo>
                  <a:pt x="1856334" y="25659"/>
                </a:lnTo>
                <a:lnTo>
                  <a:pt x="1889515" y="55765"/>
                </a:lnTo>
                <a:lnTo>
                  <a:pt x="1890543" y="57149"/>
                </a:lnTo>
                <a:lnTo>
                  <a:pt x="152399" y="57149"/>
                </a:lnTo>
                <a:lnTo>
                  <a:pt x="137387" y="57603"/>
                </a:lnTo>
                <a:lnTo>
                  <a:pt x="94078" y="64400"/>
                </a:lnTo>
                <a:lnTo>
                  <a:pt x="55764" y="78733"/>
                </a:lnTo>
                <a:lnTo>
                  <a:pt x="18015" y="107453"/>
                </a:lnTo>
                <a:lnTo>
                  <a:pt x="724" y="143016"/>
                </a:lnTo>
                <a:lnTo>
                  <a:pt x="0" y="152399"/>
                </a:lnTo>
                <a:close/>
              </a:path>
              <a:path w="1924050" h="152400">
                <a:moveTo>
                  <a:pt x="1924049" y="152399"/>
                </a:moveTo>
                <a:lnTo>
                  <a:pt x="1912448" y="115949"/>
                </a:lnTo>
                <a:lnTo>
                  <a:pt x="1879412" y="85048"/>
                </a:lnTo>
                <a:lnTo>
                  <a:pt x="1843563" y="68409"/>
                </a:lnTo>
                <a:lnTo>
                  <a:pt x="1801386" y="58962"/>
                </a:lnTo>
                <a:lnTo>
                  <a:pt x="1771649" y="57149"/>
                </a:lnTo>
                <a:lnTo>
                  <a:pt x="1890543" y="57149"/>
                </a:lnTo>
                <a:lnTo>
                  <a:pt x="1912448" y="94078"/>
                </a:lnTo>
                <a:lnTo>
                  <a:pt x="1923324" y="137387"/>
                </a:lnTo>
                <a:lnTo>
                  <a:pt x="1924049" y="152399"/>
                </a:lnTo>
                <a:close/>
              </a:path>
            </a:pathLst>
          </a:custGeom>
          <a:solidFill>
            <a:srgbClr val="FF83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867649" y="2000249"/>
            <a:ext cx="838200" cy="257175"/>
          </a:xfrm>
          <a:custGeom>
            <a:avLst/>
            <a:gdLst/>
            <a:ahLst/>
            <a:cxnLst/>
            <a:rect l="l" t="t" r="r" b="b"/>
            <a:pathLst>
              <a:path w="838200" h="257175">
                <a:moveTo>
                  <a:pt x="718055" y="257174"/>
                </a:moveTo>
                <a:lnTo>
                  <a:pt x="120144" y="257174"/>
                </a:lnTo>
                <a:lnTo>
                  <a:pt x="111782" y="256351"/>
                </a:lnTo>
                <a:lnTo>
                  <a:pt x="71578" y="244155"/>
                </a:lnTo>
                <a:lnTo>
                  <a:pt x="31691" y="213542"/>
                </a:lnTo>
                <a:lnTo>
                  <a:pt x="6556" y="169994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4"/>
                </a:lnTo>
                <a:lnTo>
                  <a:pt x="13018" y="71578"/>
                </a:lnTo>
                <a:lnTo>
                  <a:pt x="43631" y="31691"/>
                </a:lnTo>
                <a:lnTo>
                  <a:pt x="87178" y="6556"/>
                </a:lnTo>
                <a:lnTo>
                  <a:pt x="120144" y="0"/>
                </a:lnTo>
                <a:lnTo>
                  <a:pt x="718055" y="0"/>
                </a:lnTo>
                <a:lnTo>
                  <a:pt x="766620" y="13018"/>
                </a:lnTo>
                <a:lnTo>
                  <a:pt x="806507" y="43632"/>
                </a:lnTo>
                <a:lnTo>
                  <a:pt x="831642" y="87179"/>
                </a:lnTo>
                <a:lnTo>
                  <a:pt x="838199" y="120144"/>
                </a:lnTo>
                <a:lnTo>
                  <a:pt x="838199" y="137030"/>
                </a:lnTo>
                <a:lnTo>
                  <a:pt x="825180" y="185595"/>
                </a:lnTo>
                <a:lnTo>
                  <a:pt x="794566" y="225482"/>
                </a:lnTo>
                <a:lnTo>
                  <a:pt x="751019" y="250617"/>
                </a:lnTo>
                <a:lnTo>
                  <a:pt x="726417" y="256351"/>
                </a:lnTo>
                <a:lnTo>
                  <a:pt x="718055" y="257174"/>
                </a:lnTo>
                <a:close/>
              </a:path>
            </a:pathLst>
          </a:custGeom>
          <a:solidFill>
            <a:srgbClr val="FF83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859414" y="1909675"/>
            <a:ext cx="1226185" cy="2138045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835"/>
              </a:spcBef>
            </a:pPr>
            <a:r>
              <a:rPr dirty="0" sz="1300">
                <a:latin typeface="Courier New"/>
                <a:cs typeface="Courier New"/>
              </a:rPr>
              <a:t>ZONE</a:t>
            </a:r>
            <a:r>
              <a:rPr dirty="0" sz="1300" spc="-114">
                <a:latin typeface="Courier New"/>
                <a:cs typeface="Courier New"/>
              </a:rPr>
              <a:t> </a:t>
            </a:r>
            <a:r>
              <a:rPr dirty="0" sz="1300" spc="-50">
                <a:latin typeface="Courier New"/>
                <a:cs typeface="Courier New"/>
              </a:rPr>
              <a:t>4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1700" spc="40">
                <a:solidFill>
                  <a:srgbClr val="0F1A3A"/>
                </a:solidFill>
                <a:latin typeface="Calibri"/>
                <a:cs typeface="Calibri"/>
              </a:rPr>
              <a:t>Transactions</a:t>
            </a:r>
            <a:endParaRPr sz="1700">
              <a:latin typeface="Calibri"/>
              <a:cs typeface="Calibri"/>
            </a:endParaRPr>
          </a:p>
          <a:p>
            <a:pPr marL="12700" marR="29845">
              <a:lnSpc>
                <a:spcPct val="176900"/>
              </a:lnSpc>
              <a:spcBef>
                <a:spcPts val="185"/>
              </a:spcBef>
            </a:pPr>
            <a:r>
              <a:rPr dirty="0" sz="1250" spc="45">
                <a:solidFill>
                  <a:srgbClr val="4A5372"/>
                </a:solidFill>
                <a:latin typeface="Calibri"/>
                <a:cs typeface="Calibri"/>
              </a:rPr>
              <a:t>Customer</a:t>
            </a:r>
            <a:r>
              <a:rPr dirty="0" sz="1250" spc="50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A5372"/>
                </a:solidFill>
                <a:latin typeface="Calibri"/>
                <a:cs typeface="Calibri"/>
              </a:rPr>
              <a:t>orders </a:t>
            </a:r>
            <a:r>
              <a:rPr dirty="0" sz="1350" spc="-10" b="1">
                <a:solidFill>
                  <a:srgbClr val="0F1A3A"/>
                </a:solidFill>
                <a:latin typeface="Courier New"/>
                <a:cs typeface="Courier New"/>
              </a:rPr>
              <a:t>Customer Booking Traveller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715500" y="1714500"/>
            <a:ext cx="1914525" cy="152400"/>
          </a:xfrm>
          <a:custGeom>
            <a:avLst/>
            <a:gdLst/>
            <a:ahLst/>
            <a:cxnLst/>
            <a:rect l="l" t="t" r="r" b="b"/>
            <a:pathLst>
              <a:path w="1914525" h="152400">
                <a:moveTo>
                  <a:pt x="0" y="152399"/>
                </a:moveTo>
                <a:lnTo>
                  <a:pt x="6525" y="108226"/>
                </a:lnTo>
                <a:lnTo>
                  <a:pt x="25659" y="67715"/>
                </a:lnTo>
                <a:lnTo>
                  <a:pt x="55764" y="34533"/>
                </a:lnTo>
                <a:lnTo>
                  <a:pt x="94078" y="11600"/>
                </a:lnTo>
                <a:lnTo>
                  <a:pt x="137386" y="725"/>
                </a:lnTo>
                <a:lnTo>
                  <a:pt x="152399" y="0"/>
                </a:lnTo>
                <a:lnTo>
                  <a:pt x="1762124" y="0"/>
                </a:lnTo>
                <a:lnTo>
                  <a:pt x="1806297" y="6525"/>
                </a:lnTo>
                <a:lnTo>
                  <a:pt x="1846808" y="25659"/>
                </a:lnTo>
                <a:lnTo>
                  <a:pt x="1879989" y="55765"/>
                </a:lnTo>
                <a:lnTo>
                  <a:pt x="1881018" y="57149"/>
                </a:lnTo>
                <a:lnTo>
                  <a:pt x="152399" y="57149"/>
                </a:lnTo>
                <a:lnTo>
                  <a:pt x="137386" y="57603"/>
                </a:lnTo>
                <a:lnTo>
                  <a:pt x="94078" y="64400"/>
                </a:lnTo>
                <a:lnTo>
                  <a:pt x="55764" y="78733"/>
                </a:lnTo>
                <a:lnTo>
                  <a:pt x="18015" y="107453"/>
                </a:lnTo>
                <a:lnTo>
                  <a:pt x="724" y="143016"/>
                </a:lnTo>
                <a:lnTo>
                  <a:pt x="0" y="152399"/>
                </a:lnTo>
                <a:close/>
              </a:path>
              <a:path w="1914525" h="152400">
                <a:moveTo>
                  <a:pt x="1914524" y="152399"/>
                </a:moveTo>
                <a:lnTo>
                  <a:pt x="1902923" y="115949"/>
                </a:lnTo>
                <a:lnTo>
                  <a:pt x="1869886" y="85048"/>
                </a:lnTo>
                <a:lnTo>
                  <a:pt x="1834037" y="68409"/>
                </a:lnTo>
                <a:lnTo>
                  <a:pt x="1791861" y="58962"/>
                </a:lnTo>
                <a:lnTo>
                  <a:pt x="1762124" y="57149"/>
                </a:lnTo>
                <a:lnTo>
                  <a:pt x="1881018" y="57149"/>
                </a:lnTo>
                <a:lnTo>
                  <a:pt x="1902923" y="94078"/>
                </a:lnTo>
                <a:lnTo>
                  <a:pt x="1913799" y="137387"/>
                </a:lnTo>
                <a:lnTo>
                  <a:pt x="1914524" y="152399"/>
                </a:lnTo>
                <a:close/>
              </a:path>
            </a:pathLst>
          </a:custGeom>
          <a:solidFill>
            <a:srgbClr val="D512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944098" y="2000249"/>
            <a:ext cx="828675" cy="257175"/>
          </a:xfrm>
          <a:custGeom>
            <a:avLst/>
            <a:gdLst/>
            <a:ahLst/>
            <a:cxnLst/>
            <a:rect l="l" t="t" r="r" b="b"/>
            <a:pathLst>
              <a:path w="828675" h="257175">
                <a:moveTo>
                  <a:pt x="708531" y="257174"/>
                </a:moveTo>
                <a:lnTo>
                  <a:pt x="120145" y="257174"/>
                </a:lnTo>
                <a:lnTo>
                  <a:pt x="111782" y="256351"/>
                </a:lnTo>
                <a:lnTo>
                  <a:pt x="71578" y="244155"/>
                </a:lnTo>
                <a:lnTo>
                  <a:pt x="31692" y="213542"/>
                </a:lnTo>
                <a:lnTo>
                  <a:pt x="6556" y="169994"/>
                </a:lnTo>
                <a:lnTo>
                  <a:pt x="0" y="137030"/>
                </a:lnTo>
                <a:lnTo>
                  <a:pt x="1" y="128587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1"/>
                </a:lnTo>
                <a:lnTo>
                  <a:pt x="87179" y="6556"/>
                </a:lnTo>
                <a:lnTo>
                  <a:pt x="120145" y="0"/>
                </a:lnTo>
                <a:lnTo>
                  <a:pt x="708531" y="0"/>
                </a:lnTo>
                <a:lnTo>
                  <a:pt x="757096" y="13018"/>
                </a:lnTo>
                <a:lnTo>
                  <a:pt x="796983" y="43632"/>
                </a:lnTo>
                <a:lnTo>
                  <a:pt x="822118" y="87179"/>
                </a:lnTo>
                <a:lnTo>
                  <a:pt x="828674" y="120144"/>
                </a:lnTo>
                <a:lnTo>
                  <a:pt x="828674" y="137030"/>
                </a:lnTo>
                <a:lnTo>
                  <a:pt x="815655" y="185595"/>
                </a:lnTo>
                <a:lnTo>
                  <a:pt x="785042" y="225482"/>
                </a:lnTo>
                <a:lnTo>
                  <a:pt x="741495" y="250617"/>
                </a:lnTo>
                <a:lnTo>
                  <a:pt x="716893" y="256351"/>
                </a:lnTo>
                <a:lnTo>
                  <a:pt x="708531" y="257174"/>
                </a:lnTo>
                <a:close/>
              </a:path>
            </a:pathLst>
          </a:custGeom>
          <a:solidFill>
            <a:srgbClr val="D512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9930358" y="1909675"/>
            <a:ext cx="1202055" cy="235712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835"/>
              </a:spcBef>
            </a:pPr>
            <a:r>
              <a:rPr dirty="0" sz="1300">
                <a:solidFill>
                  <a:srgbClr val="FFFFFF"/>
                </a:solidFill>
                <a:latin typeface="Courier New"/>
                <a:cs typeface="Courier New"/>
              </a:rPr>
              <a:t>ZONE</a:t>
            </a:r>
            <a:r>
              <a:rPr dirty="0" sz="1300" spc="-114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Courier New"/>
                <a:cs typeface="Courier New"/>
              </a:rPr>
              <a:t>5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1700" spc="45">
                <a:solidFill>
                  <a:srgbClr val="0F1A3A"/>
                </a:solidFill>
                <a:latin typeface="Calibri"/>
                <a:cs typeface="Calibri"/>
              </a:rPr>
              <a:t>Financials</a:t>
            </a:r>
            <a:endParaRPr sz="1700">
              <a:latin typeface="Calibri"/>
              <a:cs typeface="Calibri"/>
            </a:endParaRPr>
          </a:p>
          <a:p>
            <a:pPr marL="12700" marR="255904">
              <a:lnSpc>
                <a:spcPct val="114999"/>
              </a:lnSpc>
              <a:spcBef>
                <a:spcPts val="1110"/>
              </a:spcBef>
            </a:pPr>
            <a:r>
              <a:rPr dirty="0" sz="1250" spc="10">
                <a:solidFill>
                  <a:srgbClr val="4A5372"/>
                </a:solidFill>
                <a:latin typeface="Calibri"/>
                <a:cs typeface="Calibri"/>
              </a:rPr>
              <a:t>Settlement</a:t>
            </a:r>
            <a:r>
              <a:rPr dirty="0" sz="1250" spc="320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 spc="-50">
                <a:solidFill>
                  <a:srgbClr val="4A5372"/>
                </a:solidFill>
                <a:latin typeface="Calibri"/>
                <a:cs typeface="Calibri"/>
              </a:rPr>
              <a:t>&amp; </a:t>
            </a:r>
            <a:r>
              <a:rPr dirty="0" sz="1250" spc="-10">
                <a:solidFill>
                  <a:srgbClr val="4A5372"/>
                </a:solidFill>
                <a:latin typeface="Calibri"/>
                <a:cs typeface="Calibri"/>
              </a:rPr>
              <a:t>refunds</a:t>
            </a:r>
            <a:endParaRPr sz="1250">
              <a:latin typeface="Calibri"/>
              <a:cs typeface="Calibri"/>
            </a:endParaRPr>
          </a:p>
          <a:p>
            <a:pPr marL="12700" marR="5080">
              <a:lnSpc>
                <a:spcPts val="2850"/>
              </a:lnSpc>
              <a:spcBef>
                <a:spcPts val="45"/>
              </a:spcBef>
            </a:pPr>
            <a:r>
              <a:rPr dirty="0" sz="1350" spc="-10" b="1">
                <a:solidFill>
                  <a:srgbClr val="0F1A3A"/>
                </a:solidFill>
                <a:latin typeface="Courier New"/>
                <a:cs typeface="Courier New"/>
              </a:rPr>
              <a:t>Payment </a:t>
            </a:r>
            <a:r>
              <a:rPr dirty="0" sz="1350" spc="-50" b="1">
                <a:solidFill>
                  <a:srgbClr val="0F1A3A"/>
                </a:solidFill>
                <a:latin typeface="Courier New"/>
                <a:cs typeface="Courier New"/>
              </a:rPr>
              <a:t>Cancellation </a:t>
            </a:r>
            <a:r>
              <a:rPr dirty="0" sz="1350" spc="-10" b="1">
                <a:solidFill>
                  <a:srgbClr val="0F1A3A"/>
                </a:solidFill>
                <a:latin typeface="Courier New"/>
                <a:cs typeface="Courier New"/>
              </a:rPr>
              <a:t>Refund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62708" y="6257988"/>
            <a:ext cx="806704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4A5372"/>
                </a:solidFill>
                <a:latin typeface="Calibri"/>
                <a:cs typeface="Calibri"/>
              </a:rPr>
              <a:t>Relational</a:t>
            </a:r>
            <a:r>
              <a:rPr dirty="0" sz="1250" spc="120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A5372"/>
                </a:solidFill>
                <a:latin typeface="Calibri"/>
                <a:cs typeface="Calibri"/>
              </a:rPr>
              <a:t>Cardinality:</a:t>
            </a:r>
            <a:r>
              <a:rPr dirty="0" sz="1250" spc="120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 spc="-165">
                <a:solidFill>
                  <a:srgbClr val="4A5372"/>
                </a:solidFill>
                <a:latin typeface="Calibri"/>
                <a:cs typeface="Calibri"/>
              </a:rPr>
              <a:t>1</a:t>
            </a:r>
            <a:r>
              <a:rPr dirty="0" sz="1250" spc="120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 spc="60">
                <a:solidFill>
                  <a:srgbClr val="4A5372"/>
                </a:solidFill>
                <a:latin typeface="Calibri"/>
                <a:cs typeface="Calibri"/>
              </a:rPr>
              <a:t>Package</a:t>
            </a:r>
            <a:r>
              <a:rPr dirty="0" sz="1250" spc="120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 spc="-155">
                <a:solidFill>
                  <a:srgbClr val="4A5372"/>
                </a:solidFill>
                <a:latin typeface="Calibri"/>
                <a:cs typeface="Calibri"/>
              </a:rPr>
              <a:t>→</a:t>
            </a:r>
            <a:r>
              <a:rPr dirty="0" sz="1250" spc="120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A5372"/>
                </a:solidFill>
                <a:latin typeface="Calibri"/>
                <a:cs typeface="Calibri"/>
              </a:rPr>
              <a:t>M</a:t>
            </a:r>
            <a:r>
              <a:rPr dirty="0" sz="1250" spc="120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A5372"/>
                </a:solidFill>
                <a:latin typeface="Calibri"/>
                <a:cs typeface="Calibri"/>
              </a:rPr>
              <a:t>Departures;</a:t>
            </a:r>
            <a:r>
              <a:rPr dirty="0" sz="1250" spc="120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 spc="-165">
                <a:solidFill>
                  <a:srgbClr val="4A5372"/>
                </a:solidFill>
                <a:latin typeface="Calibri"/>
                <a:cs typeface="Calibri"/>
              </a:rPr>
              <a:t>1</a:t>
            </a:r>
            <a:r>
              <a:rPr dirty="0" sz="1250" spc="120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A5372"/>
                </a:solidFill>
                <a:latin typeface="Calibri"/>
                <a:cs typeface="Calibri"/>
              </a:rPr>
              <a:t>Departure</a:t>
            </a:r>
            <a:r>
              <a:rPr dirty="0" sz="1250" spc="120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 spc="-155">
                <a:solidFill>
                  <a:srgbClr val="4A5372"/>
                </a:solidFill>
                <a:latin typeface="Calibri"/>
                <a:cs typeface="Calibri"/>
              </a:rPr>
              <a:t>→</a:t>
            </a:r>
            <a:r>
              <a:rPr dirty="0" sz="1250" spc="120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A5372"/>
                </a:solidFill>
                <a:latin typeface="Calibri"/>
                <a:cs typeface="Calibri"/>
              </a:rPr>
              <a:t>M</a:t>
            </a:r>
            <a:r>
              <a:rPr dirty="0" sz="1250" spc="120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 spc="45">
                <a:solidFill>
                  <a:srgbClr val="4A5372"/>
                </a:solidFill>
                <a:latin typeface="Calibri"/>
                <a:cs typeface="Calibri"/>
              </a:rPr>
              <a:t>Bookings;</a:t>
            </a:r>
            <a:r>
              <a:rPr dirty="0" sz="1250" spc="120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 spc="-165">
                <a:solidFill>
                  <a:srgbClr val="4A5372"/>
                </a:solidFill>
                <a:latin typeface="Calibri"/>
                <a:cs typeface="Calibri"/>
              </a:rPr>
              <a:t>1</a:t>
            </a:r>
            <a:r>
              <a:rPr dirty="0" sz="1250" spc="120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 spc="60">
                <a:solidFill>
                  <a:srgbClr val="4A5372"/>
                </a:solidFill>
                <a:latin typeface="Calibri"/>
                <a:cs typeface="Calibri"/>
              </a:rPr>
              <a:t>Booking</a:t>
            </a:r>
            <a:r>
              <a:rPr dirty="0" sz="1250" spc="120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 spc="-155">
                <a:solidFill>
                  <a:srgbClr val="4A5372"/>
                </a:solidFill>
                <a:latin typeface="Calibri"/>
                <a:cs typeface="Calibri"/>
              </a:rPr>
              <a:t>→</a:t>
            </a:r>
            <a:r>
              <a:rPr dirty="0" sz="1250" spc="120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A5372"/>
                </a:solidFill>
                <a:latin typeface="Calibri"/>
                <a:cs typeface="Calibri"/>
              </a:rPr>
              <a:t>M</a:t>
            </a:r>
            <a:r>
              <a:rPr dirty="0" sz="1250" spc="120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A5372"/>
                </a:solidFill>
                <a:latin typeface="Calibri"/>
                <a:cs typeface="Calibri"/>
              </a:rPr>
              <a:t>Travellers</a:t>
            </a:r>
            <a:r>
              <a:rPr dirty="0" sz="1250" spc="120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A5372"/>
                </a:solidFill>
                <a:latin typeface="Calibri"/>
                <a:cs typeface="Calibri"/>
              </a:rPr>
              <a:t>&amp;</a:t>
            </a:r>
            <a:r>
              <a:rPr dirty="0" sz="1250" spc="120">
                <a:solidFill>
                  <a:srgbClr val="4A5372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A5372"/>
                </a:solidFill>
                <a:latin typeface="Calibri"/>
                <a:cs typeface="Calibri"/>
              </a:rPr>
              <a:t>Payments.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316590" y="6342371"/>
            <a:ext cx="1780539" cy="431800"/>
            <a:chOff x="10316590" y="6342371"/>
            <a:chExt cx="1780539" cy="431800"/>
          </a:xfrm>
        </p:grpSpPr>
        <p:pic>
          <p:nvPicPr>
            <p:cNvPr id="24" name="object 24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2244" y="6343649"/>
              <a:ext cx="1754504" cy="419100"/>
            </a:xfrm>
            <a:prstGeom prst="rect">
              <a:avLst/>
            </a:prstGeom>
          </p:spPr>
        </p:pic>
        <p:sp>
          <p:nvSpPr>
            <p:cNvPr id="25" name="object 25">
              <a:hlinkClick r:id="rId2"/>
            </p:cNvPr>
            <p:cNvSpPr/>
            <p:nvPr/>
          </p:nvSpPr>
          <p:spPr>
            <a:xfrm>
              <a:off x="10316590" y="6342371"/>
              <a:ext cx="1772285" cy="431800"/>
            </a:xfrm>
            <a:custGeom>
              <a:avLst/>
              <a:gdLst/>
              <a:ahLst/>
              <a:cxnLst/>
              <a:rect l="l" t="t" r="r" b="b"/>
              <a:pathLst>
                <a:path w="1772284" h="431800">
                  <a:moveTo>
                    <a:pt x="1575945" y="0"/>
                  </a:moveTo>
                  <a:lnTo>
                    <a:pt x="196126" y="0"/>
                  </a:lnTo>
                  <a:lnTo>
                    <a:pt x="151156" y="5179"/>
                  </a:lnTo>
                  <a:lnTo>
                    <a:pt x="109875" y="19934"/>
                  </a:lnTo>
                  <a:lnTo>
                    <a:pt x="73459" y="43086"/>
                  </a:lnTo>
                  <a:lnTo>
                    <a:pt x="43086" y="73459"/>
                  </a:lnTo>
                  <a:lnTo>
                    <a:pt x="19934" y="109875"/>
                  </a:lnTo>
                  <a:lnTo>
                    <a:pt x="5179" y="151156"/>
                  </a:lnTo>
                  <a:lnTo>
                    <a:pt x="0" y="196126"/>
                  </a:lnTo>
                  <a:lnTo>
                    <a:pt x="0" y="235264"/>
                  </a:lnTo>
                  <a:lnTo>
                    <a:pt x="5179" y="280234"/>
                  </a:lnTo>
                  <a:lnTo>
                    <a:pt x="19934" y="321516"/>
                  </a:lnTo>
                  <a:lnTo>
                    <a:pt x="43086" y="357931"/>
                  </a:lnTo>
                  <a:lnTo>
                    <a:pt x="73459" y="388304"/>
                  </a:lnTo>
                  <a:lnTo>
                    <a:pt x="109875" y="411456"/>
                  </a:lnTo>
                  <a:lnTo>
                    <a:pt x="151156" y="426211"/>
                  </a:lnTo>
                  <a:lnTo>
                    <a:pt x="196126" y="431391"/>
                  </a:lnTo>
                  <a:lnTo>
                    <a:pt x="1575945" y="431391"/>
                  </a:lnTo>
                  <a:lnTo>
                    <a:pt x="1620915" y="426211"/>
                  </a:lnTo>
                  <a:lnTo>
                    <a:pt x="1662197" y="411456"/>
                  </a:lnTo>
                  <a:lnTo>
                    <a:pt x="1698613" y="388304"/>
                  </a:lnTo>
                  <a:lnTo>
                    <a:pt x="1728986" y="357931"/>
                  </a:lnTo>
                  <a:lnTo>
                    <a:pt x="1752138" y="321516"/>
                  </a:lnTo>
                  <a:lnTo>
                    <a:pt x="1766893" y="280234"/>
                  </a:lnTo>
                  <a:lnTo>
                    <a:pt x="1772072" y="235264"/>
                  </a:lnTo>
                  <a:lnTo>
                    <a:pt x="1772072" y="215695"/>
                  </a:lnTo>
                  <a:lnTo>
                    <a:pt x="1772072" y="196126"/>
                  </a:lnTo>
                  <a:lnTo>
                    <a:pt x="1766893" y="151156"/>
                  </a:lnTo>
                  <a:lnTo>
                    <a:pt x="1752138" y="109875"/>
                  </a:lnTo>
                  <a:lnTo>
                    <a:pt x="1728986" y="73459"/>
                  </a:lnTo>
                  <a:lnTo>
                    <a:pt x="1698613" y="43086"/>
                  </a:lnTo>
                  <a:lnTo>
                    <a:pt x="1662197" y="19934"/>
                  </a:lnTo>
                  <a:lnTo>
                    <a:pt x="1620915" y="5179"/>
                  </a:lnTo>
                  <a:lnTo>
                    <a:pt x="15759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850" y="479456"/>
            <a:ext cx="213741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latin typeface="Courier New"/>
                <a:cs typeface="Courier New"/>
              </a:rPr>
              <a:t>CONSTRAINTS</a:t>
            </a:r>
            <a:r>
              <a:rPr dirty="0" sz="1300" spc="-100">
                <a:latin typeface="Courier New"/>
                <a:cs typeface="Courier New"/>
              </a:rPr>
              <a:t> </a:t>
            </a:r>
            <a:r>
              <a:rPr dirty="0" sz="1300">
                <a:latin typeface="Courier New"/>
                <a:cs typeface="Courier New"/>
              </a:rPr>
              <a:t>&amp;</a:t>
            </a:r>
            <a:r>
              <a:rPr dirty="0" sz="1300" spc="-100">
                <a:latin typeface="Courier New"/>
                <a:cs typeface="Courier New"/>
              </a:rPr>
              <a:t> </a:t>
            </a:r>
            <a:r>
              <a:rPr dirty="0" sz="1300" spc="-10">
                <a:latin typeface="Courier New"/>
                <a:cs typeface="Courier New"/>
              </a:rPr>
              <a:t>TRIGGERS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6899" y="825500"/>
            <a:ext cx="6625590" cy="892175"/>
          </a:xfrm>
          <a:prstGeom prst="rect"/>
        </p:spPr>
        <p:txBody>
          <a:bodyPr wrap="square" lIns="0" tIns="65405" rIns="0" bIns="0" rtlCol="0" vert="horz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515"/>
              </a:spcBef>
            </a:pPr>
            <a:r>
              <a:rPr dirty="0" spc="-60"/>
              <a:t>Integrity</a:t>
            </a:r>
            <a:r>
              <a:rPr dirty="0" spc="-415"/>
              <a:t> </a:t>
            </a:r>
            <a:r>
              <a:rPr dirty="0" spc="-125"/>
              <a:t>rules</a:t>
            </a:r>
            <a:r>
              <a:rPr dirty="0" spc="-409"/>
              <a:t> </a:t>
            </a:r>
            <a:r>
              <a:rPr dirty="0" spc="-80"/>
              <a:t>make</a:t>
            </a:r>
            <a:r>
              <a:rPr dirty="0" spc="-409"/>
              <a:t> </a:t>
            </a:r>
            <a:r>
              <a:rPr dirty="0" spc="-90"/>
              <a:t>the</a:t>
            </a:r>
            <a:r>
              <a:rPr dirty="0" spc="-409"/>
              <a:t> </a:t>
            </a:r>
            <a:r>
              <a:rPr dirty="0" spc="-55"/>
              <a:t>database </a:t>
            </a:r>
            <a:r>
              <a:rPr dirty="0" spc="-90"/>
              <a:t>the</a:t>
            </a:r>
            <a:r>
              <a:rPr dirty="0" spc="-420"/>
              <a:t> </a:t>
            </a:r>
            <a:r>
              <a:rPr dirty="0" spc="-105"/>
              <a:t>control</a:t>
            </a:r>
            <a:r>
              <a:rPr dirty="0" spc="-415"/>
              <a:t> </a:t>
            </a:r>
            <a:r>
              <a:rPr dirty="0" spc="-20"/>
              <a:t>layer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734548" y="1000124"/>
            <a:ext cx="1847850" cy="200025"/>
            <a:chOff x="9734548" y="1000124"/>
            <a:chExt cx="1847850" cy="2000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10747" y="1047749"/>
              <a:ext cx="95251" cy="952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39310" y="1004887"/>
              <a:ext cx="1838325" cy="190500"/>
            </a:xfrm>
            <a:custGeom>
              <a:avLst/>
              <a:gdLst/>
              <a:ahLst/>
              <a:cxnLst/>
              <a:rect l="l" t="t" r="r" b="b"/>
              <a:pathLst>
                <a:path w="1838325" h="190500">
                  <a:moveTo>
                    <a:pt x="0" y="95249"/>
                  </a:moveTo>
                  <a:lnTo>
                    <a:pt x="0" y="88995"/>
                  </a:lnTo>
                  <a:lnTo>
                    <a:pt x="609" y="82801"/>
                  </a:lnTo>
                  <a:lnTo>
                    <a:pt x="1829" y="76667"/>
                  </a:lnTo>
                  <a:lnTo>
                    <a:pt x="3049" y="70533"/>
                  </a:lnTo>
                  <a:lnTo>
                    <a:pt x="4856" y="64577"/>
                  </a:lnTo>
                  <a:lnTo>
                    <a:pt x="7249" y="58799"/>
                  </a:lnTo>
                  <a:lnTo>
                    <a:pt x="9642" y="53021"/>
                  </a:lnTo>
                  <a:lnTo>
                    <a:pt x="12576" y="47532"/>
                  </a:lnTo>
                  <a:lnTo>
                    <a:pt x="16051" y="42331"/>
                  </a:lnTo>
                  <a:lnTo>
                    <a:pt x="19526" y="37131"/>
                  </a:lnTo>
                  <a:lnTo>
                    <a:pt x="23474" y="32320"/>
                  </a:lnTo>
                  <a:lnTo>
                    <a:pt x="27897" y="27898"/>
                  </a:lnTo>
                  <a:lnTo>
                    <a:pt x="32319" y="23475"/>
                  </a:lnTo>
                  <a:lnTo>
                    <a:pt x="58799" y="7250"/>
                  </a:lnTo>
                  <a:lnTo>
                    <a:pt x="64576" y="4856"/>
                  </a:lnTo>
                  <a:lnTo>
                    <a:pt x="70533" y="3050"/>
                  </a:lnTo>
                  <a:lnTo>
                    <a:pt x="76667" y="1830"/>
                  </a:lnTo>
                  <a:lnTo>
                    <a:pt x="82801" y="610"/>
                  </a:lnTo>
                  <a:lnTo>
                    <a:pt x="88996" y="0"/>
                  </a:lnTo>
                  <a:lnTo>
                    <a:pt x="95250" y="0"/>
                  </a:lnTo>
                  <a:lnTo>
                    <a:pt x="1743075" y="0"/>
                  </a:lnTo>
                  <a:lnTo>
                    <a:pt x="1749328" y="0"/>
                  </a:lnTo>
                  <a:lnTo>
                    <a:pt x="1755522" y="610"/>
                  </a:lnTo>
                  <a:lnTo>
                    <a:pt x="1761655" y="1830"/>
                  </a:lnTo>
                  <a:lnTo>
                    <a:pt x="1767788" y="3050"/>
                  </a:lnTo>
                  <a:lnTo>
                    <a:pt x="1773745" y="4857"/>
                  </a:lnTo>
                  <a:lnTo>
                    <a:pt x="1779524" y="7250"/>
                  </a:lnTo>
                  <a:lnTo>
                    <a:pt x="1785303" y="9643"/>
                  </a:lnTo>
                  <a:lnTo>
                    <a:pt x="1810427" y="27898"/>
                  </a:lnTo>
                  <a:lnTo>
                    <a:pt x="1814848" y="32320"/>
                  </a:lnTo>
                  <a:lnTo>
                    <a:pt x="1818796" y="37131"/>
                  </a:lnTo>
                  <a:lnTo>
                    <a:pt x="1822270" y="42331"/>
                  </a:lnTo>
                  <a:lnTo>
                    <a:pt x="1825744" y="47531"/>
                  </a:lnTo>
                  <a:lnTo>
                    <a:pt x="1836494" y="76667"/>
                  </a:lnTo>
                  <a:lnTo>
                    <a:pt x="1837714" y="82801"/>
                  </a:lnTo>
                  <a:lnTo>
                    <a:pt x="1838325" y="88995"/>
                  </a:lnTo>
                  <a:lnTo>
                    <a:pt x="1838325" y="95249"/>
                  </a:lnTo>
                  <a:lnTo>
                    <a:pt x="1838325" y="101504"/>
                  </a:lnTo>
                  <a:lnTo>
                    <a:pt x="1837714" y="107698"/>
                  </a:lnTo>
                  <a:lnTo>
                    <a:pt x="1836494" y="113832"/>
                  </a:lnTo>
                  <a:lnTo>
                    <a:pt x="1835274" y="119966"/>
                  </a:lnTo>
                  <a:lnTo>
                    <a:pt x="1814848" y="158179"/>
                  </a:lnTo>
                  <a:lnTo>
                    <a:pt x="1810427" y="162601"/>
                  </a:lnTo>
                  <a:lnTo>
                    <a:pt x="1806005" y="167024"/>
                  </a:lnTo>
                  <a:lnTo>
                    <a:pt x="1779524" y="183249"/>
                  </a:lnTo>
                  <a:lnTo>
                    <a:pt x="1773745" y="185642"/>
                  </a:lnTo>
                  <a:lnTo>
                    <a:pt x="1743075" y="190499"/>
                  </a:lnTo>
                  <a:lnTo>
                    <a:pt x="95250" y="190499"/>
                  </a:lnTo>
                  <a:lnTo>
                    <a:pt x="58799" y="183249"/>
                  </a:lnTo>
                  <a:lnTo>
                    <a:pt x="53020" y="180855"/>
                  </a:lnTo>
                  <a:lnTo>
                    <a:pt x="47531" y="177921"/>
                  </a:lnTo>
                  <a:lnTo>
                    <a:pt x="42331" y="174447"/>
                  </a:lnTo>
                  <a:lnTo>
                    <a:pt x="37130" y="170972"/>
                  </a:lnTo>
                  <a:lnTo>
                    <a:pt x="32319" y="167024"/>
                  </a:lnTo>
                  <a:lnTo>
                    <a:pt x="27897" y="162601"/>
                  </a:lnTo>
                  <a:lnTo>
                    <a:pt x="23474" y="158179"/>
                  </a:lnTo>
                  <a:lnTo>
                    <a:pt x="7249" y="131700"/>
                  </a:lnTo>
                  <a:lnTo>
                    <a:pt x="4856" y="125922"/>
                  </a:lnTo>
                  <a:lnTo>
                    <a:pt x="3049" y="119966"/>
                  </a:lnTo>
                  <a:lnTo>
                    <a:pt x="1830" y="113832"/>
                  </a:lnTo>
                  <a:lnTo>
                    <a:pt x="609" y="107698"/>
                  </a:lnTo>
                  <a:lnTo>
                    <a:pt x="0" y="101504"/>
                  </a:lnTo>
                  <a:lnTo>
                    <a:pt x="0" y="95249"/>
                  </a:lnTo>
                  <a:close/>
                </a:path>
              </a:pathLst>
            </a:custGeom>
            <a:ln w="9524">
              <a:solidFill>
                <a:srgbClr val="0F1A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0029625" y="990663"/>
            <a:ext cx="148653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0F1A3A"/>
                </a:solidFill>
                <a:latin typeface="Courier New"/>
                <a:cs typeface="Courier New"/>
              </a:rPr>
              <a:t>Enforced</a:t>
            </a:r>
            <a:r>
              <a:rPr dirty="0" sz="1100" spc="-114">
                <a:solidFill>
                  <a:srgbClr val="0F1A3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F1A3A"/>
                </a:solidFill>
                <a:latin typeface="Courier New"/>
                <a:cs typeface="Courier New"/>
              </a:rPr>
              <a:t>in</a:t>
            </a:r>
            <a:r>
              <a:rPr dirty="0" sz="1100" spc="-110">
                <a:solidFill>
                  <a:srgbClr val="0F1A3A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0F1A3A"/>
                </a:solidFill>
                <a:latin typeface="Courier New"/>
                <a:cs typeface="Courier New"/>
              </a:rPr>
              <a:t>Engine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09599" y="1885949"/>
            <a:ext cx="5334000" cy="2181225"/>
            <a:chOff x="609599" y="1885949"/>
            <a:chExt cx="5334000" cy="2181225"/>
          </a:xfrm>
        </p:grpSpPr>
        <p:sp>
          <p:nvSpPr>
            <p:cNvPr id="9" name="object 9"/>
            <p:cNvSpPr/>
            <p:nvPr/>
          </p:nvSpPr>
          <p:spPr>
            <a:xfrm>
              <a:off x="685799" y="1885949"/>
              <a:ext cx="5257800" cy="2181225"/>
            </a:xfrm>
            <a:custGeom>
              <a:avLst/>
              <a:gdLst/>
              <a:ahLst/>
              <a:cxnLst/>
              <a:rect l="l" t="t" r="r" b="b"/>
              <a:pathLst>
                <a:path w="5257800" h="2181225">
                  <a:moveTo>
                    <a:pt x="0" y="2181224"/>
                  </a:moveTo>
                  <a:lnTo>
                    <a:pt x="5257799" y="2181224"/>
                  </a:lnTo>
                  <a:lnTo>
                    <a:pt x="5257799" y="0"/>
                  </a:lnTo>
                  <a:lnTo>
                    <a:pt x="0" y="0"/>
                  </a:lnTo>
                  <a:lnTo>
                    <a:pt x="0" y="2181224"/>
                  </a:lnTo>
                  <a:close/>
                </a:path>
              </a:pathLst>
            </a:custGeom>
            <a:solidFill>
              <a:srgbClr val="EDF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09587" y="1885949"/>
              <a:ext cx="1285875" cy="2181225"/>
            </a:xfrm>
            <a:custGeom>
              <a:avLst/>
              <a:gdLst/>
              <a:ahLst/>
              <a:cxnLst/>
              <a:rect l="l" t="t" r="r" b="b"/>
              <a:pathLst>
                <a:path w="1285875" h="2181225">
                  <a:moveTo>
                    <a:pt x="76200" y="0"/>
                  </a:moveTo>
                  <a:lnTo>
                    <a:pt x="0" y="0"/>
                  </a:lnTo>
                  <a:lnTo>
                    <a:pt x="0" y="2181225"/>
                  </a:lnTo>
                  <a:lnTo>
                    <a:pt x="76200" y="2181225"/>
                  </a:lnTo>
                  <a:lnTo>
                    <a:pt x="76200" y="0"/>
                  </a:lnTo>
                  <a:close/>
                </a:path>
                <a:path w="1285875" h="2181225">
                  <a:moveTo>
                    <a:pt x="1285875" y="272554"/>
                  </a:moveTo>
                  <a:lnTo>
                    <a:pt x="1272857" y="223989"/>
                  </a:lnTo>
                  <a:lnTo>
                    <a:pt x="1242250" y="184099"/>
                  </a:lnTo>
                  <a:lnTo>
                    <a:pt x="1198702" y="158965"/>
                  </a:lnTo>
                  <a:lnTo>
                    <a:pt x="1165733" y="152400"/>
                  </a:lnTo>
                  <a:lnTo>
                    <a:pt x="472579" y="152400"/>
                  </a:lnTo>
                  <a:lnTo>
                    <a:pt x="424014" y="165430"/>
                  </a:lnTo>
                  <a:lnTo>
                    <a:pt x="384124" y="196037"/>
                  </a:lnTo>
                  <a:lnTo>
                    <a:pt x="358990" y="239585"/>
                  </a:lnTo>
                  <a:lnTo>
                    <a:pt x="352425" y="272554"/>
                  </a:lnTo>
                  <a:lnTo>
                    <a:pt x="352425" y="280987"/>
                  </a:lnTo>
                  <a:lnTo>
                    <a:pt x="352425" y="289433"/>
                  </a:lnTo>
                  <a:lnTo>
                    <a:pt x="365455" y="337997"/>
                  </a:lnTo>
                  <a:lnTo>
                    <a:pt x="396062" y="377888"/>
                  </a:lnTo>
                  <a:lnTo>
                    <a:pt x="439610" y="403021"/>
                  </a:lnTo>
                  <a:lnTo>
                    <a:pt x="472579" y="409575"/>
                  </a:lnTo>
                  <a:lnTo>
                    <a:pt x="1165733" y="409575"/>
                  </a:lnTo>
                  <a:lnTo>
                    <a:pt x="1214297" y="396557"/>
                  </a:lnTo>
                  <a:lnTo>
                    <a:pt x="1254188" y="365950"/>
                  </a:lnTo>
                  <a:lnTo>
                    <a:pt x="1279321" y="322402"/>
                  </a:lnTo>
                  <a:lnTo>
                    <a:pt x="1285875" y="289433"/>
                  </a:lnTo>
                  <a:lnTo>
                    <a:pt x="1285875" y="272554"/>
                  </a:lnTo>
                  <a:close/>
                </a:path>
              </a:pathLst>
            </a:custGeom>
            <a:solidFill>
              <a:srgbClr val="FF832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52450" y="1955510"/>
            <a:ext cx="4257675" cy="14319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775"/>
              </a:spcBef>
            </a:pPr>
            <a:r>
              <a:rPr dirty="0" sz="1300">
                <a:latin typeface="Courier New"/>
                <a:cs typeface="Courier New"/>
              </a:rPr>
              <a:t>GATE</a:t>
            </a:r>
            <a:r>
              <a:rPr dirty="0" sz="1300" spc="-114">
                <a:latin typeface="Courier New"/>
                <a:cs typeface="Courier New"/>
              </a:rPr>
              <a:t> </a:t>
            </a:r>
            <a:r>
              <a:rPr dirty="0" sz="1300" spc="-25">
                <a:latin typeface="Courier New"/>
                <a:cs typeface="Courier New"/>
              </a:rPr>
              <a:t>01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1900" spc="100">
                <a:solidFill>
                  <a:srgbClr val="0F1A3A"/>
                </a:solidFill>
                <a:latin typeface="Calibri"/>
                <a:cs typeface="Calibri"/>
              </a:rPr>
              <a:t>Capacity</a:t>
            </a:r>
            <a:r>
              <a:rPr dirty="0" sz="1900" spc="5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65">
                <a:solidFill>
                  <a:srgbClr val="0F1A3A"/>
                </a:solidFill>
                <a:latin typeface="Calibri"/>
                <a:cs typeface="Calibri"/>
              </a:rPr>
              <a:t>Control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117200"/>
              </a:lnSpc>
              <a:spcBef>
                <a:spcPts val="1065"/>
              </a:spcBef>
            </a:pPr>
            <a:r>
              <a:rPr dirty="0" sz="1600" spc="60">
                <a:solidFill>
                  <a:srgbClr val="0F1A3A"/>
                </a:solidFill>
                <a:latin typeface="Calibri"/>
                <a:cs typeface="Calibri"/>
              </a:rPr>
              <a:t>Passenger</a:t>
            </a:r>
            <a:r>
              <a:rPr dirty="0" sz="1600" spc="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55">
                <a:solidFill>
                  <a:srgbClr val="0F1A3A"/>
                </a:solidFill>
                <a:latin typeface="Calibri"/>
                <a:cs typeface="Calibri"/>
              </a:rPr>
              <a:t>count</a:t>
            </a:r>
            <a:r>
              <a:rPr dirty="0" sz="1600" spc="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55">
                <a:solidFill>
                  <a:srgbClr val="0F1A3A"/>
                </a:solidFill>
                <a:latin typeface="Calibri"/>
                <a:cs typeface="Calibri"/>
              </a:rPr>
              <a:t>cannot</a:t>
            </a:r>
            <a:r>
              <a:rPr dirty="0" sz="1600" spc="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75">
                <a:solidFill>
                  <a:srgbClr val="0F1A3A"/>
                </a:solidFill>
                <a:latin typeface="Calibri"/>
                <a:cs typeface="Calibri"/>
              </a:rPr>
              <a:t>exceed</a:t>
            </a:r>
            <a:r>
              <a:rPr dirty="0" sz="1600" spc="4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55">
                <a:solidFill>
                  <a:srgbClr val="0F1A3A"/>
                </a:solidFill>
                <a:latin typeface="Calibri"/>
                <a:cs typeface="Calibri"/>
              </a:rPr>
              <a:t>departure</a:t>
            </a:r>
            <a:r>
              <a:rPr dirty="0" sz="1600" spc="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50">
                <a:solidFill>
                  <a:srgbClr val="0F1A3A"/>
                </a:solidFill>
                <a:latin typeface="Calibri"/>
                <a:cs typeface="Calibri"/>
              </a:rPr>
              <a:t>max </a:t>
            </a:r>
            <a:r>
              <a:rPr dirty="0" sz="1600" spc="-10">
                <a:solidFill>
                  <a:srgbClr val="0F1A3A"/>
                </a:solidFill>
                <a:latin typeface="Calibri"/>
                <a:cs typeface="Calibri"/>
              </a:rPr>
              <a:t>capacity.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48399" y="1885949"/>
            <a:ext cx="5334000" cy="2181225"/>
            <a:chOff x="6248399" y="1885949"/>
            <a:chExt cx="5334000" cy="2181225"/>
          </a:xfrm>
        </p:grpSpPr>
        <p:sp>
          <p:nvSpPr>
            <p:cNvPr id="13" name="object 13"/>
            <p:cNvSpPr/>
            <p:nvPr/>
          </p:nvSpPr>
          <p:spPr>
            <a:xfrm>
              <a:off x="6324599" y="1885949"/>
              <a:ext cx="5257800" cy="2181225"/>
            </a:xfrm>
            <a:custGeom>
              <a:avLst/>
              <a:gdLst/>
              <a:ahLst/>
              <a:cxnLst/>
              <a:rect l="l" t="t" r="r" b="b"/>
              <a:pathLst>
                <a:path w="5257800" h="2181225">
                  <a:moveTo>
                    <a:pt x="0" y="2181224"/>
                  </a:moveTo>
                  <a:lnTo>
                    <a:pt x="5257799" y="2181224"/>
                  </a:lnTo>
                  <a:lnTo>
                    <a:pt x="5257799" y="0"/>
                  </a:lnTo>
                  <a:lnTo>
                    <a:pt x="0" y="0"/>
                  </a:lnTo>
                  <a:lnTo>
                    <a:pt x="0" y="2181224"/>
                  </a:lnTo>
                  <a:close/>
                </a:path>
              </a:pathLst>
            </a:custGeom>
            <a:solidFill>
              <a:srgbClr val="EDF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248387" y="1885949"/>
              <a:ext cx="1285875" cy="2181225"/>
            </a:xfrm>
            <a:custGeom>
              <a:avLst/>
              <a:gdLst/>
              <a:ahLst/>
              <a:cxnLst/>
              <a:rect l="l" t="t" r="r" b="b"/>
              <a:pathLst>
                <a:path w="1285875" h="2181225">
                  <a:moveTo>
                    <a:pt x="76200" y="0"/>
                  </a:moveTo>
                  <a:lnTo>
                    <a:pt x="0" y="0"/>
                  </a:lnTo>
                  <a:lnTo>
                    <a:pt x="0" y="2181225"/>
                  </a:lnTo>
                  <a:lnTo>
                    <a:pt x="76200" y="2181225"/>
                  </a:lnTo>
                  <a:lnTo>
                    <a:pt x="76200" y="0"/>
                  </a:lnTo>
                  <a:close/>
                </a:path>
                <a:path w="1285875" h="2181225">
                  <a:moveTo>
                    <a:pt x="1285875" y="272554"/>
                  </a:moveTo>
                  <a:lnTo>
                    <a:pt x="1272857" y="223989"/>
                  </a:lnTo>
                  <a:lnTo>
                    <a:pt x="1242250" y="184099"/>
                  </a:lnTo>
                  <a:lnTo>
                    <a:pt x="1198702" y="158965"/>
                  </a:lnTo>
                  <a:lnTo>
                    <a:pt x="1165733" y="152400"/>
                  </a:lnTo>
                  <a:lnTo>
                    <a:pt x="472579" y="152400"/>
                  </a:lnTo>
                  <a:lnTo>
                    <a:pt x="424014" y="165430"/>
                  </a:lnTo>
                  <a:lnTo>
                    <a:pt x="384124" y="196037"/>
                  </a:lnTo>
                  <a:lnTo>
                    <a:pt x="358990" y="239585"/>
                  </a:lnTo>
                  <a:lnTo>
                    <a:pt x="352425" y="272554"/>
                  </a:lnTo>
                  <a:lnTo>
                    <a:pt x="352425" y="280987"/>
                  </a:lnTo>
                  <a:lnTo>
                    <a:pt x="352425" y="289433"/>
                  </a:lnTo>
                  <a:lnTo>
                    <a:pt x="365455" y="337997"/>
                  </a:lnTo>
                  <a:lnTo>
                    <a:pt x="396062" y="377888"/>
                  </a:lnTo>
                  <a:lnTo>
                    <a:pt x="439610" y="403021"/>
                  </a:lnTo>
                  <a:lnTo>
                    <a:pt x="472579" y="409575"/>
                  </a:lnTo>
                  <a:lnTo>
                    <a:pt x="1165733" y="409575"/>
                  </a:lnTo>
                  <a:lnTo>
                    <a:pt x="1214297" y="396557"/>
                  </a:lnTo>
                  <a:lnTo>
                    <a:pt x="1254188" y="365950"/>
                  </a:lnTo>
                  <a:lnTo>
                    <a:pt x="1279321" y="322402"/>
                  </a:lnTo>
                  <a:lnTo>
                    <a:pt x="1285875" y="289433"/>
                  </a:lnTo>
                  <a:lnTo>
                    <a:pt x="1285875" y="272554"/>
                  </a:lnTo>
                  <a:close/>
                </a:path>
              </a:pathLst>
            </a:custGeom>
            <a:solidFill>
              <a:srgbClr val="1F4E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591250" y="1955510"/>
            <a:ext cx="4526915" cy="114617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775"/>
              </a:spcBef>
            </a:pPr>
            <a:r>
              <a:rPr dirty="0" sz="1300">
                <a:solidFill>
                  <a:srgbClr val="FFFFFF"/>
                </a:solidFill>
                <a:latin typeface="Courier New"/>
                <a:cs typeface="Courier New"/>
              </a:rPr>
              <a:t>GATE</a:t>
            </a:r>
            <a:r>
              <a:rPr dirty="0" sz="1300" spc="-114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Courier New"/>
                <a:cs typeface="Courier New"/>
              </a:rPr>
              <a:t>02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1900" spc="100">
                <a:solidFill>
                  <a:srgbClr val="0F1A3A"/>
                </a:solidFill>
                <a:latin typeface="Calibri"/>
                <a:cs typeface="Calibri"/>
              </a:rPr>
              <a:t>Overlap</a:t>
            </a:r>
            <a:r>
              <a:rPr dirty="0" sz="1900" spc="6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45">
                <a:solidFill>
                  <a:srgbClr val="0F1A3A"/>
                </a:solidFill>
                <a:latin typeface="Calibri"/>
                <a:cs typeface="Calibri"/>
              </a:rPr>
              <a:t>Prevention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1600" spc="55">
                <a:solidFill>
                  <a:srgbClr val="0F1A3A"/>
                </a:solidFill>
                <a:latin typeface="Calibri"/>
                <a:cs typeface="Calibri"/>
              </a:rPr>
              <a:t>Time-</a:t>
            </a:r>
            <a:r>
              <a:rPr dirty="0" sz="1600" spc="65">
                <a:solidFill>
                  <a:srgbClr val="0F1A3A"/>
                </a:solidFill>
                <a:latin typeface="Calibri"/>
                <a:cs typeface="Calibri"/>
              </a:rPr>
              <a:t>range</a:t>
            </a:r>
            <a:r>
              <a:rPr dirty="0" sz="1600" spc="3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65">
                <a:solidFill>
                  <a:srgbClr val="0F1A3A"/>
                </a:solidFill>
                <a:latin typeface="Calibri"/>
                <a:cs typeface="Calibri"/>
              </a:rPr>
              <a:t>checks</a:t>
            </a:r>
            <a:r>
              <a:rPr dirty="0" sz="1600" spc="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60">
                <a:solidFill>
                  <a:srgbClr val="0F1A3A"/>
                </a:solidFill>
                <a:latin typeface="Calibri"/>
                <a:cs typeface="Calibri"/>
              </a:rPr>
              <a:t>on</a:t>
            </a:r>
            <a:r>
              <a:rPr dirty="0" sz="1600" spc="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70">
                <a:solidFill>
                  <a:srgbClr val="0F1A3A"/>
                </a:solidFill>
                <a:latin typeface="Calibri"/>
                <a:cs typeface="Calibri"/>
              </a:rPr>
              <a:t>Guide_ID</a:t>
            </a:r>
            <a:r>
              <a:rPr dirty="0" sz="1600" spc="3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75">
                <a:solidFill>
                  <a:srgbClr val="0F1A3A"/>
                </a:solidFill>
                <a:latin typeface="Calibri"/>
                <a:cs typeface="Calibri"/>
              </a:rPr>
              <a:t>and</a:t>
            </a:r>
            <a:r>
              <a:rPr dirty="0" sz="1600" spc="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F1A3A"/>
                </a:solidFill>
                <a:latin typeface="Calibri"/>
                <a:cs typeface="Calibri"/>
              </a:rPr>
              <a:t>Transport_ID.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9599" y="4371974"/>
            <a:ext cx="5334000" cy="2181225"/>
            <a:chOff x="609599" y="4371974"/>
            <a:chExt cx="5334000" cy="2181225"/>
          </a:xfrm>
        </p:grpSpPr>
        <p:sp>
          <p:nvSpPr>
            <p:cNvPr id="17" name="object 17"/>
            <p:cNvSpPr/>
            <p:nvPr/>
          </p:nvSpPr>
          <p:spPr>
            <a:xfrm>
              <a:off x="685799" y="4371974"/>
              <a:ext cx="5257800" cy="2181225"/>
            </a:xfrm>
            <a:custGeom>
              <a:avLst/>
              <a:gdLst/>
              <a:ahLst/>
              <a:cxnLst/>
              <a:rect l="l" t="t" r="r" b="b"/>
              <a:pathLst>
                <a:path w="5257800" h="2181225">
                  <a:moveTo>
                    <a:pt x="0" y="2181224"/>
                  </a:moveTo>
                  <a:lnTo>
                    <a:pt x="5257799" y="2181224"/>
                  </a:lnTo>
                  <a:lnTo>
                    <a:pt x="5257799" y="0"/>
                  </a:lnTo>
                  <a:lnTo>
                    <a:pt x="0" y="0"/>
                  </a:lnTo>
                  <a:lnTo>
                    <a:pt x="0" y="2181224"/>
                  </a:lnTo>
                  <a:close/>
                </a:path>
              </a:pathLst>
            </a:custGeom>
            <a:solidFill>
              <a:srgbClr val="EDF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09587" y="4371974"/>
              <a:ext cx="1285875" cy="2181225"/>
            </a:xfrm>
            <a:custGeom>
              <a:avLst/>
              <a:gdLst/>
              <a:ahLst/>
              <a:cxnLst/>
              <a:rect l="l" t="t" r="r" b="b"/>
              <a:pathLst>
                <a:path w="1285875" h="2181225">
                  <a:moveTo>
                    <a:pt x="76200" y="0"/>
                  </a:moveTo>
                  <a:lnTo>
                    <a:pt x="0" y="0"/>
                  </a:lnTo>
                  <a:lnTo>
                    <a:pt x="0" y="2181225"/>
                  </a:lnTo>
                  <a:lnTo>
                    <a:pt x="76200" y="2181225"/>
                  </a:lnTo>
                  <a:lnTo>
                    <a:pt x="76200" y="0"/>
                  </a:lnTo>
                  <a:close/>
                </a:path>
                <a:path w="1285875" h="2181225">
                  <a:moveTo>
                    <a:pt x="1285875" y="272554"/>
                  </a:moveTo>
                  <a:lnTo>
                    <a:pt x="1272857" y="223989"/>
                  </a:lnTo>
                  <a:lnTo>
                    <a:pt x="1242250" y="184099"/>
                  </a:lnTo>
                  <a:lnTo>
                    <a:pt x="1198702" y="158965"/>
                  </a:lnTo>
                  <a:lnTo>
                    <a:pt x="1165733" y="152400"/>
                  </a:lnTo>
                  <a:lnTo>
                    <a:pt x="472579" y="152400"/>
                  </a:lnTo>
                  <a:lnTo>
                    <a:pt x="424014" y="165430"/>
                  </a:lnTo>
                  <a:lnTo>
                    <a:pt x="384124" y="196037"/>
                  </a:lnTo>
                  <a:lnTo>
                    <a:pt x="358990" y="239585"/>
                  </a:lnTo>
                  <a:lnTo>
                    <a:pt x="352425" y="272554"/>
                  </a:lnTo>
                  <a:lnTo>
                    <a:pt x="352425" y="280987"/>
                  </a:lnTo>
                  <a:lnTo>
                    <a:pt x="352425" y="289433"/>
                  </a:lnTo>
                  <a:lnTo>
                    <a:pt x="365455" y="337997"/>
                  </a:lnTo>
                  <a:lnTo>
                    <a:pt x="396062" y="377888"/>
                  </a:lnTo>
                  <a:lnTo>
                    <a:pt x="439610" y="403021"/>
                  </a:lnTo>
                  <a:lnTo>
                    <a:pt x="472579" y="409575"/>
                  </a:lnTo>
                  <a:lnTo>
                    <a:pt x="1165733" y="409575"/>
                  </a:lnTo>
                  <a:lnTo>
                    <a:pt x="1214297" y="396557"/>
                  </a:lnTo>
                  <a:lnTo>
                    <a:pt x="1254188" y="365950"/>
                  </a:lnTo>
                  <a:lnTo>
                    <a:pt x="1279321" y="322402"/>
                  </a:lnTo>
                  <a:lnTo>
                    <a:pt x="1285875" y="289433"/>
                  </a:lnTo>
                  <a:lnTo>
                    <a:pt x="1285875" y="272554"/>
                  </a:lnTo>
                  <a:close/>
                </a:path>
              </a:pathLst>
            </a:custGeom>
            <a:solidFill>
              <a:srgbClr val="D5126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52450" y="4448051"/>
            <a:ext cx="4537075" cy="142557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725"/>
              </a:spcBef>
            </a:pPr>
            <a:r>
              <a:rPr dirty="0" sz="1300">
                <a:solidFill>
                  <a:srgbClr val="FFFFFF"/>
                </a:solidFill>
                <a:latin typeface="Courier New"/>
                <a:cs typeface="Courier New"/>
              </a:rPr>
              <a:t>GATE</a:t>
            </a:r>
            <a:r>
              <a:rPr dirty="0" sz="1300" spc="-114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Courier New"/>
                <a:cs typeface="Courier New"/>
              </a:rPr>
              <a:t>03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900" spc="55">
                <a:solidFill>
                  <a:srgbClr val="0F1A3A"/>
                </a:solidFill>
                <a:latin typeface="Calibri"/>
                <a:cs typeface="Calibri"/>
              </a:rPr>
              <a:t>Financial</a:t>
            </a:r>
            <a:r>
              <a:rPr dirty="0" sz="1900" spc="6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30">
                <a:solidFill>
                  <a:srgbClr val="0F1A3A"/>
                </a:solidFill>
                <a:latin typeface="Calibri"/>
                <a:cs typeface="Calibri"/>
              </a:rPr>
              <a:t>Limit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117200"/>
              </a:lnSpc>
              <a:spcBef>
                <a:spcPts val="1140"/>
              </a:spcBef>
            </a:pPr>
            <a:r>
              <a:rPr dirty="0" sz="1600" spc="65">
                <a:solidFill>
                  <a:srgbClr val="0F1A3A"/>
                </a:solidFill>
                <a:latin typeface="Calibri"/>
                <a:cs typeface="Calibri"/>
              </a:rPr>
              <a:t>Refund</a:t>
            </a:r>
            <a:r>
              <a:rPr dirty="0" sz="1600" spc="7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50">
                <a:solidFill>
                  <a:srgbClr val="0F1A3A"/>
                </a:solidFill>
                <a:latin typeface="Calibri"/>
                <a:cs typeface="Calibri"/>
              </a:rPr>
              <a:t>amount</a:t>
            </a:r>
            <a:r>
              <a:rPr dirty="0" sz="1600" spc="7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F1A3A"/>
                </a:solidFill>
                <a:latin typeface="Calibri"/>
                <a:cs typeface="Calibri"/>
              </a:rPr>
              <a:t>must</a:t>
            </a:r>
            <a:r>
              <a:rPr dirty="0" sz="1600" spc="7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80">
                <a:solidFill>
                  <a:srgbClr val="0F1A3A"/>
                </a:solidFill>
                <a:latin typeface="Calibri"/>
                <a:cs typeface="Calibri"/>
              </a:rPr>
              <a:t>be </a:t>
            </a:r>
            <a:r>
              <a:rPr dirty="0" sz="1600" spc="50">
                <a:solidFill>
                  <a:srgbClr val="0F1A3A"/>
                </a:solidFill>
                <a:latin typeface="Calibri"/>
                <a:cs typeface="Calibri"/>
              </a:rPr>
              <a:t>less</a:t>
            </a:r>
            <a:r>
              <a:rPr dirty="0" sz="1600" spc="7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50">
                <a:solidFill>
                  <a:srgbClr val="0F1A3A"/>
                </a:solidFill>
                <a:latin typeface="Calibri"/>
                <a:cs typeface="Calibri"/>
              </a:rPr>
              <a:t>than</a:t>
            </a:r>
            <a:r>
              <a:rPr dirty="0" sz="1600" spc="7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F1A3A"/>
                </a:solidFill>
                <a:latin typeface="Calibri"/>
                <a:cs typeface="Calibri"/>
              </a:rPr>
              <a:t>or</a:t>
            </a:r>
            <a:r>
              <a:rPr dirty="0" sz="1600" spc="8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60">
                <a:solidFill>
                  <a:srgbClr val="0F1A3A"/>
                </a:solidFill>
                <a:latin typeface="Calibri"/>
                <a:cs typeface="Calibri"/>
              </a:rPr>
              <a:t>equal</a:t>
            </a:r>
            <a:r>
              <a:rPr dirty="0" sz="1600" spc="7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F1A3A"/>
                </a:solidFill>
                <a:latin typeface="Calibri"/>
                <a:cs typeface="Calibri"/>
              </a:rPr>
              <a:t>to</a:t>
            </a:r>
            <a:r>
              <a:rPr dirty="0" sz="1600" spc="7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F1A3A"/>
                </a:solidFill>
                <a:latin typeface="Calibri"/>
                <a:cs typeface="Calibri"/>
              </a:rPr>
              <a:t>total </a:t>
            </a:r>
            <a:r>
              <a:rPr dirty="0" sz="1600" spc="35">
                <a:solidFill>
                  <a:srgbClr val="0F1A3A"/>
                </a:solidFill>
                <a:latin typeface="Calibri"/>
                <a:cs typeface="Calibri"/>
              </a:rPr>
              <a:t>payment.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48399" y="4371974"/>
            <a:ext cx="5334000" cy="2181225"/>
            <a:chOff x="6248399" y="4371974"/>
            <a:chExt cx="5334000" cy="2181225"/>
          </a:xfrm>
        </p:grpSpPr>
        <p:sp>
          <p:nvSpPr>
            <p:cNvPr id="21" name="object 21"/>
            <p:cNvSpPr/>
            <p:nvPr/>
          </p:nvSpPr>
          <p:spPr>
            <a:xfrm>
              <a:off x="6324599" y="4371974"/>
              <a:ext cx="5257800" cy="2181225"/>
            </a:xfrm>
            <a:custGeom>
              <a:avLst/>
              <a:gdLst/>
              <a:ahLst/>
              <a:cxnLst/>
              <a:rect l="l" t="t" r="r" b="b"/>
              <a:pathLst>
                <a:path w="5257800" h="2181225">
                  <a:moveTo>
                    <a:pt x="0" y="2181224"/>
                  </a:moveTo>
                  <a:lnTo>
                    <a:pt x="5257799" y="2181224"/>
                  </a:lnTo>
                  <a:lnTo>
                    <a:pt x="5257799" y="0"/>
                  </a:lnTo>
                  <a:lnTo>
                    <a:pt x="0" y="0"/>
                  </a:lnTo>
                  <a:lnTo>
                    <a:pt x="0" y="2181224"/>
                  </a:lnTo>
                  <a:close/>
                </a:path>
              </a:pathLst>
            </a:custGeom>
            <a:solidFill>
              <a:srgbClr val="EDF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248387" y="4371974"/>
              <a:ext cx="1285875" cy="2181225"/>
            </a:xfrm>
            <a:custGeom>
              <a:avLst/>
              <a:gdLst/>
              <a:ahLst/>
              <a:cxnLst/>
              <a:rect l="l" t="t" r="r" b="b"/>
              <a:pathLst>
                <a:path w="1285875" h="2181225">
                  <a:moveTo>
                    <a:pt x="76200" y="0"/>
                  </a:moveTo>
                  <a:lnTo>
                    <a:pt x="0" y="0"/>
                  </a:lnTo>
                  <a:lnTo>
                    <a:pt x="0" y="2181225"/>
                  </a:lnTo>
                  <a:lnTo>
                    <a:pt x="76200" y="2181225"/>
                  </a:lnTo>
                  <a:lnTo>
                    <a:pt x="76200" y="0"/>
                  </a:lnTo>
                  <a:close/>
                </a:path>
                <a:path w="1285875" h="2181225">
                  <a:moveTo>
                    <a:pt x="1285875" y="272554"/>
                  </a:moveTo>
                  <a:lnTo>
                    <a:pt x="1272857" y="223989"/>
                  </a:lnTo>
                  <a:lnTo>
                    <a:pt x="1242250" y="184099"/>
                  </a:lnTo>
                  <a:lnTo>
                    <a:pt x="1198702" y="158965"/>
                  </a:lnTo>
                  <a:lnTo>
                    <a:pt x="1165733" y="152400"/>
                  </a:lnTo>
                  <a:lnTo>
                    <a:pt x="472579" y="152400"/>
                  </a:lnTo>
                  <a:lnTo>
                    <a:pt x="424014" y="165430"/>
                  </a:lnTo>
                  <a:lnTo>
                    <a:pt x="384124" y="196037"/>
                  </a:lnTo>
                  <a:lnTo>
                    <a:pt x="358990" y="239585"/>
                  </a:lnTo>
                  <a:lnTo>
                    <a:pt x="352425" y="272554"/>
                  </a:lnTo>
                  <a:lnTo>
                    <a:pt x="352425" y="280987"/>
                  </a:lnTo>
                  <a:lnTo>
                    <a:pt x="352425" y="289433"/>
                  </a:lnTo>
                  <a:lnTo>
                    <a:pt x="365455" y="337997"/>
                  </a:lnTo>
                  <a:lnTo>
                    <a:pt x="396062" y="377888"/>
                  </a:lnTo>
                  <a:lnTo>
                    <a:pt x="439610" y="403021"/>
                  </a:lnTo>
                  <a:lnTo>
                    <a:pt x="472579" y="409575"/>
                  </a:lnTo>
                  <a:lnTo>
                    <a:pt x="1165733" y="409575"/>
                  </a:lnTo>
                  <a:lnTo>
                    <a:pt x="1214297" y="396557"/>
                  </a:lnTo>
                  <a:lnTo>
                    <a:pt x="1254188" y="365950"/>
                  </a:lnTo>
                  <a:lnTo>
                    <a:pt x="1279321" y="322402"/>
                  </a:lnTo>
                  <a:lnTo>
                    <a:pt x="1285875" y="289433"/>
                  </a:lnTo>
                  <a:lnTo>
                    <a:pt x="1285875" y="272554"/>
                  </a:lnTo>
                  <a:close/>
                </a:path>
              </a:pathLst>
            </a:custGeom>
            <a:solidFill>
              <a:srgbClr val="12813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591250" y="4448051"/>
            <a:ext cx="4347210" cy="113982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725"/>
              </a:spcBef>
            </a:pPr>
            <a:r>
              <a:rPr dirty="0" sz="1300">
                <a:solidFill>
                  <a:srgbClr val="FFFFFF"/>
                </a:solidFill>
                <a:latin typeface="Courier New"/>
                <a:cs typeface="Courier New"/>
              </a:rPr>
              <a:t>GATE</a:t>
            </a:r>
            <a:r>
              <a:rPr dirty="0" sz="1300" spc="-114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Courier New"/>
                <a:cs typeface="Courier New"/>
              </a:rPr>
              <a:t>04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900" spc="50">
                <a:solidFill>
                  <a:srgbClr val="0F1A3A"/>
                </a:solidFill>
                <a:latin typeface="Calibri"/>
                <a:cs typeface="Calibri"/>
              </a:rPr>
              <a:t>Third</a:t>
            </a:r>
            <a:r>
              <a:rPr dirty="0" sz="1900" spc="5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80">
                <a:solidFill>
                  <a:srgbClr val="0F1A3A"/>
                </a:solidFill>
                <a:latin typeface="Calibri"/>
                <a:cs typeface="Calibri"/>
              </a:rPr>
              <a:t>Normal</a:t>
            </a:r>
            <a:r>
              <a:rPr dirty="0" sz="1900" spc="55">
                <a:solidFill>
                  <a:srgbClr val="0F1A3A"/>
                </a:solidFill>
                <a:latin typeface="Calibri"/>
                <a:cs typeface="Calibri"/>
              </a:rPr>
              <a:t> Form</a:t>
            </a:r>
            <a:r>
              <a:rPr dirty="0" sz="1900" spc="6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55">
                <a:solidFill>
                  <a:srgbClr val="0F1A3A"/>
                </a:solidFill>
                <a:latin typeface="Calibri"/>
                <a:cs typeface="Calibri"/>
              </a:rPr>
              <a:t>(3NF)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1600" spc="75">
                <a:solidFill>
                  <a:srgbClr val="0F1A3A"/>
                </a:solidFill>
                <a:latin typeface="Calibri"/>
                <a:cs typeface="Calibri"/>
              </a:rPr>
              <a:t>Schema</a:t>
            </a:r>
            <a:r>
              <a:rPr dirty="0" sz="1600" spc="10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F1A3A"/>
                </a:solidFill>
                <a:latin typeface="Calibri"/>
                <a:cs typeface="Calibri"/>
              </a:rPr>
              <a:t>is</a:t>
            </a:r>
            <a:r>
              <a:rPr dirty="0" sz="1600" spc="10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80">
                <a:solidFill>
                  <a:srgbClr val="0F1A3A"/>
                </a:solidFill>
                <a:latin typeface="Calibri"/>
                <a:cs typeface="Calibri"/>
              </a:rPr>
              <a:t>designed</a:t>
            </a:r>
            <a:r>
              <a:rPr dirty="0" sz="1600" spc="10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F1A3A"/>
                </a:solidFill>
                <a:latin typeface="Calibri"/>
                <a:cs typeface="Calibri"/>
              </a:rPr>
              <a:t>to</a:t>
            </a:r>
            <a:r>
              <a:rPr dirty="0" sz="1600" spc="10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F1A3A"/>
                </a:solidFill>
                <a:latin typeface="Calibri"/>
                <a:cs typeface="Calibri"/>
              </a:rPr>
              <a:t>Third</a:t>
            </a:r>
            <a:r>
              <a:rPr dirty="0" sz="1600" spc="10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50">
                <a:solidFill>
                  <a:srgbClr val="0F1A3A"/>
                </a:solidFill>
                <a:latin typeface="Calibri"/>
                <a:cs typeface="Calibri"/>
              </a:rPr>
              <a:t>Normal</a:t>
            </a:r>
            <a:r>
              <a:rPr dirty="0" sz="1600" spc="10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F1A3A"/>
                </a:solidFill>
                <a:latin typeface="Calibri"/>
                <a:cs typeface="Calibri"/>
              </a:rPr>
              <a:t>Form</a:t>
            </a:r>
            <a:r>
              <a:rPr dirty="0" sz="1600" spc="10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F1A3A"/>
                </a:solidFill>
                <a:latin typeface="Calibri"/>
                <a:cs typeface="Calibri"/>
              </a:rPr>
              <a:t>(3NF).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0316590" y="6342371"/>
            <a:ext cx="1780539" cy="431800"/>
            <a:chOff x="10316590" y="6342371"/>
            <a:chExt cx="1780539" cy="431800"/>
          </a:xfrm>
        </p:grpSpPr>
        <p:pic>
          <p:nvPicPr>
            <p:cNvPr id="25" name="object 25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42244" y="6343649"/>
              <a:ext cx="1754504" cy="419100"/>
            </a:xfrm>
            <a:prstGeom prst="rect">
              <a:avLst/>
            </a:prstGeom>
          </p:spPr>
        </p:pic>
        <p:sp>
          <p:nvSpPr>
            <p:cNvPr id="26" name="object 26">
              <a:hlinkClick r:id="rId3"/>
            </p:cNvPr>
            <p:cNvSpPr/>
            <p:nvPr/>
          </p:nvSpPr>
          <p:spPr>
            <a:xfrm>
              <a:off x="10316590" y="6342371"/>
              <a:ext cx="1772285" cy="431800"/>
            </a:xfrm>
            <a:custGeom>
              <a:avLst/>
              <a:gdLst/>
              <a:ahLst/>
              <a:cxnLst/>
              <a:rect l="l" t="t" r="r" b="b"/>
              <a:pathLst>
                <a:path w="1772284" h="431800">
                  <a:moveTo>
                    <a:pt x="1575945" y="0"/>
                  </a:moveTo>
                  <a:lnTo>
                    <a:pt x="196126" y="0"/>
                  </a:lnTo>
                  <a:lnTo>
                    <a:pt x="151156" y="5179"/>
                  </a:lnTo>
                  <a:lnTo>
                    <a:pt x="109875" y="19934"/>
                  </a:lnTo>
                  <a:lnTo>
                    <a:pt x="73459" y="43086"/>
                  </a:lnTo>
                  <a:lnTo>
                    <a:pt x="43086" y="73459"/>
                  </a:lnTo>
                  <a:lnTo>
                    <a:pt x="19934" y="109875"/>
                  </a:lnTo>
                  <a:lnTo>
                    <a:pt x="5179" y="151156"/>
                  </a:lnTo>
                  <a:lnTo>
                    <a:pt x="0" y="196126"/>
                  </a:lnTo>
                  <a:lnTo>
                    <a:pt x="0" y="235264"/>
                  </a:lnTo>
                  <a:lnTo>
                    <a:pt x="5179" y="280234"/>
                  </a:lnTo>
                  <a:lnTo>
                    <a:pt x="19934" y="321516"/>
                  </a:lnTo>
                  <a:lnTo>
                    <a:pt x="43086" y="357931"/>
                  </a:lnTo>
                  <a:lnTo>
                    <a:pt x="73459" y="388304"/>
                  </a:lnTo>
                  <a:lnTo>
                    <a:pt x="109875" y="411456"/>
                  </a:lnTo>
                  <a:lnTo>
                    <a:pt x="151156" y="426211"/>
                  </a:lnTo>
                  <a:lnTo>
                    <a:pt x="196126" y="431391"/>
                  </a:lnTo>
                  <a:lnTo>
                    <a:pt x="1575945" y="431391"/>
                  </a:lnTo>
                  <a:lnTo>
                    <a:pt x="1620915" y="426211"/>
                  </a:lnTo>
                  <a:lnTo>
                    <a:pt x="1662197" y="411456"/>
                  </a:lnTo>
                  <a:lnTo>
                    <a:pt x="1698613" y="388304"/>
                  </a:lnTo>
                  <a:lnTo>
                    <a:pt x="1728986" y="357931"/>
                  </a:lnTo>
                  <a:lnTo>
                    <a:pt x="1752138" y="321516"/>
                  </a:lnTo>
                  <a:lnTo>
                    <a:pt x="1766893" y="280234"/>
                  </a:lnTo>
                  <a:lnTo>
                    <a:pt x="1772072" y="235264"/>
                  </a:lnTo>
                  <a:lnTo>
                    <a:pt x="1772072" y="215695"/>
                  </a:lnTo>
                  <a:lnTo>
                    <a:pt x="1772072" y="196126"/>
                  </a:lnTo>
                  <a:lnTo>
                    <a:pt x="1766893" y="151156"/>
                  </a:lnTo>
                  <a:lnTo>
                    <a:pt x="1752138" y="109875"/>
                  </a:lnTo>
                  <a:lnTo>
                    <a:pt x="1728986" y="73459"/>
                  </a:lnTo>
                  <a:lnTo>
                    <a:pt x="1698613" y="43086"/>
                  </a:lnTo>
                  <a:lnTo>
                    <a:pt x="1662197" y="19934"/>
                  </a:lnTo>
                  <a:lnTo>
                    <a:pt x="1620915" y="5179"/>
                  </a:lnTo>
                  <a:lnTo>
                    <a:pt x="15759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599" y="485774"/>
            <a:ext cx="1638300" cy="228600"/>
          </a:xfrm>
          <a:custGeom>
            <a:avLst/>
            <a:gdLst/>
            <a:ahLst/>
            <a:cxnLst/>
            <a:rect l="l" t="t" r="r" b="b"/>
            <a:pathLst>
              <a:path w="1638300" h="228600">
                <a:moveTo>
                  <a:pt x="1531504" y="228599"/>
                </a:moveTo>
                <a:lnTo>
                  <a:pt x="106795" y="228599"/>
                </a:lnTo>
                <a:lnTo>
                  <a:pt x="99362" y="227867"/>
                </a:lnTo>
                <a:lnTo>
                  <a:pt x="57038" y="213506"/>
                </a:lnTo>
                <a:lnTo>
                  <a:pt x="23432" y="184041"/>
                </a:lnTo>
                <a:lnTo>
                  <a:pt x="3660" y="143959"/>
                </a:lnTo>
                <a:lnTo>
                  <a:pt x="0" y="121805"/>
                </a:lnTo>
                <a:lnTo>
                  <a:pt x="0" y="114299"/>
                </a:lnTo>
                <a:lnTo>
                  <a:pt x="0" y="106794"/>
                </a:lnTo>
                <a:lnTo>
                  <a:pt x="11572" y="63625"/>
                </a:lnTo>
                <a:lnTo>
                  <a:pt x="38784" y="28170"/>
                </a:lnTo>
                <a:lnTo>
                  <a:pt x="77493" y="5828"/>
                </a:lnTo>
                <a:lnTo>
                  <a:pt x="106795" y="0"/>
                </a:lnTo>
                <a:lnTo>
                  <a:pt x="1531504" y="0"/>
                </a:lnTo>
                <a:lnTo>
                  <a:pt x="1574673" y="11572"/>
                </a:lnTo>
                <a:lnTo>
                  <a:pt x="1610128" y="38784"/>
                </a:lnTo>
                <a:lnTo>
                  <a:pt x="1632471" y="77493"/>
                </a:lnTo>
                <a:lnTo>
                  <a:pt x="1638299" y="106794"/>
                </a:lnTo>
                <a:lnTo>
                  <a:pt x="1638299" y="121805"/>
                </a:lnTo>
                <a:lnTo>
                  <a:pt x="1626727" y="164974"/>
                </a:lnTo>
                <a:lnTo>
                  <a:pt x="1599515" y="200429"/>
                </a:lnTo>
                <a:lnTo>
                  <a:pt x="1560806" y="222771"/>
                </a:lnTo>
                <a:lnTo>
                  <a:pt x="1538937" y="227867"/>
                </a:lnTo>
                <a:lnTo>
                  <a:pt x="1531504" y="228599"/>
                </a:lnTo>
                <a:close/>
              </a:path>
            </a:pathLst>
          </a:custGeom>
          <a:solidFill>
            <a:srgbClr val="1F4ED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2324099" y="495299"/>
            <a:ext cx="1600200" cy="200025"/>
            <a:chOff x="2324099" y="495299"/>
            <a:chExt cx="1600200" cy="2000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0299" y="542924"/>
              <a:ext cx="95249" cy="1047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28862" y="500062"/>
              <a:ext cx="1590675" cy="190500"/>
            </a:xfrm>
            <a:custGeom>
              <a:avLst/>
              <a:gdLst/>
              <a:ahLst/>
              <a:cxnLst/>
              <a:rect l="l" t="t" r="r" b="b"/>
              <a:pathLst>
                <a:path w="1590675" h="190500">
                  <a:moveTo>
                    <a:pt x="0" y="95249"/>
                  </a:moveTo>
                  <a:lnTo>
                    <a:pt x="0" y="88995"/>
                  </a:lnTo>
                  <a:lnTo>
                    <a:pt x="609" y="82801"/>
                  </a:lnTo>
                  <a:lnTo>
                    <a:pt x="1830" y="76667"/>
                  </a:lnTo>
                  <a:lnTo>
                    <a:pt x="3050" y="70533"/>
                  </a:lnTo>
                  <a:lnTo>
                    <a:pt x="4856" y="64577"/>
                  </a:lnTo>
                  <a:lnTo>
                    <a:pt x="7250" y="58799"/>
                  </a:lnTo>
                  <a:lnTo>
                    <a:pt x="9643" y="53021"/>
                  </a:lnTo>
                  <a:lnTo>
                    <a:pt x="12577" y="47532"/>
                  </a:lnTo>
                  <a:lnTo>
                    <a:pt x="16052" y="42331"/>
                  </a:lnTo>
                  <a:lnTo>
                    <a:pt x="19526" y="37131"/>
                  </a:lnTo>
                  <a:lnTo>
                    <a:pt x="23475" y="32320"/>
                  </a:lnTo>
                  <a:lnTo>
                    <a:pt x="27897" y="27898"/>
                  </a:lnTo>
                  <a:lnTo>
                    <a:pt x="32320" y="23475"/>
                  </a:lnTo>
                  <a:lnTo>
                    <a:pt x="70533" y="3050"/>
                  </a:lnTo>
                  <a:lnTo>
                    <a:pt x="76667" y="1830"/>
                  </a:lnTo>
                  <a:lnTo>
                    <a:pt x="82801" y="610"/>
                  </a:lnTo>
                  <a:lnTo>
                    <a:pt x="88995" y="0"/>
                  </a:lnTo>
                  <a:lnTo>
                    <a:pt x="95249" y="0"/>
                  </a:lnTo>
                  <a:lnTo>
                    <a:pt x="1495424" y="0"/>
                  </a:lnTo>
                  <a:lnTo>
                    <a:pt x="1501678" y="0"/>
                  </a:lnTo>
                  <a:lnTo>
                    <a:pt x="1507872" y="610"/>
                  </a:lnTo>
                  <a:lnTo>
                    <a:pt x="1514006" y="1830"/>
                  </a:lnTo>
                  <a:lnTo>
                    <a:pt x="1520140" y="3050"/>
                  </a:lnTo>
                  <a:lnTo>
                    <a:pt x="1526096" y="4857"/>
                  </a:lnTo>
                  <a:lnTo>
                    <a:pt x="1531874" y="7250"/>
                  </a:lnTo>
                  <a:lnTo>
                    <a:pt x="1537652" y="9643"/>
                  </a:lnTo>
                  <a:lnTo>
                    <a:pt x="1571147" y="37131"/>
                  </a:lnTo>
                  <a:lnTo>
                    <a:pt x="1583423" y="58799"/>
                  </a:lnTo>
                  <a:lnTo>
                    <a:pt x="1585817" y="64577"/>
                  </a:lnTo>
                  <a:lnTo>
                    <a:pt x="1587624" y="70533"/>
                  </a:lnTo>
                  <a:lnTo>
                    <a:pt x="1588844" y="76667"/>
                  </a:lnTo>
                  <a:lnTo>
                    <a:pt x="1590064" y="82801"/>
                  </a:lnTo>
                  <a:lnTo>
                    <a:pt x="1590674" y="88995"/>
                  </a:lnTo>
                  <a:lnTo>
                    <a:pt x="1590674" y="95249"/>
                  </a:lnTo>
                  <a:lnTo>
                    <a:pt x="1590674" y="101504"/>
                  </a:lnTo>
                  <a:lnTo>
                    <a:pt x="1583423" y="131700"/>
                  </a:lnTo>
                  <a:lnTo>
                    <a:pt x="1581030" y="137478"/>
                  </a:lnTo>
                  <a:lnTo>
                    <a:pt x="1553542" y="170972"/>
                  </a:lnTo>
                  <a:lnTo>
                    <a:pt x="1531874" y="183249"/>
                  </a:lnTo>
                  <a:lnTo>
                    <a:pt x="1526096" y="185642"/>
                  </a:lnTo>
                  <a:lnTo>
                    <a:pt x="1520140" y="187449"/>
                  </a:lnTo>
                  <a:lnTo>
                    <a:pt x="1514006" y="188669"/>
                  </a:lnTo>
                  <a:lnTo>
                    <a:pt x="1507872" y="189889"/>
                  </a:lnTo>
                  <a:lnTo>
                    <a:pt x="1501678" y="190499"/>
                  </a:lnTo>
                  <a:lnTo>
                    <a:pt x="1495424" y="190499"/>
                  </a:lnTo>
                  <a:lnTo>
                    <a:pt x="95249" y="190499"/>
                  </a:lnTo>
                  <a:lnTo>
                    <a:pt x="88995" y="190499"/>
                  </a:lnTo>
                  <a:lnTo>
                    <a:pt x="82801" y="189889"/>
                  </a:lnTo>
                  <a:lnTo>
                    <a:pt x="76667" y="188669"/>
                  </a:lnTo>
                  <a:lnTo>
                    <a:pt x="70533" y="187449"/>
                  </a:lnTo>
                  <a:lnTo>
                    <a:pt x="32320" y="167024"/>
                  </a:lnTo>
                  <a:lnTo>
                    <a:pt x="27897" y="162601"/>
                  </a:lnTo>
                  <a:lnTo>
                    <a:pt x="23475" y="158179"/>
                  </a:lnTo>
                  <a:lnTo>
                    <a:pt x="19526" y="153368"/>
                  </a:lnTo>
                  <a:lnTo>
                    <a:pt x="16052" y="148168"/>
                  </a:lnTo>
                  <a:lnTo>
                    <a:pt x="12577" y="142967"/>
                  </a:lnTo>
                  <a:lnTo>
                    <a:pt x="9643" y="137478"/>
                  </a:lnTo>
                  <a:lnTo>
                    <a:pt x="7250" y="131700"/>
                  </a:lnTo>
                  <a:lnTo>
                    <a:pt x="4856" y="125922"/>
                  </a:lnTo>
                  <a:lnTo>
                    <a:pt x="3050" y="119966"/>
                  </a:lnTo>
                  <a:lnTo>
                    <a:pt x="1829" y="113832"/>
                  </a:lnTo>
                  <a:lnTo>
                    <a:pt x="609" y="107698"/>
                  </a:lnTo>
                  <a:lnTo>
                    <a:pt x="0" y="101504"/>
                  </a:lnTo>
                  <a:lnTo>
                    <a:pt x="0" y="95249"/>
                  </a:lnTo>
                  <a:close/>
                </a:path>
              </a:pathLst>
            </a:custGeom>
            <a:ln w="9524">
              <a:solidFill>
                <a:srgbClr val="0F1A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723850" y="485838"/>
            <a:ext cx="313753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06905" algn="l"/>
              </a:tabLst>
            </a:pPr>
            <a:r>
              <a:rPr dirty="0" sz="1100" spc="-20">
                <a:solidFill>
                  <a:srgbClr val="FFFFFF"/>
                </a:solidFill>
                <a:latin typeface="Courier New"/>
                <a:cs typeface="Courier New"/>
              </a:rPr>
              <a:t>APPLICATION</a:t>
            </a:r>
            <a:r>
              <a:rPr dirty="0" sz="1100" spc="-9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Courier New"/>
                <a:cs typeface="Courier New"/>
              </a:rPr>
              <a:t>LAYER</a:t>
            </a:r>
            <a:r>
              <a:rPr dirty="0" sz="110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dirty="0" sz="1100" spc="-35">
                <a:solidFill>
                  <a:srgbClr val="0F1A3A"/>
                </a:solidFill>
                <a:latin typeface="Courier New"/>
                <a:cs typeface="Courier New"/>
              </a:rPr>
              <a:t>FULL-</a:t>
            </a:r>
            <a:r>
              <a:rPr dirty="0" sz="1100">
                <a:solidFill>
                  <a:srgbClr val="0F1A3A"/>
                </a:solidFill>
                <a:latin typeface="Courier New"/>
                <a:cs typeface="Courier New"/>
              </a:rPr>
              <a:t>STACK</a:t>
            </a:r>
            <a:r>
              <a:rPr dirty="0" sz="1100" spc="-110">
                <a:solidFill>
                  <a:srgbClr val="0F1A3A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0F1A3A"/>
                </a:solidFill>
                <a:latin typeface="Courier New"/>
                <a:cs typeface="Courier New"/>
              </a:rPr>
              <a:t>CRUD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405" rIns="0" bIns="0" rtlCol="0" vert="horz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515"/>
              </a:spcBef>
            </a:pPr>
            <a:r>
              <a:rPr dirty="0" spc="-295"/>
              <a:t>CRUD</a:t>
            </a:r>
            <a:r>
              <a:rPr dirty="0" spc="-405"/>
              <a:t> </a:t>
            </a:r>
            <a:r>
              <a:rPr dirty="0" spc="-175"/>
              <a:t>workflows</a:t>
            </a:r>
            <a:r>
              <a:rPr dirty="0" spc="-405"/>
              <a:t> </a:t>
            </a:r>
            <a:r>
              <a:rPr dirty="0" spc="-145"/>
              <a:t>create</a:t>
            </a:r>
            <a:r>
              <a:rPr dirty="0" spc="-405"/>
              <a:t> </a:t>
            </a:r>
            <a:r>
              <a:rPr dirty="0"/>
              <a:t>a</a:t>
            </a:r>
            <a:r>
              <a:rPr dirty="0" spc="-405"/>
              <a:t> </a:t>
            </a:r>
            <a:r>
              <a:rPr dirty="0" spc="125"/>
              <a:t>full-</a:t>
            </a:r>
            <a:r>
              <a:rPr dirty="0" spc="-160"/>
              <a:t>stack</a:t>
            </a:r>
            <a:r>
              <a:rPr dirty="0" spc="-405"/>
              <a:t> </a:t>
            </a:r>
            <a:r>
              <a:rPr dirty="0" spc="-10"/>
              <a:t>management </a:t>
            </a:r>
            <a:r>
              <a:rPr dirty="0" spc="-65"/>
              <a:t>experience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96899" y="1822481"/>
            <a:ext cx="897318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75">
                <a:solidFill>
                  <a:srgbClr val="0F1A3A"/>
                </a:solidFill>
                <a:latin typeface="Calibri"/>
                <a:cs typeface="Calibri"/>
              </a:rPr>
              <a:t>Standard</a:t>
            </a:r>
            <a:r>
              <a:rPr dirty="0" sz="1900" spc="13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F1A3A"/>
                </a:solidFill>
                <a:latin typeface="Calibri"/>
                <a:cs typeface="Calibri"/>
              </a:rPr>
              <a:t>relational</a:t>
            </a:r>
            <a:r>
              <a:rPr dirty="0" sz="1900" spc="1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45">
                <a:solidFill>
                  <a:srgbClr val="0F1A3A"/>
                </a:solidFill>
                <a:latin typeface="Calibri"/>
                <a:cs typeface="Calibri"/>
              </a:rPr>
              <a:t>primitives</a:t>
            </a:r>
            <a:r>
              <a:rPr dirty="0" sz="1900" spc="1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65">
                <a:solidFill>
                  <a:srgbClr val="0F1A3A"/>
                </a:solidFill>
                <a:latin typeface="Calibri"/>
                <a:cs typeface="Calibri"/>
              </a:rPr>
              <a:t>power</a:t>
            </a:r>
            <a:r>
              <a:rPr dirty="0" sz="1900" spc="13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55">
                <a:solidFill>
                  <a:srgbClr val="0F1A3A"/>
                </a:solidFill>
                <a:latin typeface="Calibri"/>
                <a:cs typeface="Calibri"/>
              </a:rPr>
              <a:t>the</a:t>
            </a:r>
            <a:r>
              <a:rPr dirty="0" sz="1900" spc="1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70">
                <a:solidFill>
                  <a:srgbClr val="0F1A3A"/>
                </a:solidFill>
                <a:latin typeface="Calibri"/>
                <a:cs typeface="Calibri"/>
              </a:rPr>
              <a:t>end-</a:t>
            </a:r>
            <a:r>
              <a:rPr dirty="0" sz="1900" spc="80">
                <a:solidFill>
                  <a:srgbClr val="0F1A3A"/>
                </a:solidFill>
                <a:latin typeface="Calibri"/>
                <a:cs typeface="Calibri"/>
              </a:rPr>
              <a:t>to-</a:t>
            </a:r>
            <a:r>
              <a:rPr dirty="0" sz="1900" spc="85">
                <a:solidFill>
                  <a:srgbClr val="0F1A3A"/>
                </a:solidFill>
                <a:latin typeface="Calibri"/>
                <a:cs typeface="Calibri"/>
              </a:rPr>
              <a:t>end</a:t>
            </a:r>
            <a:r>
              <a:rPr dirty="0" sz="1900" spc="13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55">
                <a:solidFill>
                  <a:srgbClr val="0F1A3A"/>
                </a:solidFill>
                <a:latin typeface="Calibri"/>
                <a:cs typeface="Calibri"/>
              </a:rPr>
              <a:t>operator</a:t>
            </a:r>
            <a:r>
              <a:rPr dirty="0" sz="1900" spc="1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85">
                <a:solidFill>
                  <a:srgbClr val="0F1A3A"/>
                </a:solidFill>
                <a:latin typeface="Calibri"/>
                <a:cs typeface="Calibri"/>
              </a:rPr>
              <a:t>and</a:t>
            </a:r>
            <a:r>
              <a:rPr dirty="0" sz="1900" spc="1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F1A3A"/>
                </a:solidFill>
                <a:latin typeface="Calibri"/>
                <a:cs typeface="Calibri"/>
              </a:rPr>
              <a:t>traveller</a:t>
            </a:r>
            <a:r>
              <a:rPr dirty="0" sz="1900" spc="13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35">
                <a:solidFill>
                  <a:srgbClr val="0F1A3A"/>
                </a:solidFill>
                <a:latin typeface="Calibri"/>
                <a:cs typeface="Calibri"/>
              </a:rPr>
              <a:t>lifecycle.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9600" y="2343150"/>
            <a:ext cx="2514600" cy="152400"/>
          </a:xfrm>
          <a:custGeom>
            <a:avLst/>
            <a:gdLst/>
            <a:ahLst/>
            <a:cxnLst/>
            <a:rect l="l" t="t" r="r" b="b"/>
            <a:pathLst>
              <a:path w="2514600" h="152400">
                <a:moveTo>
                  <a:pt x="0" y="152399"/>
                </a:moveTo>
                <a:lnTo>
                  <a:pt x="718" y="137531"/>
                </a:lnTo>
                <a:lnTo>
                  <a:pt x="725" y="137387"/>
                </a:lnTo>
                <a:lnTo>
                  <a:pt x="2814" y="123239"/>
                </a:lnTo>
                <a:lnTo>
                  <a:pt x="18015" y="80486"/>
                </a:lnTo>
                <a:lnTo>
                  <a:pt x="44636" y="44636"/>
                </a:lnTo>
                <a:lnTo>
                  <a:pt x="80486" y="18015"/>
                </a:lnTo>
                <a:lnTo>
                  <a:pt x="122662" y="2900"/>
                </a:lnTo>
                <a:lnTo>
                  <a:pt x="152399" y="0"/>
                </a:lnTo>
                <a:lnTo>
                  <a:pt x="2362199" y="0"/>
                </a:lnTo>
                <a:lnTo>
                  <a:pt x="2406373" y="6525"/>
                </a:lnTo>
                <a:lnTo>
                  <a:pt x="2446884" y="25660"/>
                </a:lnTo>
                <a:lnTo>
                  <a:pt x="2480065" y="55765"/>
                </a:lnTo>
                <a:lnTo>
                  <a:pt x="2494018" y="76199"/>
                </a:lnTo>
                <a:lnTo>
                  <a:pt x="152399" y="76199"/>
                </a:lnTo>
                <a:lnTo>
                  <a:pt x="137387" y="76562"/>
                </a:lnTo>
                <a:lnTo>
                  <a:pt x="94078" y="82000"/>
                </a:lnTo>
                <a:lnTo>
                  <a:pt x="55765" y="93466"/>
                </a:lnTo>
                <a:lnTo>
                  <a:pt x="18015" y="116442"/>
                </a:lnTo>
                <a:lnTo>
                  <a:pt x="725" y="144893"/>
                </a:lnTo>
                <a:lnTo>
                  <a:pt x="0" y="152399"/>
                </a:lnTo>
                <a:close/>
              </a:path>
              <a:path w="2514600" h="152400">
                <a:moveTo>
                  <a:pt x="2514599" y="152399"/>
                </a:moveTo>
                <a:lnTo>
                  <a:pt x="2496583" y="116442"/>
                </a:lnTo>
                <a:lnTo>
                  <a:pt x="2458834" y="93466"/>
                </a:lnTo>
                <a:lnTo>
                  <a:pt x="2420520" y="82000"/>
                </a:lnTo>
                <a:lnTo>
                  <a:pt x="2377212" y="76562"/>
                </a:lnTo>
                <a:lnTo>
                  <a:pt x="2362199" y="76199"/>
                </a:lnTo>
                <a:lnTo>
                  <a:pt x="2494018" y="76199"/>
                </a:lnTo>
                <a:lnTo>
                  <a:pt x="2511699" y="122662"/>
                </a:lnTo>
                <a:lnTo>
                  <a:pt x="2513874" y="137387"/>
                </a:lnTo>
                <a:lnTo>
                  <a:pt x="2514599" y="152399"/>
                </a:lnTo>
                <a:close/>
              </a:path>
            </a:pathLst>
          </a:custGeom>
          <a:solidFill>
            <a:srgbClr val="FF83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09624" y="2619374"/>
            <a:ext cx="1219200" cy="257175"/>
          </a:xfrm>
          <a:custGeom>
            <a:avLst/>
            <a:gdLst/>
            <a:ahLst/>
            <a:cxnLst/>
            <a:rect l="l" t="t" r="r" b="b"/>
            <a:pathLst>
              <a:path w="1219200" h="257175">
                <a:moveTo>
                  <a:pt x="1099055" y="257174"/>
                </a:moveTo>
                <a:lnTo>
                  <a:pt x="120144" y="257174"/>
                </a:lnTo>
                <a:lnTo>
                  <a:pt x="111782" y="256351"/>
                </a:lnTo>
                <a:lnTo>
                  <a:pt x="71578" y="244155"/>
                </a:lnTo>
                <a:lnTo>
                  <a:pt x="31692" y="213542"/>
                </a:lnTo>
                <a:lnTo>
                  <a:pt x="6557" y="169995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4"/>
                </a:lnTo>
                <a:lnTo>
                  <a:pt x="13019" y="71578"/>
                </a:lnTo>
                <a:lnTo>
                  <a:pt x="43632" y="31691"/>
                </a:lnTo>
                <a:lnTo>
                  <a:pt x="87179" y="6556"/>
                </a:lnTo>
                <a:lnTo>
                  <a:pt x="120144" y="0"/>
                </a:lnTo>
                <a:lnTo>
                  <a:pt x="1099055" y="0"/>
                </a:lnTo>
                <a:lnTo>
                  <a:pt x="1147621" y="13018"/>
                </a:lnTo>
                <a:lnTo>
                  <a:pt x="1187507" y="43632"/>
                </a:lnTo>
                <a:lnTo>
                  <a:pt x="1212642" y="87178"/>
                </a:lnTo>
                <a:lnTo>
                  <a:pt x="1219199" y="120144"/>
                </a:lnTo>
                <a:lnTo>
                  <a:pt x="1219199" y="137030"/>
                </a:lnTo>
                <a:lnTo>
                  <a:pt x="1206180" y="185595"/>
                </a:lnTo>
                <a:lnTo>
                  <a:pt x="1175567" y="225482"/>
                </a:lnTo>
                <a:lnTo>
                  <a:pt x="1132020" y="250617"/>
                </a:lnTo>
                <a:lnTo>
                  <a:pt x="1107417" y="256351"/>
                </a:lnTo>
                <a:lnTo>
                  <a:pt x="1099055" y="257174"/>
                </a:lnTo>
                <a:close/>
              </a:path>
            </a:pathLst>
          </a:custGeom>
          <a:solidFill>
            <a:srgbClr val="FF83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00050" y="2510468"/>
            <a:ext cx="1874520" cy="2118360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980"/>
              </a:spcBef>
            </a:pPr>
            <a:r>
              <a:rPr dirty="0" sz="1300">
                <a:latin typeface="Courier New"/>
                <a:cs typeface="Courier New"/>
              </a:rPr>
              <a:t>C</a:t>
            </a:r>
            <a:r>
              <a:rPr dirty="0" sz="1300" spc="-50">
                <a:latin typeface="Courier New"/>
                <a:cs typeface="Courier New"/>
              </a:rPr>
              <a:t> </a:t>
            </a:r>
            <a:r>
              <a:rPr dirty="0" sz="1300">
                <a:latin typeface="Courier New"/>
                <a:cs typeface="Courier New"/>
              </a:rPr>
              <a:t>·</a:t>
            </a:r>
            <a:r>
              <a:rPr dirty="0" sz="1300" spc="-45">
                <a:latin typeface="Courier New"/>
                <a:cs typeface="Courier New"/>
              </a:rPr>
              <a:t> </a:t>
            </a:r>
            <a:r>
              <a:rPr dirty="0" sz="1300" spc="-10">
                <a:latin typeface="Courier New"/>
                <a:cs typeface="Courier New"/>
              </a:rPr>
              <a:t>CREATE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900" spc="65">
                <a:solidFill>
                  <a:srgbClr val="0F1A3A"/>
                </a:solidFill>
                <a:latin typeface="Calibri"/>
                <a:cs typeface="Calibri"/>
              </a:rPr>
              <a:t>Create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116900"/>
              </a:lnSpc>
              <a:spcBef>
                <a:spcPts val="994"/>
              </a:spcBef>
            </a:pPr>
            <a:r>
              <a:rPr dirty="0" sz="1350" spc="60">
                <a:solidFill>
                  <a:srgbClr val="0F1A3A"/>
                </a:solidFill>
                <a:latin typeface="Calibri"/>
                <a:cs typeface="Calibri"/>
              </a:rPr>
              <a:t>Schedule</a:t>
            </a:r>
            <a:r>
              <a:rPr dirty="0" sz="1350" spc="9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F1A3A"/>
                </a:solidFill>
                <a:latin typeface="Calibri"/>
                <a:cs typeface="Calibri"/>
              </a:rPr>
              <a:t>new</a:t>
            </a:r>
            <a:r>
              <a:rPr dirty="0" sz="1350" spc="9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seasonal </a:t>
            </a: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departures,</a:t>
            </a:r>
            <a:r>
              <a:rPr dirty="0" sz="1350" spc="33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register </a:t>
            </a: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individual</a:t>
            </a:r>
            <a:r>
              <a:rPr dirty="0" sz="1350" spc="254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travellers,</a:t>
            </a:r>
            <a:r>
              <a:rPr dirty="0" sz="1350" spc="254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35">
                <a:solidFill>
                  <a:srgbClr val="0F1A3A"/>
                </a:solidFill>
                <a:latin typeface="Calibri"/>
                <a:cs typeface="Calibri"/>
              </a:rPr>
              <a:t>and </a:t>
            </a:r>
            <a:r>
              <a:rPr dirty="0" sz="1350" spc="50">
                <a:solidFill>
                  <a:srgbClr val="0F1A3A"/>
                </a:solidFill>
                <a:latin typeface="Calibri"/>
                <a:cs typeface="Calibri"/>
              </a:rPr>
              <a:t>generate</a:t>
            </a:r>
            <a:r>
              <a:rPr dirty="0" sz="1350" spc="2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structured </a:t>
            </a:r>
            <a:r>
              <a:rPr dirty="0" sz="1350" spc="50">
                <a:solidFill>
                  <a:srgbClr val="0F1A3A"/>
                </a:solidFill>
                <a:latin typeface="Calibri"/>
                <a:cs typeface="Calibri"/>
              </a:rPr>
              <a:t>payment</a:t>
            </a:r>
            <a:r>
              <a:rPr dirty="0" sz="1350" spc="2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transactions.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0050" y="6000813"/>
            <a:ext cx="202247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25">
                <a:solidFill>
                  <a:srgbClr val="4A5372"/>
                </a:solidFill>
                <a:latin typeface="Courier New"/>
                <a:cs typeface="Courier New"/>
              </a:rPr>
              <a:t>INSERT</a:t>
            </a:r>
            <a:r>
              <a:rPr dirty="0" sz="1250" spc="-155">
                <a:solidFill>
                  <a:srgbClr val="4A5372"/>
                </a:solidFill>
                <a:latin typeface="Courier New"/>
                <a:cs typeface="Courier New"/>
              </a:rPr>
              <a:t> </a:t>
            </a:r>
            <a:r>
              <a:rPr dirty="0" sz="1250" spc="-10">
                <a:solidFill>
                  <a:srgbClr val="4A5372"/>
                </a:solidFill>
                <a:latin typeface="Courier New"/>
                <a:cs typeface="Courier New"/>
              </a:rPr>
              <a:t>INTO</a:t>
            </a:r>
            <a:r>
              <a:rPr dirty="0" sz="1250" spc="-150">
                <a:solidFill>
                  <a:srgbClr val="4A5372"/>
                </a:solidFill>
                <a:latin typeface="Courier New"/>
                <a:cs typeface="Courier New"/>
              </a:rPr>
              <a:t> </a:t>
            </a:r>
            <a:r>
              <a:rPr dirty="0" sz="1250" spc="-30">
                <a:solidFill>
                  <a:srgbClr val="4A5372"/>
                </a:solidFill>
                <a:latin typeface="Courier New"/>
                <a:cs typeface="Courier New"/>
              </a:rPr>
              <a:t>departures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29000" y="2343150"/>
            <a:ext cx="2514600" cy="152400"/>
          </a:xfrm>
          <a:custGeom>
            <a:avLst/>
            <a:gdLst/>
            <a:ahLst/>
            <a:cxnLst/>
            <a:rect l="l" t="t" r="r" b="b"/>
            <a:pathLst>
              <a:path w="2514600" h="152400">
                <a:moveTo>
                  <a:pt x="0" y="152399"/>
                </a:moveTo>
                <a:lnTo>
                  <a:pt x="717" y="137531"/>
                </a:lnTo>
                <a:lnTo>
                  <a:pt x="724" y="137387"/>
                </a:lnTo>
                <a:lnTo>
                  <a:pt x="2814" y="123239"/>
                </a:lnTo>
                <a:lnTo>
                  <a:pt x="18015" y="80486"/>
                </a:lnTo>
                <a:lnTo>
                  <a:pt x="44636" y="44636"/>
                </a:lnTo>
                <a:lnTo>
                  <a:pt x="80485" y="18015"/>
                </a:lnTo>
                <a:lnTo>
                  <a:pt x="122662" y="2900"/>
                </a:lnTo>
                <a:lnTo>
                  <a:pt x="152399" y="0"/>
                </a:lnTo>
                <a:lnTo>
                  <a:pt x="2362199" y="0"/>
                </a:lnTo>
                <a:lnTo>
                  <a:pt x="2406372" y="6525"/>
                </a:lnTo>
                <a:lnTo>
                  <a:pt x="2446883" y="25660"/>
                </a:lnTo>
                <a:lnTo>
                  <a:pt x="2480065" y="55765"/>
                </a:lnTo>
                <a:lnTo>
                  <a:pt x="2494018" y="76199"/>
                </a:lnTo>
                <a:lnTo>
                  <a:pt x="152399" y="76199"/>
                </a:lnTo>
                <a:lnTo>
                  <a:pt x="137386" y="76562"/>
                </a:lnTo>
                <a:lnTo>
                  <a:pt x="94078" y="82000"/>
                </a:lnTo>
                <a:lnTo>
                  <a:pt x="55764" y="93466"/>
                </a:lnTo>
                <a:lnTo>
                  <a:pt x="18015" y="116442"/>
                </a:lnTo>
                <a:lnTo>
                  <a:pt x="2972" y="137387"/>
                </a:lnTo>
                <a:lnTo>
                  <a:pt x="2899" y="137531"/>
                </a:lnTo>
                <a:lnTo>
                  <a:pt x="724" y="144893"/>
                </a:lnTo>
                <a:lnTo>
                  <a:pt x="0" y="152399"/>
                </a:lnTo>
                <a:close/>
              </a:path>
              <a:path w="2514600" h="152400">
                <a:moveTo>
                  <a:pt x="2514599" y="152399"/>
                </a:moveTo>
                <a:lnTo>
                  <a:pt x="2496583" y="116442"/>
                </a:lnTo>
                <a:lnTo>
                  <a:pt x="2458833" y="93466"/>
                </a:lnTo>
                <a:lnTo>
                  <a:pt x="2420520" y="82000"/>
                </a:lnTo>
                <a:lnTo>
                  <a:pt x="2377212" y="76562"/>
                </a:lnTo>
                <a:lnTo>
                  <a:pt x="2362199" y="76199"/>
                </a:lnTo>
                <a:lnTo>
                  <a:pt x="2494018" y="76199"/>
                </a:lnTo>
                <a:lnTo>
                  <a:pt x="2511699" y="122662"/>
                </a:lnTo>
                <a:lnTo>
                  <a:pt x="2513874" y="137387"/>
                </a:lnTo>
                <a:lnTo>
                  <a:pt x="2514599" y="152399"/>
                </a:lnTo>
                <a:close/>
              </a:path>
            </a:pathLst>
          </a:custGeom>
          <a:solidFill>
            <a:srgbClr val="1F4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629024" y="2619374"/>
            <a:ext cx="1028700" cy="257175"/>
          </a:xfrm>
          <a:custGeom>
            <a:avLst/>
            <a:gdLst/>
            <a:ahLst/>
            <a:cxnLst/>
            <a:rect l="l" t="t" r="r" b="b"/>
            <a:pathLst>
              <a:path w="1028700" h="257175">
                <a:moveTo>
                  <a:pt x="908555" y="257174"/>
                </a:moveTo>
                <a:lnTo>
                  <a:pt x="120144" y="257174"/>
                </a:lnTo>
                <a:lnTo>
                  <a:pt x="111782" y="256351"/>
                </a:lnTo>
                <a:lnTo>
                  <a:pt x="71578" y="244155"/>
                </a:lnTo>
                <a:lnTo>
                  <a:pt x="31691" y="213542"/>
                </a:lnTo>
                <a:lnTo>
                  <a:pt x="6556" y="169995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1"/>
                </a:lnTo>
                <a:lnTo>
                  <a:pt x="87179" y="6556"/>
                </a:lnTo>
                <a:lnTo>
                  <a:pt x="120144" y="0"/>
                </a:lnTo>
                <a:lnTo>
                  <a:pt x="908555" y="0"/>
                </a:lnTo>
                <a:lnTo>
                  <a:pt x="957120" y="13018"/>
                </a:lnTo>
                <a:lnTo>
                  <a:pt x="997007" y="43632"/>
                </a:lnTo>
                <a:lnTo>
                  <a:pt x="1022142" y="87178"/>
                </a:lnTo>
                <a:lnTo>
                  <a:pt x="1028699" y="120144"/>
                </a:lnTo>
                <a:lnTo>
                  <a:pt x="1028699" y="137030"/>
                </a:lnTo>
                <a:lnTo>
                  <a:pt x="1015680" y="185595"/>
                </a:lnTo>
                <a:lnTo>
                  <a:pt x="985066" y="225482"/>
                </a:lnTo>
                <a:lnTo>
                  <a:pt x="941519" y="250617"/>
                </a:lnTo>
                <a:lnTo>
                  <a:pt x="916917" y="256351"/>
                </a:lnTo>
                <a:lnTo>
                  <a:pt x="908555" y="257174"/>
                </a:lnTo>
                <a:close/>
              </a:path>
            </a:pathLst>
          </a:custGeom>
          <a:solidFill>
            <a:srgbClr val="1F4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619450" y="2510468"/>
            <a:ext cx="1957070" cy="2118360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980"/>
              </a:spcBef>
            </a:pPr>
            <a:r>
              <a:rPr dirty="0" sz="1300">
                <a:solidFill>
                  <a:srgbClr val="FFFFFF"/>
                </a:solidFill>
                <a:latin typeface="Courier New"/>
                <a:cs typeface="Courier New"/>
              </a:rPr>
              <a:t>R</a:t>
            </a:r>
            <a:r>
              <a:rPr dirty="0" sz="1300" spc="-5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1300" spc="-4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Courier New"/>
                <a:cs typeface="Courier New"/>
              </a:rPr>
              <a:t>READ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900" spc="90">
                <a:solidFill>
                  <a:srgbClr val="0F1A3A"/>
                </a:solidFill>
                <a:latin typeface="Calibri"/>
                <a:cs typeface="Calibri"/>
              </a:rPr>
              <a:t>Read</a:t>
            </a:r>
            <a:r>
              <a:rPr dirty="0" sz="1900" spc="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50">
                <a:solidFill>
                  <a:srgbClr val="0F1A3A"/>
                </a:solidFill>
                <a:latin typeface="Calibri"/>
                <a:cs typeface="Calibri"/>
              </a:rPr>
              <a:t>&amp;</a:t>
            </a:r>
            <a:r>
              <a:rPr dirty="0" sz="1900" spc="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70">
                <a:solidFill>
                  <a:srgbClr val="0F1A3A"/>
                </a:solidFill>
                <a:latin typeface="Calibri"/>
                <a:cs typeface="Calibri"/>
              </a:rPr>
              <a:t>Search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116900"/>
              </a:lnSpc>
              <a:spcBef>
                <a:spcPts val="994"/>
              </a:spcBef>
            </a:pPr>
            <a:r>
              <a:rPr dirty="0" sz="1350" spc="45">
                <a:solidFill>
                  <a:srgbClr val="0F1A3A"/>
                </a:solidFill>
                <a:latin typeface="Calibri"/>
                <a:cs typeface="Calibri"/>
              </a:rPr>
              <a:t>Execute</a:t>
            </a:r>
            <a:r>
              <a:rPr dirty="0" sz="1350" spc="12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F1A3A"/>
                </a:solidFill>
                <a:latin typeface="Calibri"/>
                <a:cs typeface="Calibri"/>
              </a:rPr>
              <a:t>real-time</a:t>
            </a:r>
            <a:r>
              <a:rPr dirty="0" sz="1350" spc="12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0F1A3A"/>
                </a:solidFill>
                <a:latin typeface="Calibri"/>
                <a:cs typeface="Calibri"/>
              </a:rPr>
              <a:t>seat </a:t>
            </a: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availability</a:t>
            </a:r>
            <a:r>
              <a:rPr dirty="0" sz="1350" spc="32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queries, </a:t>
            </a:r>
            <a:r>
              <a:rPr dirty="0" sz="1350" spc="55">
                <a:solidFill>
                  <a:srgbClr val="0F1A3A"/>
                </a:solidFill>
                <a:latin typeface="Calibri"/>
                <a:cs typeface="Calibri"/>
              </a:rPr>
              <a:t>dynamic</a:t>
            </a:r>
            <a:r>
              <a:rPr dirty="0" sz="1350" spc="15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F1A3A"/>
                </a:solidFill>
                <a:latin typeface="Calibri"/>
                <a:cs typeface="Calibri"/>
              </a:rPr>
              <a:t>revenue</a:t>
            </a:r>
            <a:r>
              <a:rPr dirty="0" sz="1350" spc="15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reports, </a:t>
            </a:r>
            <a:r>
              <a:rPr dirty="0" sz="1350" spc="60">
                <a:solidFill>
                  <a:srgbClr val="0F1A3A"/>
                </a:solidFill>
                <a:latin typeface="Calibri"/>
                <a:cs typeface="Calibri"/>
              </a:rPr>
              <a:t>and</a:t>
            </a:r>
            <a:r>
              <a:rPr dirty="0" sz="1350" spc="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55">
                <a:solidFill>
                  <a:srgbClr val="0F1A3A"/>
                </a:solidFill>
                <a:latin typeface="Calibri"/>
                <a:cs typeface="Calibri"/>
              </a:rPr>
              <a:t>dedicated</a:t>
            </a:r>
            <a:r>
              <a:rPr dirty="0" sz="1350" spc="4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60">
                <a:solidFill>
                  <a:srgbClr val="0F1A3A"/>
                </a:solidFill>
                <a:latin typeface="Calibri"/>
                <a:cs typeface="Calibri"/>
              </a:rPr>
              <a:t>guide </a:t>
            </a:r>
            <a:r>
              <a:rPr dirty="0" sz="1350" spc="45">
                <a:solidFill>
                  <a:srgbClr val="0F1A3A"/>
                </a:solidFill>
                <a:latin typeface="Calibri"/>
                <a:cs typeface="Calibri"/>
              </a:rPr>
              <a:t>assignment</a:t>
            </a:r>
            <a:r>
              <a:rPr dirty="0" sz="1350" spc="6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itineraries.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19450" y="6000813"/>
            <a:ext cx="202247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25">
                <a:solidFill>
                  <a:srgbClr val="1F4EDF"/>
                </a:solidFill>
                <a:latin typeface="Courier New"/>
                <a:cs typeface="Courier New"/>
              </a:rPr>
              <a:t>SELECT</a:t>
            </a:r>
            <a:r>
              <a:rPr dirty="0" sz="1250" spc="-130">
                <a:solidFill>
                  <a:srgbClr val="1F4EDF"/>
                </a:solidFill>
                <a:latin typeface="Courier New"/>
                <a:cs typeface="Courier New"/>
              </a:rPr>
              <a:t> </a:t>
            </a:r>
            <a:r>
              <a:rPr dirty="0" sz="1250">
                <a:solidFill>
                  <a:srgbClr val="1F4EDF"/>
                </a:solidFill>
                <a:latin typeface="Courier New"/>
                <a:cs typeface="Courier New"/>
              </a:rPr>
              <a:t>*</a:t>
            </a:r>
            <a:r>
              <a:rPr dirty="0" sz="1250" spc="-125">
                <a:solidFill>
                  <a:srgbClr val="1F4EDF"/>
                </a:solidFill>
                <a:latin typeface="Courier New"/>
                <a:cs typeface="Courier New"/>
              </a:rPr>
              <a:t> </a:t>
            </a:r>
            <a:r>
              <a:rPr dirty="0" sz="1250" spc="-10">
                <a:solidFill>
                  <a:srgbClr val="1F4EDF"/>
                </a:solidFill>
                <a:latin typeface="Courier New"/>
                <a:cs typeface="Courier New"/>
              </a:rPr>
              <a:t>JOIN</a:t>
            </a:r>
            <a:r>
              <a:rPr dirty="0" sz="1250" spc="-130">
                <a:solidFill>
                  <a:srgbClr val="1F4EDF"/>
                </a:solidFill>
                <a:latin typeface="Courier New"/>
                <a:cs typeface="Courier New"/>
              </a:rPr>
              <a:t> </a:t>
            </a:r>
            <a:r>
              <a:rPr dirty="0" sz="1250" spc="-25">
                <a:solidFill>
                  <a:srgbClr val="1F4EDF"/>
                </a:solidFill>
                <a:latin typeface="Courier New"/>
                <a:cs typeface="Courier New"/>
              </a:rPr>
              <a:t>bookings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48399" y="2343150"/>
            <a:ext cx="2514600" cy="152400"/>
          </a:xfrm>
          <a:custGeom>
            <a:avLst/>
            <a:gdLst/>
            <a:ahLst/>
            <a:cxnLst/>
            <a:rect l="l" t="t" r="r" b="b"/>
            <a:pathLst>
              <a:path w="2514600" h="152400">
                <a:moveTo>
                  <a:pt x="0" y="152399"/>
                </a:moveTo>
                <a:lnTo>
                  <a:pt x="717" y="137531"/>
                </a:lnTo>
                <a:lnTo>
                  <a:pt x="724" y="137387"/>
                </a:lnTo>
                <a:lnTo>
                  <a:pt x="2814" y="123239"/>
                </a:lnTo>
                <a:lnTo>
                  <a:pt x="18014" y="80486"/>
                </a:lnTo>
                <a:lnTo>
                  <a:pt x="44636" y="44636"/>
                </a:lnTo>
                <a:lnTo>
                  <a:pt x="80485" y="18015"/>
                </a:lnTo>
                <a:lnTo>
                  <a:pt x="122661" y="2900"/>
                </a:lnTo>
                <a:lnTo>
                  <a:pt x="152399" y="0"/>
                </a:lnTo>
                <a:lnTo>
                  <a:pt x="2362199" y="0"/>
                </a:lnTo>
                <a:lnTo>
                  <a:pt x="2406372" y="6525"/>
                </a:lnTo>
                <a:lnTo>
                  <a:pt x="2446883" y="25660"/>
                </a:lnTo>
                <a:lnTo>
                  <a:pt x="2480065" y="55765"/>
                </a:lnTo>
                <a:lnTo>
                  <a:pt x="2494018" y="76199"/>
                </a:lnTo>
                <a:lnTo>
                  <a:pt x="152399" y="76199"/>
                </a:lnTo>
                <a:lnTo>
                  <a:pt x="137386" y="76562"/>
                </a:lnTo>
                <a:lnTo>
                  <a:pt x="94078" y="82000"/>
                </a:lnTo>
                <a:lnTo>
                  <a:pt x="55764" y="93466"/>
                </a:lnTo>
                <a:lnTo>
                  <a:pt x="18014" y="116442"/>
                </a:lnTo>
                <a:lnTo>
                  <a:pt x="724" y="144893"/>
                </a:lnTo>
                <a:lnTo>
                  <a:pt x="0" y="152399"/>
                </a:lnTo>
                <a:close/>
              </a:path>
              <a:path w="2514600" h="152400">
                <a:moveTo>
                  <a:pt x="2514599" y="152399"/>
                </a:moveTo>
                <a:lnTo>
                  <a:pt x="2496583" y="116442"/>
                </a:lnTo>
                <a:lnTo>
                  <a:pt x="2458833" y="93466"/>
                </a:lnTo>
                <a:lnTo>
                  <a:pt x="2420519" y="82000"/>
                </a:lnTo>
                <a:lnTo>
                  <a:pt x="2377212" y="76562"/>
                </a:lnTo>
                <a:lnTo>
                  <a:pt x="2362199" y="76199"/>
                </a:lnTo>
                <a:lnTo>
                  <a:pt x="2494018" y="76199"/>
                </a:lnTo>
                <a:lnTo>
                  <a:pt x="2511699" y="122662"/>
                </a:lnTo>
                <a:lnTo>
                  <a:pt x="2513874" y="137387"/>
                </a:lnTo>
                <a:lnTo>
                  <a:pt x="2514599" y="152399"/>
                </a:lnTo>
                <a:close/>
              </a:path>
            </a:pathLst>
          </a:custGeom>
          <a:solidFill>
            <a:srgbClr val="FF83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448423" y="2619374"/>
            <a:ext cx="1219200" cy="257175"/>
          </a:xfrm>
          <a:custGeom>
            <a:avLst/>
            <a:gdLst/>
            <a:ahLst/>
            <a:cxnLst/>
            <a:rect l="l" t="t" r="r" b="b"/>
            <a:pathLst>
              <a:path w="1219200" h="257175">
                <a:moveTo>
                  <a:pt x="1099056" y="257174"/>
                </a:moveTo>
                <a:lnTo>
                  <a:pt x="120145" y="257174"/>
                </a:lnTo>
                <a:lnTo>
                  <a:pt x="111782" y="256351"/>
                </a:lnTo>
                <a:lnTo>
                  <a:pt x="71578" y="244155"/>
                </a:lnTo>
                <a:lnTo>
                  <a:pt x="31692" y="213542"/>
                </a:lnTo>
                <a:lnTo>
                  <a:pt x="6557" y="169995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1"/>
                </a:lnTo>
                <a:lnTo>
                  <a:pt x="87179" y="6556"/>
                </a:lnTo>
                <a:lnTo>
                  <a:pt x="120145" y="0"/>
                </a:lnTo>
                <a:lnTo>
                  <a:pt x="1099056" y="0"/>
                </a:lnTo>
                <a:lnTo>
                  <a:pt x="1147620" y="13018"/>
                </a:lnTo>
                <a:lnTo>
                  <a:pt x="1187507" y="43632"/>
                </a:lnTo>
                <a:lnTo>
                  <a:pt x="1212642" y="87178"/>
                </a:lnTo>
                <a:lnTo>
                  <a:pt x="1219199" y="120144"/>
                </a:lnTo>
                <a:lnTo>
                  <a:pt x="1219199" y="137030"/>
                </a:lnTo>
                <a:lnTo>
                  <a:pt x="1206179" y="185595"/>
                </a:lnTo>
                <a:lnTo>
                  <a:pt x="1175567" y="225482"/>
                </a:lnTo>
                <a:lnTo>
                  <a:pt x="1132019" y="250617"/>
                </a:lnTo>
                <a:lnTo>
                  <a:pt x="1107418" y="256351"/>
                </a:lnTo>
                <a:lnTo>
                  <a:pt x="1099056" y="257174"/>
                </a:lnTo>
                <a:close/>
              </a:path>
            </a:pathLst>
          </a:custGeom>
          <a:solidFill>
            <a:srgbClr val="FF83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438850" y="2510468"/>
            <a:ext cx="2000250" cy="2118360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980"/>
              </a:spcBef>
            </a:pPr>
            <a:r>
              <a:rPr dirty="0" sz="1300">
                <a:latin typeface="Courier New"/>
                <a:cs typeface="Courier New"/>
              </a:rPr>
              <a:t>U</a:t>
            </a:r>
            <a:r>
              <a:rPr dirty="0" sz="1300" spc="-50">
                <a:latin typeface="Courier New"/>
                <a:cs typeface="Courier New"/>
              </a:rPr>
              <a:t> </a:t>
            </a:r>
            <a:r>
              <a:rPr dirty="0" sz="1300">
                <a:latin typeface="Courier New"/>
                <a:cs typeface="Courier New"/>
              </a:rPr>
              <a:t>·</a:t>
            </a:r>
            <a:r>
              <a:rPr dirty="0" sz="1300" spc="-45">
                <a:latin typeface="Courier New"/>
                <a:cs typeface="Courier New"/>
              </a:rPr>
              <a:t> </a:t>
            </a:r>
            <a:r>
              <a:rPr dirty="0" sz="1300" spc="-10">
                <a:latin typeface="Courier New"/>
                <a:cs typeface="Courier New"/>
              </a:rPr>
              <a:t>UPDATE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900" spc="75">
                <a:solidFill>
                  <a:srgbClr val="0F1A3A"/>
                </a:solidFill>
                <a:latin typeface="Calibri"/>
                <a:cs typeface="Calibri"/>
              </a:rPr>
              <a:t>Update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116900"/>
              </a:lnSpc>
              <a:spcBef>
                <a:spcPts val="994"/>
              </a:spcBef>
            </a:pPr>
            <a:r>
              <a:rPr dirty="0" sz="1350" spc="55">
                <a:solidFill>
                  <a:srgbClr val="0F1A3A"/>
                </a:solidFill>
                <a:latin typeface="Calibri"/>
                <a:cs typeface="Calibri"/>
              </a:rPr>
              <a:t>Re-</a:t>
            </a:r>
            <a:r>
              <a:rPr dirty="0" sz="1350" spc="60">
                <a:solidFill>
                  <a:srgbClr val="0F1A3A"/>
                </a:solidFill>
                <a:latin typeface="Calibri"/>
                <a:cs typeface="Calibri"/>
              </a:rPr>
              <a:t>assign</a:t>
            </a:r>
            <a:r>
              <a:rPr dirty="0" sz="1350" spc="2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60">
                <a:solidFill>
                  <a:srgbClr val="0F1A3A"/>
                </a:solidFill>
                <a:latin typeface="Calibri"/>
                <a:cs typeface="Calibri"/>
              </a:rPr>
              <a:t>standby</a:t>
            </a:r>
            <a:r>
              <a:rPr dirty="0" sz="1350" spc="2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40">
                <a:solidFill>
                  <a:srgbClr val="0F1A3A"/>
                </a:solidFill>
                <a:latin typeface="Calibri"/>
                <a:cs typeface="Calibri"/>
              </a:rPr>
              <a:t>guides, </a:t>
            </a:r>
            <a:r>
              <a:rPr dirty="0" sz="1350">
                <a:solidFill>
                  <a:srgbClr val="0F1A3A"/>
                </a:solidFill>
                <a:latin typeface="Calibri"/>
                <a:cs typeface="Calibri"/>
              </a:rPr>
              <a:t>adjust</a:t>
            </a:r>
            <a:r>
              <a:rPr dirty="0" sz="1350" spc="22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F1A3A"/>
                </a:solidFill>
                <a:latin typeface="Calibri"/>
                <a:cs typeface="Calibri"/>
              </a:rPr>
              <a:t>hotel</a:t>
            </a:r>
            <a:r>
              <a:rPr dirty="0" sz="1350" spc="22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allocations, </a:t>
            </a:r>
            <a:r>
              <a:rPr dirty="0" sz="1350" spc="60">
                <a:solidFill>
                  <a:srgbClr val="0F1A3A"/>
                </a:solidFill>
                <a:latin typeface="Calibri"/>
                <a:cs typeface="Calibri"/>
              </a:rPr>
              <a:t>and</a:t>
            </a:r>
            <a:r>
              <a:rPr dirty="0" sz="1350" spc="13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transition</a:t>
            </a:r>
            <a:r>
              <a:rPr dirty="0" sz="1350" spc="1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55">
                <a:solidFill>
                  <a:srgbClr val="0F1A3A"/>
                </a:solidFill>
                <a:latin typeface="Calibri"/>
                <a:cs typeface="Calibri"/>
              </a:rPr>
              <a:t>booking </a:t>
            </a:r>
            <a:r>
              <a:rPr dirty="0" sz="1350">
                <a:solidFill>
                  <a:srgbClr val="0F1A3A"/>
                </a:solidFill>
                <a:latin typeface="Calibri"/>
                <a:cs typeface="Calibri"/>
              </a:rPr>
              <a:t>records</a:t>
            </a:r>
            <a:r>
              <a:rPr dirty="0" sz="1350" spc="16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F1A3A"/>
                </a:solidFill>
                <a:latin typeface="Calibri"/>
                <a:cs typeface="Calibri"/>
              </a:rPr>
              <a:t>from</a:t>
            </a:r>
            <a:r>
              <a:rPr dirty="0" sz="1350" spc="16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50">
                <a:solidFill>
                  <a:srgbClr val="0F1A3A"/>
                </a:solidFill>
                <a:latin typeface="Calibri"/>
                <a:cs typeface="Calibri"/>
              </a:rPr>
              <a:t>Pending</a:t>
            </a:r>
            <a:r>
              <a:rPr dirty="0" sz="1350" spc="16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0F1A3A"/>
                </a:solidFill>
                <a:latin typeface="Calibri"/>
                <a:cs typeface="Calibri"/>
              </a:rPr>
              <a:t>to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Confirmed.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38850" y="6000813"/>
            <a:ext cx="193167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25">
                <a:solidFill>
                  <a:srgbClr val="4A5372"/>
                </a:solidFill>
                <a:latin typeface="Courier New"/>
                <a:cs typeface="Courier New"/>
              </a:rPr>
              <a:t>UPDATE</a:t>
            </a:r>
            <a:r>
              <a:rPr dirty="0" sz="1250" spc="-140">
                <a:solidFill>
                  <a:srgbClr val="4A5372"/>
                </a:solidFill>
                <a:latin typeface="Courier New"/>
                <a:cs typeface="Courier New"/>
              </a:rPr>
              <a:t> </a:t>
            </a:r>
            <a:r>
              <a:rPr dirty="0" sz="1250" spc="-35">
                <a:solidFill>
                  <a:srgbClr val="4A5372"/>
                </a:solidFill>
                <a:latin typeface="Courier New"/>
                <a:cs typeface="Courier New"/>
              </a:rPr>
              <a:t>booking_status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067800" y="2343150"/>
            <a:ext cx="2514600" cy="152400"/>
          </a:xfrm>
          <a:custGeom>
            <a:avLst/>
            <a:gdLst/>
            <a:ahLst/>
            <a:cxnLst/>
            <a:rect l="l" t="t" r="r" b="b"/>
            <a:pathLst>
              <a:path w="2514600" h="152400">
                <a:moveTo>
                  <a:pt x="0" y="152399"/>
                </a:moveTo>
                <a:lnTo>
                  <a:pt x="717" y="137531"/>
                </a:lnTo>
                <a:lnTo>
                  <a:pt x="724" y="137387"/>
                </a:lnTo>
                <a:lnTo>
                  <a:pt x="2814" y="123239"/>
                </a:lnTo>
                <a:lnTo>
                  <a:pt x="18014" y="80486"/>
                </a:lnTo>
                <a:lnTo>
                  <a:pt x="44636" y="44636"/>
                </a:lnTo>
                <a:lnTo>
                  <a:pt x="80485" y="18015"/>
                </a:lnTo>
                <a:lnTo>
                  <a:pt x="122662" y="2900"/>
                </a:lnTo>
                <a:lnTo>
                  <a:pt x="152399" y="0"/>
                </a:lnTo>
                <a:lnTo>
                  <a:pt x="2362199" y="0"/>
                </a:lnTo>
                <a:lnTo>
                  <a:pt x="2406372" y="6525"/>
                </a:lnTo>
                <a:lnTo>
                  <a:pt x="2446883" y="25660"/>
                </a:lnTo>
                <a:lnTo>
                  <a:pt x="2480065" y="55765"/>
                </a:lnTo>
                <a:lnTo>
                  <a:pt x="2494017" y="76199"/>
                </a:lnTo>
                <a:lnTo>
                  <a:pt x="152399" y="76199"/>
                </a:lnTo>
                <a:lnTo>
                  <a:pt x="137386" y="76562"/>
                </a:lnTo>
                <a:lnTo>
                  <a:pt x="94078" y="82000"/>
                </a:lnTo>
                <a:lnTo>
                  <a:pt x="55764" y="93466"/>
                </a:lnTo>
                <a:lnTo>
                  <a:pt x="18014" y="116442"/>
                </a:lnTo>
                <a:lnTo>
                  <a:pt x="724" y="144893"/>
                </a:lnTo>
                <a:lnTo>
                  <a:pt x="0" y="152399"/>
                </a:lnTo>
                <a:close/>
              </a:path>
              <a:path w="2514600" h="152400">
                <a:moveTo>
                  <a:pt x="2514599" y="152399"/>
                </a:moveTo>
                <a:lnTo>
                  <a:pt x="2496583" y="116442"/>
                </a:lnTo>
                <a:lnTo>
                  <a:pt x="2458833" y="93466"/>
                </a:lnTo>
                <a:lnTo>
                  <a:pt x="2420520" y="82000"/>
                </a:lnTo>
                <a:lnTo>
                  <a:pt x="2377212" y="76562"/>
                </a:lnTo>
                <a:lnTo>
                  <a:pt x="2362199" y="76199"/>
                </a:lnTo>
                <a:lnTo>
                  <a:pt x="2494017" y="76199"/>
                </a:lnTo>
                <a:lnTo>
                  <a:pt x="2511698" y="122662"/>
                </a:lnTo>
                <a:lnTo>
                  <a:pt x="2513874" y="137387"/>
                </a:lnTo>
                <a:lnTo>
                  <a:pt x="2514599" y="152399"/>
                </a:lnTo>
                <a:close/>
              </a:path>
            </a:pathLst>
          </a:custGeom>
          <a:solidFill>
            <a:srgbClr val="D512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267824" y="2619374"/>
            <a:ext cx="1219200" cy="257175"/>
          </a:xfrm>
          <a:custGeom>
            <a:avLst/>
            <a:gdLst/>
            <a:ahLst/>
            <a:cxnLst/>
            <a:rect l="l" t="t" r="r" b="b"/>
            <a:pathLst>
              <a:path w="1219200" h="257175">
                <a:moveTo>
                  <a:pt x="1099056" y="257174"/>
                </a:moveTo>
                <a:lnTo>
                  <a:pt x="120143" y="257174"/>
                </a:lnTo>
                <a:lnTo>
                  <a:pt x="111781" y="256351"/>
                </a:lnTo>
                <a:lnTo>
                  <a:pt x="71578" y="244155"/>
                </a:lnTo>
                <a:lnTo>
                  <a:pt x="31691" y="213542"/>
                </a:lnTo>
                <a:lnTo>
                  <a:pt x="6555" y="169995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4"/>
                </a:lnTo>
                <a:lnTo>
                  <a:pt x="13018" y="71578"/>
                </a:lnTo>
                <a:lnTo>
                  <a:pt x="43631" y="31691"/>
                </a:lnTo>
                <a:lnTo>
                  <a:pt x="87178" y="6556"/>
                </a:lnTo>
                <a:lnTo>
                  <a:pt x="120143" y="0"/>
                </a:lnTo>
                <a:lnTo>
                  <a:pt x="1099056" y="0"/>
                </a:lnTo>
                <a:lnTo>
                  <a:pt x="1147620" y="13018"/>
                </a:lnTo>
                <a:lnTo>
                  <a:pt x="1187507" y="43632"/>
                </a:lnTo>
                <a:lnTo>
                  <a:pt x="1212642" y="87178"/>
                </a:lnTo>
                <a:lnTo>
                  <a:pt x="1219198" y="120144"/>
                </a:lnTo>
                <a:lnTo>
                  <a:pt x="1219198" y="137030"/>
                </a:lnTo>
                <a:lnTo>
                  <a:pt x="1206179" y="185595"/>
                </a:lnTo>
                <a:lnTo>
                  <a:pt x="1175566" y="225482"/>
                </a:lnTo>
                <a:lnTo>
                  <a:pt x="1132019" y="250617"/>
                </a:lnTo>
                <a:lnTo>
                  <a:pt x="1107418" y="256351"/>
                </a:lnTo>
                <a:lnTo>
                  <a:pt x="1099056" y="257174"/>
                </a:lnTo>
                <a:close/>
              </a:path>
            </a:pathLst>
          </a:custGeom>
          <a:solidFill>
            <a:srgbClr val="D512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9258250" y="2510468"/>
            <a:ext cx="2045335" cy="2118360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980"/>
              </a:spcBef>
            </a:pPr>
            <a:r>
              <a:rPr dirty="0" sz="1300">
                <a:solidFill>
                  <a:srgbClr val="FFFFFF"/>
                </a:solidFill>
                <a:latin typeface="Courier New"/>
                <a:cs typeface="Courier New"/>
              </a:rPr>
              <a:t>D</a:t>
            </a:r>
            <a:r>
              <a:rPr dirty="0" sz="1300" spc="-5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1300" spc="-4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ourier New"/>
                <a:cs typeface="Courier New"/>
              </a:rPr>
              <a:t>DELETE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900" spc="70">
                <a:solidFill>
                  <a:srgbClr val="0F1A3A"/>
                </a:solidFill>
                <a:latin typeface="Calibri"/>
                <a:cs typeface="Calibri"/>
              </a:rPr>
              <a:t>Delete</a:t>
            </a:r>
            <a:r>
              <a:rPr dirty="0" sz="1900" spc="5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F1A3A"/>
                </a:solidFill>
                <a:latin typeface="Calibri"/>
                <a:cs typeface="Calibri"/>
              </a:rPr>
              <a:t>/</a:t>
            </a:r>
            <a:r>
              <a:rPr dirty="0" sz="1900" spc="5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900" spc="65">
                <a:solidFill>
                  <a:srgbClr val="0F1A3A"/>
                </a:solidFill>
                <a:latin typeface="Calibri"/>
                <a:cs typeface="Calibri"/>
              </a:rPr>
              <a:t>Control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116900"/>
              </a:lnSpc>
              <a:spcBef>
                <a:spcPts val="994"/>
              </a:spcBef>
            </a:pPr>
            <a:r>
              <a:rPr dirty="0" sz="1350" spc="45">
                <a:solidFill>
                  <a:srgbClr val="0F1A3A"/>
                </a:solidFill>
                <a:latin typeface="Calibri"/>
                <a:cs typeface="Calibri"/>
              </a:rPr>
              <a:t>Execute </a:t>
            </a:r>
            <a:r>
              <a:rPr dirty="0" sz="1350">
                <a:solidFill>
                  <a:srgbClr val="0F1A3A"/>
                </a:solidFill>
                <a:latin typeface="Calibri"/>
                <a:cs typeface="Calibri"/>
              </a:rPr>
              <a:t>safe </a:t>
            </a:r>
            <a:r>
              <a:rPr dirty="0" sz="1350" spc="-20">
                <a:solidFill>
                  <a:srgbClr val="0F1A3A"/>
                </a:solidFill>
                <a:latin typeface="Calibri"/>
                <a:cs typeface="Calibri"/>
              </a:rPr>
              <a:t>soft-</a:t>
            </a:r>
            <a:r>
              <a:rPr dirty="0" sz="1350" spc="20">
                <a:solidFill>
                  <a:srgbClr val="0F1A3A"/>
                </a:solidFill>
                <a:latin typeface="Calibri"/>
                <a:cs typeface="Calibri"/>
              </a:rPr>
              <a:t>cancellations,</a:t>
            </a:r>
            <a:r>
              <a:rPr dirty="0" sz="1350" spc="229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release </a:t>
            </a: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reserved</a:t>
            </a:r>
            <a:r>
              <a:rPr dirty="0" sz="1350" spc="23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inventory,</a:t>
            </a:r>
            <a:r>
              <a:rPr dirty="0" sz="1350" spc="24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35">
                <a:solidFill>
                  <a:srgbClr val="0F1A3A"/>
                </a:solidFill>
                <a:latin typeface="Calibri"/>
                <a:cs typeface="Calibri"/>
              </a:rPr>
              <a:t>and </a:t>
            </a:r>
            <a:r>
              <a:rPr dirty="0" sz="1350">
                <a:solidFill>
                  <a:srgbClr val="0F1A3A"/>
                </a:solidFill>
                <a:latin typeface="Calibri"/>
                <a:cs typeface="Calibri"/>
              </a:rPr>
              <a:t>evaluate</a:t>
            </a:r>
            <a:r>
              <a:rPr dirty="0" sz="1350" spc="18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45">
                <a:solidFill>
                  <a:srgbClr val="0F1A3A"/>
                </a:solidFill>
                <a:latin typeface="Calibri"/>
                <a:cs typeface="Calibri"/>
              </a:rPr>
              <a:t>automated</a:t>
            </a:r>
            <a:r>
              <a:rPr dirty="0" sz="1350" spc="18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45">
                <a:solidFill>
                  <a:srgbClr val="0F1A3A"/>
                </a:solidFill>
                <a:latin typeface="Calibri"/>
                <a:cs typeface="Calibri"/>
              </a:rPr>
              <a:t>policy </a:t>
            </a:r>
            <a:r>
              <a:rPr dirty="0" sz="1350">
                <a:solidFill>
                  <a:srgbClr val="0F1A3A"/>
                </a:solidFill>
                <a:latin typeface="Calibri"/>
                <a:cs typeface="Calibri"/>
              </a:rPr>
              <a:t>refund</a:t>
            </a:r>
            <a:r>
              <a:rPr dirty="0" sz="1350" spc="27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eligibility.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258250" y="6000813"/>
            <a:ext cx="1840864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0">
                <a:solidFill>
                  <a:srgbClr val="D5126F"/>
                </a:solidFill>
                <a:latin typeface="Courier New"/>
                <a:cs typeface="Courier New"/>
              </a:rPr>
              <a:t>SOFT</a:t>
            </a:r>
            <a:r>
              <a:rPr dirty="0" sz="1250" spc="-130">
                <a:solidFill>
                  <a:srgbClr val="D5126F"/>
                </a:solidFill>
                <a:latin typeface="Courier New"/>
                <a:cs typeface="Courier New"/>
              </a:rPr>
              <a:t> </a:t>
            </a:r>
            <a:r>
              <a:rPr dirty="0" sz="1250" spc="-25">
                <a:solidFill>
                  <a:srgbClr val="D5126F"/>
                </a:solidFill>
                <a:latin typeface="Courier New"/>
                <a:cs typeface="Courier New"/>
              </a:rPr>
              <a:t>DELETE</a:t>
            </a:r>
            <a:r>
              <a:rPr dirty="0" sz="1250" spc="-125">
                <a:solidFill>
                  <a:srgbClr val="D5126F"/>
                </a:solidFill>
                <a:latin typeface="Courier New"/>
                <a:cs typeface="Courier New"/>
              </a:rPr>
              <a:t> </a:t>
            </a:r>
            <a:r>
              <a:rPr dirty="0" sz="1250">
                <a:solidFill>
                  <a:srgbClr val="D5126F"/>
                </a:solidFill>
                <a:latin typeface="Courier New"/>
                <a:cs typeface="Courier New"/>
              </a:rPr>
              <a:t>&amp;</a:t>
            </a:r>
            <a:r>
              <a:rPr dirty="0" sz="1250" spc="-130">
                <a:solidFill>
                  <a:srgbClr val="D5126F"/>
                </a:solidFill>
                <a:latin typeface="Courier New"/>
                <a:cs typeface="Courier New"/>
              </a:rPr>
              <a:t> </a:t>
            </a:r>
            <a:r>
              <a:rPr dirty="0" sz="1250" spc="-20">
                <a:solidFill>
                  <a:srgbClr val="D5126F"/>
                </a:solidFill>
                <a:latin typeface="Courier New"/>
                <a:cs typeface="Courier New"/>
              </a:rPr>
              <a:t>REFUND</a:t>
            </a:r>
            <a:endParaRPr sz="1250">
              <a:latin typeface="Courier New"/>
              <a:cs typeface="Courier New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0316590" y="6342371"/>
            <a:ext cx="1780539" cy="431800"/>
            <a:chOff x="10316590" y="6342371"/>
            <a:chExt cx="1780539" cy="431800"/>
          </a:xfrm>
        </p:grpSpPr>
        <p:pic>
          <p:nvPicPr>
            <p:cNvPr id="26" name="object 26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42244" y="6343649"/>
              <a:ext cx="1754504" cy="419100"/>
            </a:xfrm>
            <a:prstGeom prst="rect">
              <a:avLst/>
            </a:prstGeom>
          </p:spPr>
        </p:pic>
        <p:sp>
          <p:nvSpPr>
            <p:cNvPr id="27" name="object 27">
              <a:hlinkClick r:id="rId3"/>
            </p:cNvPr>
            <p:cNvSpPr/>
            <p:nvPr/>
          </p:nvSpPr>
          <p:spPr>
            <a:xfrm>
              <a:off x="10316590" y="6342371"/>
              <a:ext cx="1772285" cy="431800"/>
            </a:xfrm>
            <a:custGeom>
              <a:avLst/>
              <a:gdLst/>
              <a:ahLst/>
              <a:cxnLst/>
              <a:rect l="l" t="t" r="r" b="b"/>
              <a:pathLst>
                <a:path w="1772284" h="431800">
                  <a:moveTo>
                    <a:pt x="1575945" y="0"/>
                  </a:moveTo>
                  <a:lnTo>
                    <a:pt x="196126" y="0"/>
                  </a:lnTo>
                  <a:lnTo>
                    <a:pt x="151156" y="5179"/>
                  </a:lnTo>
                  <a:lnTo>
                    <a:pt x="109875" y="19934"/>
                  </a:lnTo>
                  <a:lnTo>
                    <a:pt x="73459" y="43086"/>
                  </a:lnTo>
                  <a:lnTo>
                    <a:pt x="43086" y="73459"/>
                  </a:lnTo>
                  <a:lnTo>
                    <a:pt x="19934" y="109875"/>
                  </a:lnTo>
                  <a:lnTo>
                    <a:pt x="5179" y="151156"/>
                  </a:lnTo>
                  <a:lnTo>
                    <a:pt x="0" y="196126"/>
                  </a:lnTo>
                  <a:lnTo>
                    <a:pt x="0" y="235264"/>
                  </a:lnTo>
                  <a:lnTo>
                    <a:pt x="5179" y="280234"/>
                  </a:lnTo>
                  <a:lnTo>
                    <a:pt x="19934" y="321516"/>
                  </a:lnTo>
                  <a:lnTo>
                    <a:pt x="43086" y="357931"/>
                  </a:lnTo>
                  <a:lnTo>
                    <a:pt x="73459" y="388304"/>
                  </a:lnTo>
                  <a:lnTo>
                    <a:pt x="109875" y="411456"/>
                  </a:lnTo>
                  <a:lnTo>
                    <a:pt x="151156" y="426211"/>
                  </a:lnTo>
                  <a:lnTo>
                    <a:pt x="196126" y="431391"/>
                  </a:lnTo>
                  <a:lnTo>
                    <a:pt x="1575945" y="431391"/>
                  </a:lnTo>
                  <a:lnTo>
                    <a:pt x="1620915" y="426211"/>
                  </a:lnTo>
                  <a:lnTo>
                    <a:pt x="1662197" y="411456"/>
                  </a:lnTo>
                  <a:lnTo>
                    <a:pt x="1698613" y="388304"/>
                  </a:lnTo>
                  <a:lnTo>
                    <a:pt x="1728986" y="357931"/>
                  </a:lnTo>
                  <a:lnTo>
                    <a:pt x="1752138" y="321516"/>
                  </a:lnTo>
                  <a:lnTo>
                    <a:pt x="1766893" y="280234"/>
                  </a:lnTo>
                  <a:lnTo>
                    <a:pt x="1772072" y="235264"/>
                  </a:lnTo>
                  <a:lnTo>
                    <a:pt x="1772072" y="215695"/>
                  </a:lnTo>
                  <a:lnTo>
                    <a:pt x="1772072" y="196126"/>
                  </a:lnTo>
                  <a:lnTo>
                    <a:pt x="1766893" y="151156"/>
                  </a:lnTo>
                  <a:lnTo>
                    <a:pt x="1752138" y="109875"/>
                  </a:lnTo>
                  <a:lnTo>
                    <a:pt x="1728986" y="73459"/>
                  </a:lnTo>
                  <a:lnTo>
                    <a:pt x="1698613" y="43086"/>
                  </a:lnTo>
                  <a:lnTo>
                    <a:pt x="1662197" y="19934"/>
                  </a:lnTo>
                  <a:lnTo>
                    <a:pt x="1620915" y="5179"/>
                  </a:lnTo>
                  <a:lnTo>
                    <a:pt x="15759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943975" cy="6858000"/>
            <a:chOff x="0" y="0"/>
            <a:chExt cx="894397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8943975" cy="6858000"/>
            </a:xfrm>
            <a:custGeom>
              <a:avLst/>
              <a:gdLst/>
              <a:ahLst/>
              <a:cxnLst/>
              <a:rect l="l" t="t" r="r" b="b"/>
              <a:pathLst>
                <a:path w="8943975" h="6858000">
                  <a:moveTo>
                    <a:pt x="8943974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8943974" y="0"/>
                  </a:lnTo>
                  <a:lnTo>
                    <a:pt x="8943974" y="6857999"/>
                  </a:lnTo>
                  <a:close/>
                </a:path>
              </a:pathLst>
            </a:custGeom>
            <a:solidFill>
              <a:srgbClr val="0F1A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57224" y="600074"/>
              <a:ext cx="1695450" cy="257175"/>
            </a:xfrm>
            <a:custGeom>
              <a:avLst/>
              <a:gdLst/>
              <a:ahLst/>
              <a:cxnLst/>
              <a:rect l="l" t="t" r="r" b="b"/>
              <a:pathLst>
                <a:path w="1695450" h="257175">
                  <a:moveTo>
                    <a:pt x="1575305" y="257174"/>
                  </a:moveTo>
                  <a:lnTo>
                    <a:pt x="120144" y="257174"/>
                  </a:lnTo>
                  <a:lnTo>
                    <a:pt x="111782" y="256351"/>
                  </a:lnTo>
                  <a:lnTo>
                    <a:pt x="71578" y="244155"/>
                  </a:lnTo>
                  <a:lnTo>
                    <a:pt x="31692" y="213542"/>
                  </a:lnTo>
                  <a:lnTo>
                    <a:pt x="6557" y="169995"/>
                  </a:lnTo>
                  <a:lnTo>
                    <a:pt x="0" y="137030"/>
                  </a:lnTo>
                  <a:lnTo>
                    <a:pt x="0" y="128587"/>
                  </a:lnTo>
                  <a:lnTo>
                    <a:pt x="0" y="120144"/>
                  </a:lnTo>
                  <a:lnTo>
                    <a:pt x="13019" y="71578"/>
                  </a:lnTo>
                  <a:lnTo>
                    <a:pt x="43632" y="31692"/>
                  </a:lnTo>
                  <a:lnTo>
                    <a:pt x="87179" y="6557"/>
                  </a:lnTo>
                  <a:lnTo>
                    <a:pt x="120144" y="0"/>
                  </a:lnTo>
                  <a:lnTo>
                    <a:pt x="1575305" y="0"/>
                  </a:lnTo>
                  <a:lnTo>
                    <a:pt x="1623870" y="13019"/>
                  </a:lnTo>
                  <a:lnTo>
                    <a:pt x="1663757" y="43632"/>
                  </a:lnTo>
                  <a:lnTo>
                    <a:pt x="1688892" y="87179"/>
                  </a:lnTo>
                  <a:lnTo>
                    <a:pt x="1695449" y="120144"/>
                  </a:lnTo>
                  <a:lnTo>
                    <a:pt x="1695449" y="137030"/>
                  </a:lnTo>
                  <a:lnTo>
                    <a:pt x="1682430" y="185596"/>
                  </a:lnTo>
                  <a:lnTo>
                    <a:pt x="1651816" y="225482"/>
                  </a:lnTo>
                  <a:lnTo>
                    <a:pt x="1608269" y="250617"/>
                  </a:lnTo>
                  <a:lnTo>
                    <a:pt x="1583667" y="256351"/>
                  </a:lnTo>
                  <a:lnTo>
                    <a:pt x="1575305" y="257174"/>
                  </a:lnTo>
                  <a:close/>
                </a:path>
              </a:pathLst>
            </a:custGeom>
            <a:solidFill>
              <a:srgbClr val="1281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62212" y="585787"/>
              <a:ext cx="1676400" cy="285750"/>
            </a:xfrm>
            <a:custGeom>
              <a:avLst/>
              <a:gdLst/>
              <a:ahLst/>
              <a:cxnLst/>
              <a:rect l="l" t="t" r="r" b="b"/>
              <a:pathLst>
                <a:path w="1676400" h="285750">
                  <a:moveTo>
                    <a:pt x="0" y="142874"/>
                  </a:moveTo>
                  <a:lnTo>
                    <a:pt x="6150" y="101400"/>
                  </a:lnTo>
                  <a:lnTo>
                    <a:pt x="24078" y="63497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1533524" y="0"/>
                  </a:lnTo>
                  <a:lnTo>
                    <a:pt x="1574999" y="6150"/>
                  </a:lnTo>
                  <a:lnTo>
                    <a:pt x="1612901" y="24078"/>
                  </a:lnTo>
                  <a:lnTo>
                    <a:pt x="1643969" y="52234"/>
                  </a:lnTo>
                  <a:lnTo>
                    <a:pt x="1665523" y="88199"/>
                  </a:lnTo>
                  <a:lnTo>
                    <a:pt x="1675713" y="128870"/>
                  </a:lnTo>
                  <a:lnTo>
                    <a:pt x="1676399" y="142874"/>
                  </a:lnTo>
                  <a:lnTo>
                    <a:pt x="1676228" y="149894"/>
                  </a:lnTo>
                  <a:lnTo>
                    <a:pt x="1668051" y="191000"/>
                  </a:lnTo>
                  <a:lnTo>
                    <a:pt x="1648278" y="227992"/>
                  </a:lnTo>
                  <a:lnTo>
                    <a:pt x="1618642" y="257628"/>
                  </a:lnTo>
                  <a:lnTo>
                    <a:pt x="1581649" y="277401"/>
                  </a:lnTo>
                  <a:lnTo>
                    <a:pt x="1540543" y="285578"/>
                  </a:lnTo>
                  <a:lnTo>
                    <a:pt x="1533524" y="285749"/>
                  </a:lnTo>
                  <a:lnTo>
                    <a:pt x="142874" y="285749"/>
                  </a:lnTo>
                  <a:lnTo>
                    <a:pt x="101399" y="279599"/>
                  </a:lnTo>
                  <a:lnTo>
                    <a:pt x="63497" y="261671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774600" y="603281"/>
            <a:ext cx="325882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06575" algn="l"/>
              </a:tabLst>
            </a:pPr>
            <a:r>
              <a:rPr dirty="0" sz="1300" spc="-10">
                <a:solidFill>
                  <a:srgbClr val="FFFFFF"/>
                </a:solidFill>
                <a:latin typeface="Courier New"/>
                <a:cs typeface="Courier New"/>
              </a:rPr>
              <a:t>BUSINESS</a:t>
            </a:r>
            <a:r>
              <a:rPr dirty="0" sz="1300" spc="-1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ourier New"/>
                <a:cs typeface="Courier New"/>
              </a:rPr>
              <a:t>IMPACT</a:t>
            </a:r>
            <a:r>
              <a:rPr dirty="0" sz="1300">
                <a:solidFill>
                  <a:srgbClr val="FFFFFF"/>
                </a:solidFill>
                <a:latin typeface="Courier New"/>
                <a:cs typeface="Courier New"/>
              </a:rPr>
              <a:t>	SYSTEM</a:t>
            </a:r>
            <a:r>
              <a:rPr dirty="0" sz="1300" spc="-15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Courier New"/>
                <a:cs typeface="Courier New"/>
              </a:rPr>
              <a:t>OUTCOMES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47650" y="939800"/>
            <a:ext cx="6196965" cy="892175"/>
          </a:xfrm>
          <a:prstGeom prst="rect"/>
        </p:spPr>
        <p:txBody>
          <a:bodyPr wrap="square" lIns="0" tIns="65405" rIns="0" bIns="0" rtlCol="0" vert="horz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515"/>
              </a:spcBef>
            </a:pPr>
            <a:r>
              <a:rPr dirty="0" spc="-150">
                <a:solidFill>
                  <a:srgbClr val="FFFFFF"/>
                </a:solidFill>
              </a:rPr>
              <a:t>From</a:t>
            </a:r>
            <a:r>
              <a:rPr dirty="0" spc="-415">
                <a:solidFill>
                  <a:srgbClr val="FFFFFF"/>
                </a:solidFill>
              </a:rPr>
              <a:t> </a:t>
            </a:r>
            <a:r>
              <a:rPr dirty="0" spc="-75">
                <a:solidFill>
                  <a:srgbClr val="FFFFFF"/>
                </a:solidFill>
              </a:rPr>
              <a:t>fragmented</a:t>
            </a:r>
            <a:r>
              <a:rPr dirty="0" spc="-409">
                <a:solidFill>
                  <a:srgbClr val="FFFFFF"/>
                </a:solidFill>
              </a:rPr>
              <a:t> </a:t>
            </a:r>
            <a:r>
              <a:rPr dirty="0" spc="-90">
                <a:solidFill>
                  <a:srgbClr val="FFFFFF"/>
                </a:solidFill>
              </a:rPr>
              <a:t>booking</a:t>
            </a:r>
            <a:r>
              <a:rPr dirty="0" spc="-409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to </a:t>
            </a:r>
            <a:r>
              <a:rPr dirty="0" spc="-80">
                <a:solidFill>
                  <a:srgbClr val="FFFFFF"/>
                </a:solidFill>
              </a:rPr>
              <a:t>measurable</a:t>
            </a:r>
            <a:r>
              <a:rPr dirty="0" spc="-375">
                <a:solidFill>
                  <a:srgbClr val="FFFFFF"/>
                </a:solidFill>
              </a:rPr>
              <a:t> </a:t>
            </a:r>
            <a:r>
              <a:rPr dirty="0" spc="-85">
                <a:solidFill>
                  <a:srgbClr val="FFFFFF"/>
                </a:solidFill>
              </a:rPr>
              <a:t>operational</a:t>
            </a:r>
            <a:r>
              <a:rPr dirty="0" spc="-375">
                <a:solidFill>
                  <a:srgbClr val="FFFFFF"/>
                </a:solidFill>
              </a:rPr>
              <a:t> </a:t>
            </a:r>
            <a:r>
              <a:rPr dirty="0" spc="-75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7650" y="2032031"/>
            <a:ext cx="759142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65">
                <a:solidFill>
                  <a:srgbClr val="FF8320"/>
                </a:solidFill>
                <a:latin typeface="Calibri"/>
                <a:cs typeface="Calibri"/>
              </a:rPr>
              <a:t>The</a:t>
            </a:r>
            <a:r>
              <a:rPr dirty="0" sz="1900" spc="125">
                <a:solidFill>
                  <a:srgbClr val="FF8320"/>
                </a:solidFill>
                <a:latin typeface="Calibri"/>
                <a:cs typeface="Calibri"/>
              </a:rPr>
              <a:t> </a:t>
            </a:r>
            <a:r>
              <a:rPr dirty="0" sz="1900" spc="80">
                <a:solidFill>
                  <a:srgbClr val="FF8320"/>
                </a:solidFill>
                <a:latin typeface="Calibri"/>
                <a:cs typeface="Calibri"/>
              </a:rPr>
              <a:t>DBMS</a:t>
            </a:r>
            <a:r>
              <a:rPr dirty="0" sz="1900" spc="130">
                <a:solidFill>
                  <a:srgbClr val="FF8320"/>
                </a:solidFill>
                <a:latin typeface="Calibri"/>
                <a:cs typeface="Calibri"/>
              </a:rPr>
              <a:t> </a:t>
            </a:r>
            <a:r>
              <a:rPr dirty="0" sz="1900" spc="65">
                <a:solidFill>
                  <a:srgbClr val="FF8320"/>
                </a:solidFill>
                <a:latin typeface="Calibri"/>
                <a:cs typeface="Calibri"/>
              </a:rPr>
              <a:t>converts</a:t>
            </a:r>
            <a:r>
              <a:rPr dirty="0" sz="1900" spc="130">
                <a:solidFill>
                  <a:srgbClr val="FF832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8320"/>
                </a:solidFill>
                <a:latin typeface="Calibri"/>
                <a:cs typeface="Calibri"/>
              </a:rPr>
              <a:t>travel</a:t>
            </a:r>
            <a:r>
              <a:rPr dirty="0" sz="1900" spc="130">
                <a:solidFill>
                  <a:srgbClr val="FF8320"/>
                </a:solidFill>
                <a:latin typeface="Calibri"/>
                <a:cs typeface="Calibri"/>
              </a:rPr>
              <a:t> </a:t>
            </a:r>
            <a:r>
              <a:rPr dirty="0" sz="1900" spc="70">
                <a:solidFill>
                  <a:srgbClr val="FF8320"/>
                </a:solidFill>
                <a:latin typeface="Calibri"/>
                <a:cs typeface="Calibri"/>
              </a:rPr>
              <a:t>complexity</a:t>
            </a:r>
            <a:r>
              <a:rPr dirty="0" sz="1900" spc="125">
                <a:solidFill>
                  <a:srgbClr val="FF832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8320"/>
                </a:solidFill>
                <a:latin typeface="Calibri"/>
                <a:cs typeface="Calibri"/>
              </a:rPr>
              <a:t>into</a:t>
            </a:r>
            <a:r>
              <a:rPr dirty="0" sz="1900" spc="130">
                <a:solidFill>
                  <a:srgbClr val="FF832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8320"/>
                </a:solidFill>
                <a:latin typeface="Calibri"/>
                <a:cs typeface="Calibri"/>
              </a:rPr>
              <a:t>reliable,</a:t>
            </a:r>
            <a:r>
              <a:rPr dirty="0" sz="1900" spc="130">
                <a:solidFill>
                  <a:srgbClr val="FF8320"/>
                </a:solidFill>
                <a:latin typeface="Calibri"/>
                <a:cs typeface="Calibri"/>
              </a:rPr>
              <a:t> </a:t>
            </a:r>
            <a:r>
              <a:rPr dirty="0" sz="1900" spc="65">
                <a:solidFill>
                  <a:srgbClr val="FF8320"/>
                </a:solidFill>
                <a:latin typeface="Calibri"/>
                <a:cs typeface="Calibri"/>
              </a:rPr>
              <a:t>auditable</a:t>
            </a:r>
            <a:r>
              <a:rPr dirty="0" sz="1900" spc="130">
                <a:solidFill>
                  <a:srgbClr val="FF8320"/>
                </a:solidFill>
                <a:latin typeface="Calibri"/>
                <a:cs typeface="Calibri"/>
              </a:rPr>
              <a:t> </a:t>
            </a:r>
            <a:r>
              <a:rPr dirty="0" sz="1900" spc="35">
                <a:solidFill>
                  <a:srgbClr val="FF8320"/>
                </a:solidFill>
                <a:latin typeface="Calibri"/>
                <a:cs typeface="Calibri"/>
              </a:rPr>
              <a:t>execution.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57224" y="2514599"/>
            <a:ext cx="7772400" cy="3810000"/>
            <a:chOff x="657224" y="2514599"/>
            <a:chExt cx="7772400" cy="3810000"/>
          </a:xfrm>
        </p:grpSpPr>
        <p:sp>
          <p:nvSpPr>
            <p:cNvPr id="10" name="object 10"/>
            <p:cNvSpPr/>
            <p:nvPr/>
          </p:nvSpPr>
          <p:spPr>
            <a:xfrm>
              <a:off x="657224" y="2514599"/>
              <a:ext cx="76200" cy="1552575"/>
            </a:xfrm>
            <a:custGeom>
              <a:avLst/>
              <a:gdLst/>
              <a:ahLst/>
              <a:cxnLst/>
              <a:rect l="l" t="t" r="r" b="b"/>
              <a:pathLst>
                <a:path w="76200" h="1552575">
                  <a:moveTo>
                    <a:pt x="76199" y="1552574"/>
                  </a:moveTo>
                  <a:lnTo>
                    <a:pt x="0" y="1552574"/>
                  </a:lnTo>
                  <a:lnTo>
                    <a:pt x="0" y="0"/>
                  </a:lnTo>
                  <a:lnTo>
                    <a:pt x="76199" y="0"/>
                  </a:lnTo>
                  <a:lnTo>
                    <a:pt x="76199" y="1552574"/>
                  </a:lnTo>
                  <a:close/>
                </a:path>
              </a:pathLst>
            </a:custGeom>
            <a:solidFill>
              <a:srgbClr val="1281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352799" y="2514599"/>
              <a:ext cx="76200" cy="1552575"/>
            </a:xfrm>
            <a:custGeom>
              <a:avLst/>
              <a:gdLst/>
              <a:ahLst/>
              <a:cxnLst/>
              <a:rect l="l" t="t" r="r" b="b"/>
              <a:pathLst>
                <a:path w="76200" h="1552575">
                  <a:moveTo>
                    <a:pt x="76199" y="1552574"/>
                  </a:moveTo>
                  <a:lnTo>
                    <a:pt x="0" y="1552574"/>
                  </a:lnTo>
                  <a:lnTo>
                    <a:pt x="0" y="0"/>
                  </a:lnTo>
                  <a:lnTo>
                    <a:pt x="76199" y="0"/>
                  </a:lnTo>
                  <a:lnTo>
                    <a:pt x="76199" y="1552574"/>
                  </a:lnTo>
                  <a:close/>
                </a:path>
              </a:pathLst>
            </a:custGeom>
            <a:solidFill>
              <a:srgbClr val="FF83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048374" y="2514599"/>
              <a:ext cx="76200" cy="1552575"/>
            </a:xfrm>
            <a:custGeom>
              <a:avLst/>
              <a:gdLst/>
              <a:ahLst/>
              <a:cxnLst/>
              <a:rect l="l" t="t" r="r" b="b"/>
              <a:pathLst>
                <a:path w="76200" h="1552575">
                  <a:moveTo>
                    <a:pt x="76199" y="1552574"/>
                  </a:moveTo>
                  <a:lnTo>
                    <a:pt x="0" y="1552574"/>
                  </a:lnTo>
                  <a:lnTo>
                    <a:pt x="0" y="0"/>
                  </a:lnTo>
                  <a:lnTo>
                    <a:pt x="76199" y="0"/>
                  </a:lnTo>
                  <a:lnTo>
                    <a:pt x="76199" y="1552574"/>
                  </a:lnTo>
                  <a:close/>
                </a:path>
              </a:pathLst>
            </a:custGeom>
            <a:solidFill>
              <a:srgbClr val="1F4E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619624" y="5229224"/>
              <a:ext cx="3810000" cy="1095375"/>
            </a:xfrm>
            <a:custGeom>
              <a:avLst/>
              <a:gdLst/>
              <a:ahLst/>
              <a:cxnLst/>
              <a:rect l="l" t="t" r="r" b="b"/>
              <a:pathLst>
                <a:path w="3810000" h="1095375">
                  <a:moveTo>
                    <a:pt x="3809999" y="1095374"/>
                  </a:moveTo>
                  <a:lnTo>
                    <a:pt x="0" y="1095374"/>
                  </a:lnTo>
                  <a:lnTo>
                    <a:pt x="0" y="0"/>
                  </a:lnTo>
                  <a:lnTo>
                    <a:pt x="3809999" y="0"/>
                  </a:lnTo>
                  <a:lnTo>
                    <a:pt x="3809999" y="1095374"/>
                  </a:lnTo>
                  <a:close/>
                </a:path>
              </a:pathLst>
            </a:custGeom>
            <a:solidFill>
              <a:srgbClr val="EDF1F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76250" y="2549525"/>
            <a:ext cx="1979295" cy="1190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455">
                <a:solidFill>
                  <a:srgbClr val="FFFFFF"/>
                </a:solidFill>
                <a:latin typeface="Arial Black"/>
                <a:cs typeface="Arial Black"/>
              </a:rPr>
              <a:t>100%</a:t>
            </a:r>
            <a:endParaRPr sz="3600">
              <a:latin typeface="Arial Black"/>
              <a:cs typeface="Arial Black"/>
            </a:endParaRPr>
          </a:p>
          <a:p>
            <a:pPr marL="12700" marR="5080">
              <a:lnSpc>
                <a:spcPct val="110000"/>
              </a:lnSpc>
              <a:spcBef>
                <a:spcPts val="1555"/>
              </a:spcBef>
            </a:pPr>
            <a:r>
              <a:rPr dirty="0" sz="1250">
                <a:solidFill>
                  <a:srgbClr val="E9F0FF"/>
                </a:solidFill>
                <a:latin typeface="Calibri"/>
                <a:cs typeface="Calibri"/>
              </a:rPr>
              <a:t>Elimination </a:t>
            </a:r>
            <a:r>
              <a:rPr dirty="0" sz="1250" spc="55">
                <a:solidFill>
                  <a:srgbClr val="E9F0FF"/>
                </a:solidFill>
                <a:latin typeface="Calibri"/>
                <a:cs typeface="Calibri"/>
              </a:rPr>
              <a:t>of </a:t>
            </a:r>
            <a:r>
              <a:rPr dirty="0" sz="1250" spc="45">
                <a:solidFill>
                  <a:srgbClr val="E9F0FF"/>
                </a:solidFill>
                <a:latin typeface="Calibri"/>
                <a:cs typeface="Calibri"/>
              </a:rPr>
              <a:t>double-</a:t>
            </a:r>
            <a:r>
              <a:rPr dirty="0" sz="1250" spc="55">
                <a:solidFill>
                  <a:srgbClr val="E9F0FF"/>
                </a:solidFill>
                <a:latin typeface="Calibri"/>
                <a:cs typeface="Calibri"/>
              </a:rPr>
              <a:t>booked</a:t>
            </a:r>
            <a:r>
              <a:rPr dirty="0" sz="1250" spc="30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250" spc="60">
                <a:solidFill>
                  <a:srgbClr val="E9F0FF"/>
                </a:solidFill>
                <a:latin typeface="Calibri"/>
                <a:cs typeface="Calibri"/>
              </a:rPr>
              <a:t>guides</a:t>
            </a:r>
            <a:r>
              <a:rPr dirty="0" sz="1250" spc="30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250" spc="55">
                <a:solidFill>
                  <a:srgbClr val="E9F0FF"/>
                </a:solidFill>
                <a:latin typeface="Calibri"/>
                <a:cs typeface="Calibri"/>
              </a:rPr>
              <a:t>and</a:t>
            </a:r>
            <a:r>
              <a:rPr dirty="0" sz="1250" spc="35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E9F0FF"/>
                </a:solidFill>
                <a:latin typeface="Calibri"/>
                <a:cs typeface="Calibri"/>
              </a:rPr>
              <a:t>vehicles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68551" y="2549525"/>
            <a:ext cx="1936114" cy="1190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315">
                <a:solidFill>
                  <a:srgbClr val="FFFFFF"/>
                </a:solidFill>
                <a:latin typeface="Arial Black"/>
                <a:cs typeface="Arial Black"/>
              </a:rPr>
              <a:t>Zero</a:t>
            </a:r>
            <a:endParaRPr sz="3600">
              <a:latin typeface="Arial Black"/>
              <a:cs typeface="Arial Black"/>
            </a:endParaRPr>
          </a:p>
          <a:p>
            <a:pPr marL="12700" marR="5080">
              <a:lnSpc>
                <a:spcPct val="110000"/>
              </a:lnSpc>
              <a:spcBef>
                <a:spcPts val="1555"/>
              </a:spcBef>
            </a:pPr>
            <a:r>
              <a:rPr dirty="0" sz="1250" spc="55">
                <a:solidFill>
                  <a:srgbClr val="E9F0FF"/>
                </a:solidFill>
                <a:latin typeface="Calibri"/>
                <a:cs typeface="Calibri"/>
              </a:rPr>
              <a:t>Overbooking:</a:t>
            </a:r>
            <a:r>
              <a:rPr dirty="0" sz="1250" spc="20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E9F0FF"/>
                </a:solidFill>
                <a:latin typeface="Calibri"/>
                <a:cs typeface="Calibri"/>
              </a:rPr>
              <a:t>automated </a:t>
            </a:r>
            <a:r>
              <a:rPr dirty="0" sz="1250" spc="55">
                <a:solidFill>
                  <a:srgbClr val="E9F0FF"/>
                </a:solidFill>
                <a:latin typeface="Calibri"/>
                <a:cs typeface="Calibri"/>
              </a:rPr>
              <a:t>capacity</a:t>
            </a:r>
            <a:r>
              <a:rPr dirty="0" sz="1250" spc="155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250" spc="10">
                <a:solidFill>
                  <a:srgbClr val="E9F0FF"/>
                </a:solidFill>
                <a:latin typeface="Calibri"/>
                <a:cs typeface="Calibri"/>
              </a:rPr>
              <a:t>validation</a:t>
            </a:r>
            <a:r>
              <a:rPr dirty="0" sz="1250" spc="155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250" spc="40">
                <a:solidFill>
                  <a:srgbClr val="E9F0FF"/>
                </a:solidFill>
                <a:latin typeface="Calibri"/>
                <a:cs typeface="Calibri"/>
              </a:rPr>
              <a:t>triggers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61000" y="2549525"/>
            <a:ext cx="1995170" cy="140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>
                <a:solidFill>
                  <a:srgbClr val="FFFFFF"/>
                </a:solidFill>
                <a:latin typeface="Arial Black"/>
                <a:cs typeface="Arial Black"/>
              </a:rPr>
              <a:t>Instant</a:t>
            </a:r>
            <a:endParaRPr sz="3600">
              <a:latin typeface="Arial Black"/>
              <a:cs typeface="Arial Black"/>
            </a:endParaRPr>
          </a:p>
          <a:p>
            <a:pPr marL="12700" marR="5080">
              <a:lnSpc>
                <a:spcPct val="112500"/>
              </a:lnSpc>
              <a:spcBef>
                <a:spcPts val="1515"/>
              </a:spcBef>
            </a:pPr>
            <a:r>
              <a:rPr dirty="0" sz="1250" spc="10">
                <a:solidFill>
                  <a:srgbClr val="E9F0FF"/>
                </a:solidFill>
                <a:latin typeface="Calibri"/>
                <a:cs typeface="Calibri"/>
              </a:rPr>
              <a:t>Reporting:</a:t>
            </a:r>
            <a:r>
              <a:rPr dirty="0" sz="1250" spc="160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250" spc="60">
                <a:solidFill>
                  <a:srgbClr val="E9F0FF"/>
                </a:solidFill>
                <a:latin typeface="Calibri"/>
                <a:cs typeface="Calibri"/>
              </a:rPr>
              <a:t>booking</a:t>
            </a:r>
            <a:r>
              <a:rPr dirty="0" sz="1250" spc="165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E9F0FF"/>
                </a:solidFill>
                <a:latin typeface="Calibri"/>
                <a:cs typeface="Calibri"/>
              </a:rPr>
              <a:t>velocity, </a:t>
            </a:r>
            <a:r>
              <a:rPr dirty="0" sz="1250" spc="10">
                <a:solidFill>
                  <a:srgbClr val="E9F0FF"/>
                </a:solidFill>
                <a:latin typeface="Calibri"/>
                <a:cs typeface="Calibri"/>
              </a:rPr>
              <a:t>departure</a:t>
            </a:r>
            <a:r>
              <a:rPr dirty="0" sz="1250" spc="254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250" spc="10">
                <a:solidFill>
                  <a:srgbClr val="E9F0FF"/>
                </a:solidFill>
                <a:latin typeface="Calibri"/>
                <a:cs typeface="Calibri"/>
              </a:rPr>
              <a:t>yields,</a:t>
            </a:r>
            <a:r>
              <a:rPr dirty="0" sz="1250" spc="254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250" spc="30">
                <a:solidFill>
                  <a:srgbClr val="E9F0FF"/>
                </a:solidFill>
                <a:latin typeface="Calibri"/>
                <a:cs typeface="Calibri"/>
              </a:rPr>
              <a:t>and </a:t>
            </a:r>
            <a:r>
              <a:rPr dirty="0" sz="1250">
                <a:solidFill>
                  <a:srgbClr val="E9F0FF"/>
                </a:solidFill>
                <a:latin typeface="Calibri"/>
                <a:cs typeface="Calibri"/>
              </a:rPr>
              <a:t>revenue</a:t>
            </a:r>
            <a:r>
              <a:rPr dirty="0" sz="1250" spc="265">
                <a:solidFill>
                  <a:srgbClr val="E9F0FF"/>
                </a:solidFill>
                <a:latin typeface="Calibri"/>
                <a:cs typeface="Calibri"/>
              </a:rPr>
              <a:t> </a:t>
            </a:r>
            <a:r>
              <a:rPr dirty="0" sz="1250" spc="35">
                <a:solidFill>
                  <a:srgbClr val="E9F0FF"/>
                </a:solidFill>
                <a:latin typeface="Calibri"/>
                <a:cs typeface="Calibri"/>
              </a:rPr>
              <a:t>tracking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7224" y="5229224"/>
            <a:ext cx="3810000" cy="1095375"/>
          </a:xfrm>
          <a:prstGeom prst="rect">
            <a:avLst/>
          </a:prstGeom>
          <a:solidFill>
            <a:srgbClr val="E9F0FF"/>
          </a:solidFill>
        </p:spPr>
        <p:txBody>
          <a:bodyPr wrap="square" lIns="0" tIns="133350" rIns="0" bIns="0" rtlCol="0" vert="horz">
            <a:spAutoFit/>
          </a:bodyPr>
          <a:lstStyle/>
          <a:p>
            <a:pPr marL="154940">
              <a:lnSpc>
                <a:spcPct val="100000"/>
              </a:lnSpc>
              <a:spcBef>
                <a:spcPts val="1050"/>
              </a:spcBef>
            </a:pPr>
            <a:r>
              <a:rPr dirty="0" sz="1350" spc="-30" b="1">
                <a:solidFill>
                  <a:srgbClr val="0F1A3A"/>
                </a:solidFill>
                <a:latin typeface="Courier New"/>
                <a:cs typeface="Courier New"/>
              </a:rPr>
              <a:t>Before:</a:t>
            </a:r>
            <a:r>
              <a:rPr dirty="0" sz="1350" spc="-160" b="1">
                <a:solidFill>
                  <a:srgbClr val="0F1A3A"/>
                </a:solidFill>
                <a:latin typeface="Courier New"/>
                <a:cs typeface="Courier New"/>
              </a:rPr>
              <a:t> </a:t>
            </a:r>
            <a:r>
              <a:rPr dirty="0" sz="1350" spc="-25" b="1">
                <a:solidFill>
                  <a:srgbClr val="0F1A3A"/>
                </a:solidFill>
                <a:latin typeface="Courier New"/>
                <a:cs typeface="Courier New"/>
              </a:rPr>
              <a:t>Manual</a:t>
            </a:r>
            <a:r>
              <a:rPr dirty="0" sz="1350" spc="-160" b="1">
                <a:solidFill>
                  <a:srgbClr val="0F1A3A"/>
                </a:solidFill>
                <a:latin typeface="Courier New"/>
                <a:cs typeface="Courier New"/>
              </a:rPr>
              <a:t> </a:t>
            </a:r>
            <a:r>
              <a:rPr dirty="0" sz="1350" spc="-10" b="1">
                <a:solidFill>
                  <a:srgbClr val="0F1A3A"/>
                </a:solidFill>
                <a:latin typeface="Courier New"/>
                <a:cs typeface="Courier New"/>
              </a:rPr>
              <a:t>Disconnect</a:t>
            </a:r>
            <a:endParaRPr sz="1350">
              <a:latin typeface="Courier New"/>
              <a:cs typeface="Courier New"/>
            </a:endParaRPr>
          </a:p>
          <a:p>
            <a:pPr marL="154940" marR="706120">
              <a:lnSpc>
                <a:spcPct val="115700"/>
              </a:lnSpc>
              <a:spcBef>
                <a:spcPts val="975"/>
              </a:spcBef>
            </a:pPr>
            <a:r>
              <a:rPr dirty="0" sz="1350" spc="20">
                <a:solidFill>
                  <a:srgbClr val="0F1A3A"/>
                </a:solidFill>
                <a:latin typeface="Calibri"/>
                <a:cs typeface="Calibri"/>
              </a:rPr>
              <a:t>Disparate</a:t>
            </a:r>
            <a:r>
              <a:rPr dirty="0" sz="1350" spc="21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20">
                <a:solidFill>
                  <a:srgbClr val="0F1A3A"/>
                </a:solidFill>
                <a:latin typeface="Calibri"/>
                <a:cs typeface="Calibri"/>
              </a:rPr>
              <a:t>sheets,</a:t>
            </a:r>
            <a:r>
              <a:rPr dirty="0" sz="1350" spc="21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20">
                <a:solidFill>
                  <a:srgbClr val="0F1A3A"/>
                </a:solidFill>
                <a:latin typeface="Calibri"/>
                <a:cs typeface="Calibri"/>
              </a:rPr>
              <a:t>unvalidated</a:t>
            </a:r>
            <a:r>
              <a:rPr dirty="0" sz="1350" spc="21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capacity, </a:t>
            </a:r>
            <a:r>
              <a:rPr dirty="0" sz="1350">
                <a:solidFill>
                  <a:srgbClr val="0F1A3A"/>
                </a:solidFill>
                <a:latin typeface="Calibri"/>
                <a:cs typeface="Calibri"/>
              </a:rPr>
              <a:t>manual</a:t>
            </a:r>
            <a:r>
              <a:rPr dirty="0" sz="1350" spc="22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F1A3A"/>
                </a:solidFill>
                <a:latin typeface="Calibri"/>
                <a:cs typeface="Calibri"/>
              </a:rPr>
              <a:t>math</a:t>
            </a:r>
            <a:r>
              <a:rPr dirty="0" sz="1350" spc="22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errors.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19624" y="5229224"/>
            <a:ext cx="3810000" cy="1095375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154940">
              <a:lnSpc>
                <a:spcPct val="100000"/>
              </a:lnSpc>
              <a:spcBef>
                <a:spcPts val="1050"/>
              </a:spcBef>
            </a:pPr>
            <a:r>
              <a:rPr dirty="0" sz="1350" spc="-25" b="1">
                <a:solidFill>
                  <a:srgbClr val="0F1A3A"/>
                </a:solidFill>
                <a:latin typeface="Courier New"/>
                <a:cs typeface="Courier New"/>
              </a:rPr>
              <a:t>After:</a:t>
            </a:r>
            <a:r>
              <a:rPr dirty="0" sz="1350" spc="-135" b="1">
                <a:solidFill>
                  <a:srgbClr val="0F1A3A"/>
                </a:solidFill>
                <a:latin typeface="Courier New"/>
                <a:cs typeface="Courier New"/>
              </a:rPr>
              <a:t> </a:t>
            </a:r>
            <a:r>
              <a:rPr dirty="0" sz="1350" spc="-40" b="1">
                <a:solidFill>
                  <a:srgbClr val="0F1A3A"/>
                </a:solidFill>
                <a:latin typeface="Courier New"/>
                <a:cs typeface="Courier New"/>
              </a:rPr>
              <a:t>Relational</a:t>
            </a:r>
            <a:r>
              <a:rPr dirty="0" sz="1350" spc="-135" b="1">
                <a:solidFill>
                  <a:srgbClr val="0F1A3A"/>
                </a:solidFill>
                <a:latin typeface="Courier New"/>
                <a:cs typeface="Courier New"/>
              </a:rPr>
              <a:t> </a:t>
            </a:r>
            <a:r>
              <a:rPr dirty="0" sz="1350" spc="-10" b="1">
                <a:solidFill>
                  <a:srgbClr val="0F1A3A"/>
                </a:solidFill>
                <a:latin typeface="Courier New"/>
                <a:cs typeface="Courier New"/>
              </a:rPr>
              <a:t>Control</a:t>
            </a:r>
            <a:endParaRPr sz="1350">
              <a:latin typeface="Courier New"/>
              <a:cs typeface="Courier New"/>
            </a:endParaRPr>
          </a:p>
          <a:p>
            <a:pPr marL="154940" marR="903605">
              <a:lnSpc>
                <a:spcPct val="115700"/>
              </a:lnSpc>
              <a:spcBef>
                <a:spcPts val="975"/>
              </a:spcBef>
            </a:pP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Strict</a:t>
            </a:r>
            <a:r>
              <a:rPr dirty="0" sz="1350" spc="18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70">
                <a:solidFill>
                  <a:srgbClr val="0F1A3A"/>
                </a:solidFill>
                <a:latin typeface="Calibri"/>
                <a:cs typeface="Calibri"/>
              </a:rPr>
              <a:t>3NF</a:t>
            </a:r>
            <a:r>
              <a:rPr dirty="0" sz="1350" spc="185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normalization,</a:t>
            </a:r>
            <a:r>
              <a:rPr dirty="0" sz="1350" spc="19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35">
                <a:solidFill>
                  <a:srgbClr val="0F1A3A"/>
                </a:solidFill>
                <a:latin typeface="Calibri"/>
                <a:cs typeface="Calibri"/>
              </a:rPr>
              <a:t>automated </a:t>
            </a: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constraint</a:t>
            </a:r>
            <a:r>
              <a:rPr dirty="0" sz="1350" spc="20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gates,</a:t>
            </a:r>
            <a:r>
              <a:rPr dirty="0" sz="1350" spc="200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0F1A3A"/>
                </a:solidFill>
                <a:latin typeface="Calibri"/>
                <a:cs typeface="Calibri"/>
              </a:rPr>
              <a:t>real-time</a:t>
            </a:r>
            <a:r>
              <a:rPr dirty="0" sz="1350" spc="204">
                <a:solidFill>
                  <a:srgbClr val="0F1A3A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F1A3A"/>
                </a:solidFill>
                <a:latin typeface="Calibri"/>
                <a:cs typeface="Calibri"/>
              </a:rPr>
              <a:t>rosters.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715125" y="6029324"/>
            <a:ext cx="381000" cy="381000"/>
            <a:chOff x="6715125" y="6029324"/>
            <a:chExt cx="381000" cy="381000"/>
          </a:xfrm>
        </p:grpSpPr>
        <p:sp>
          <p:nvSpPr>
            <p:cNvPr id="20" name="object 20"/>
            <p:cNvSpPr/>
            <p:nvPr/>
          </p:nvSpPr>
          <p:spPr>
            <a:xfrm>
              <a:off x="6753225" y="60674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304800"/>
                  </a:moveTo>
                  <a:lnTo>
                    <a:pt x="108160" y="298239"/>
                  </a:lnTo>
                  <a:lnTo>
                    <a:pt x="67731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400"/>
                  </a:lnTo>
                  <a:lnTo>
                    <a:pt x="183" y="144912"/>
                  </a:lnTo>
                  <a:lnTo>
                    <a:pt x="8904" y="101066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400" y="0"/>
                  </a:lnTo>
                  <a:lnTo>
                    <a:pt x="159887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6"/>
                  </a:lnTo>
                  <a:lnTo>
                    <a:pt x="304616" y="144912"/>
                  </a:lnTo>
                  <a:lnTo>
                    <a:pt x="304800" y="152400"/>
                  </a:lnTo>
                  <a:lnTo>
                    <a:pt x="304616" y="159887"/>
                  </a:lnTo>
                  <a:lnTo>
                    <a:pt x="295895" y="203733"/>
                  </a:lnTo>
                  <a:lnTo>
                    <a:pt x="274804" y="243192"/>
                  </a:lnTo>
                  <a:lnTo>
                    <a:pt x="243192" y="274804"/>
                  </a:lnTo>
                  <a:lnTo>
                    <a:pt x="203733" y="295895"/>
                  </a:lnTo>
                  <a:lnTo>
                    <a:pt x="159887" y="304616"/>
                  </a:lnTo>
                  <a:lnTo>
                    <a:pt x="152400" y="304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753225" y="60674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6560" y="108160"/>
                  </a:lnTo>
                  <a:lnTo>
                    <a:pt x="25684" y="67731"/>
                  </a:lnTo>
                  <a:lnTo>
                    <a:pt x="55717" y="34591"/>
                  </a:lnTo>
                  <a:lnTo>
                    <a:pt x="94079" y="11600"/>
                  </a:lnTo>
                  <a:lnTo>
                    <a:pt x="137462" y="732"/>
                  </a:lnTo>
                  <a:lnTo>
                    <a:pt x="152400" y="0"/>
                  </a:lnTo>
                  <a:lnTo>
                    <a:pt x="159887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6"/>
                  </a:lnTo>
                  <a:lnTo>
                    <a:pt x="304616" y="144912"/>
                  </a:lnTo>
                  <a:lnTo>
                    <a:pt x="304800" y="152400"/>
                  </a:lnTo>
                  <a:lnTo>
                    <a:pt x="304616" y="159887"/>
                  </a:lnTo>
                  <a:lnTo>
                    <a:pt x="295895" y="203733"/>
                  </a:lnTo>
                  <a:lnTo>
                    <a:pt x="274804" y="243192"/>
                  </a:lnTo>
                  <a:lnTo>
                    <a:pt x="243192" y="274804"/>
                  </a:lnTo>
                  <a:lnTo>
                    <a:pt x="203733" y="295895"/>
                  </a:lnTo>
                  <a:lnTo>
                    <a:pt x="159887" y="304616"/>
                  </a:lnTo>
                  <a:lnTo>
                    <a:pt x="152400" y="304800"/>
                  </a:lnTo>
                  <a:lnTo>
                    <a:pt x="144912" y="304616"/>
                  </a:lnTo>
                  <a:lnTo>
                    <a:pt x="101066" y="295895"/>
                  </a:lnTo>
                  <a:lnTo>
                    <a:pt x="61607" y="274804"/>
                  </a:lnTo>
                  <a:lnTo>
                    <a:pt x="29995" y="243192"/>
                  </a:lnTo>
                  <a:lnTo>
                    <a:pt x="8904" y="203733"/>
                  </a:lnTo>
                  <a:lnTo>
                    <a:pt x="183" y="159887"/>
                  </a:lnTo>
                  <a:lnTo>
                    <a:pt x="0" y="152400"/>
                  </a:lnTo>
                  <a:close/>
                </a:path>
              </a:pathLst>
            </a:custGeom>
            <a:ln w="76200">
              <a:solidFill>
                <a:srgbClr val="1281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8943974" y="0"/>
            <a:ext cx="3248025" cy="6858000"/>
            <a:chOff x="8943974" y="0"/>
            <a:chExt cx="3248025" cy="6858000"/>
          </a:xfrm>
        </p:grpSpPr>
        <p:sp>
          <p:nvSpPr>
            <p:cNvPr id="23" name="object 23"/>
            <p:cNvSpPr/>
            <p:nvPr/>
          </p:nvSpPr>
          <p:spPr>
            <a:xfrm>
              <a:off x="8943974" y="0"/>
              <a:ext cx="3248025" cy="6858000"/>
            </a:xfrm>
            <a:custGeom>
              <a:avLst/>
              <a:gdLst/>
              <a:ahLst/>
              <a:cxnLst/>
              <a:rect l="l" t="t" r="r" b="b"/>
              <a:pathLst>
                <a:path w="3248025" h="6858000">
                  <a:moveTo>
                    <a:pt x="3248024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3248024" y="0"/>
                  </a:lnTo>
                  <a:lnTo>
                    <a:pt x="3248024" y="6857999"/>
                  </a:lnTo>
                  <a:close/>
                </a:path>
              </a:pathLst>
            </a:custGeom>
            <a:solidFill>
              <a:srgbClr val="0F1A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43974" y="1800225"/>
              <a:ext cx="3248024" cy="3257549"/>
            </a:xfrm>
            <a:prstGeom prst="rect">
              <a:avLst/>
            </a:prstGeom>
          </p:spPr>
        </p:pic>
        <p:pic>
          <p:nvPicPr>
            <p:cNvPr id="25" name="object 25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42244" y="6343650"/>
              <a:ext cx="1754504" cy="419100"/>
            </a:xfrm>
            <a:prstGeom prst="rect">
              <a:avLst/>
            </a:prstGeom>
          </p:spPr>
        </p:pic>
        <p:sp>
          <p:nvSpPr>
            <p:cNvPr id="26" name="object 26">
              <a:hlinkClick r:id="rId3"/>
            </p:cNvPr>
            <p:cNvSpPr/>
            <p:nvPr/>
          </p:nvSpPr>
          <p:spPr>
            <a:xfrm>
              <a:off x="10316590" y="6342371"/>
              <a:ext cx="1772285" cy="431800"/>
            </a:xfrm>
            <a:custGeom>
              <a:avLst/>
              <a:gdLst/>
              <a:ahLst/>
              <a:cxnLst/>
              <a:rect l="l" t="t" r="r" b="b"/>
              <a:pathLst>
                <a:path w="1772284" h="431800">
                  <a:moveTo>
                    <a:pt x="1575945" y="0"/>
                  </a:moveTo>
                  <a:lnTo>
                    <a:pt x="196126" y="0"/>
                  </a:lnTo>
                  <a:lnTo>
                    <a:pt x="151156" y="5179"/>
                  </a:lnTo>
                  <a:lnTo>
                    <a:pt x="109875" y="19934"/>
                  </a:lnTo>
                  <a:lnTo>
                    <a:pt x="73459" y="43086"/>
                  </a:lnTo>
                  <a:lnTo>
                    <a:pt x="43086" y="73459"/>
                  </a:lnTo>
                  <a:lnTo>
                    <a:pt x="19934" y="109875"/>
                  </a:lnTo>
                  <a:lnTo>
                    <a:pt x="5179" y="151156"/>
                  </a:lnTo>
                  <a:lnTo>
                    <a:pt x="0" y="196126"/>
                  </a:lnTo>
                  <a:lnTo>
                    <a:pt x="0" y="235264"/>
                  </a:lnTo>
                  <a:lnTo>
                    <a:pt x="5179" y="280234"/>
                  </a:lnTo>
                  <a:lnTo>
                    <a:pt x="19934" y="321516"/>
                  </a:lnTo>
                  <a:lnTo>
                    <a:pt x="43086" y="357931"/>
                  </a:lnTo>
                  <a:lnTo>
                    <a:pt x="73459" y="388304"/>
                  </a:lnTo>
                  <a:lnTo>
                    <a:pt x="109875" y="411456"/>
                  </a:lnTo>
                  <a:lnTo>
                    <a:pt x="151156" y="426211"/>
                  </a:lnTo>
                  <a:lnTo>
                    <a:pt x="196126" y="431391"/>
                  </a:lnTo>
                  <a:lnTo>
                    <a:pt x="1575945" y="431391"/>
                  </a:lnTo>
                  <a:lnTo>
                    <a:pt x="1620915" y="426211"/>
                  </a:lnTo>
                  <a:lnTo>
                    <a:pt x="1662197" y="411456"/>
                  </a:lnTo>
                  <a:lnTo>
                    <a:pt x="1698613" y="388304"/>
                  </a:lnTo>
                  <a:lnTo>
                    <a:pt x="1728986" y="357931"/>
                  </a:lnTo>
                  <a:lnTo>
                    <a:pt x="1752138" y="321516"/>
                  </a:lnTo>
                  <a:lnTo>
                    <a:pt x="1766893" y="280234"/>
                  </a:lnTo>
                  <a:lnTo>
                    <a:pt x="1772072" y="235264"/>
                  </a:lnTo>
                  <a:lnTo>
                    <a:pt x="1772072" y="215695"/>
                  </a:lnTo>
                  <a:lnTo>
                    <a:pt x="1772072" y="196126"/>
                  </a:lnTo>
                  <a:lnTo>
                    <a:pt x="1766893" y="151156"/>
                  </a:lnTo>
                  <a:lnTo>
                    <a:pt x="1752138" y="109875"/>
                  </a:lnTo>
                  <a:lnTo>
                    <a:pt x="1728986" y="73459"/>
                  </a:lnTo>
                  <a:lnTo>
                    <a:pt x="1698613" y="43086"/>
                  </a:lnTo>
                  <a:lnTo>
                    <a:pt x="1662197" y="19934"/>
                  </a:lnTo>
                  <a:lnTo>
                    <a:pt x="1620915" y="5179"/>
                  </a:lnTo>
                  <a:lnTo>
                    <a:pt x="1575945" y="0"/>
                  </a:lnTo>
                  <a:close/>
                </a:path>
              </a:pathLst>
            </a:custGeom>
            <a:solidFill>
              <a:srgbClr val="101A3A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2026-10-13T10:16:05Z</dcterms:created>
  <dcterms:modified xsi:type="dcterms:W3CDTF">2026-10-13T10:16:05Z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2026-10-13T00:00:00Z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2026-10-13T00:00:00Z</vt:filetime>
  </property>
  <property fmtid="{D5CDD505-2E9C-101B-9397-08002B2CF9AE}" pid="5" name="Producer">
    <vt:lpwstr>macOS Version 26.5.2 (Build 25F84) Quartz PDFContext, AppendMode 1.1</vt:lpwstr>
  </property>
</Properties>
</file>